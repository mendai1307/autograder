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22" Type="http://schemas.openxmlformats.org/officeDocument/2006/relationships/viewProps" Target="viewProp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21" Type="http://schemas.openxmlformats.org/officeDocument/2006/relationships/tableStyles" Target="tableStyles.xml" /><Relationship Id="rId20" Type="http://schemas.openxmlformats.org/officeDocument/2006/relationships/presProps" Target="pres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4" Type="http://schemas.openxmlformats.org/officeDocument/2006/relationships/image" Target="media/image4.png" /><Relationship Id="rId1" Type="http://schemas.openxmlformats.org/officeDocument/2006/relationships/image" Target="media/image1.png" /><Relationship Id="rId2" Type="http://schemas.openxmlformats.org/officeDocument/2006/relationships/image" Target="media/image2.png" /><Relationship Id="rId3" Type="http://schemas.openxmlformats.org/officeDocument/2006/relationships/image" Target="media/image3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0" y="0"/>
            <a:ext cx="8572500" cy="5715000"/>
          </a:xfrm>
          <a:prstGeom prst="rect">
            <a:avLst/>
          </a:prstGeom>
          <a:solidFill>
            <a:srgbClr val="0C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29500" y="2857500"/>
            <a:ext cx="4000500" cy="4000500"/>
          </a:xfrm>
          <a:prstGeom prst="rect">
            <a:avLst/>
          </a:prstGeom>
          <a:solidFill>
            <a:srgbClr val="0C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533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6300" y="485775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92989E"/>
                </a:solidFill>
                <a:latin typeface="微软雅黑"/>
                <a:ea typeface="微软雅黑"/>
                <a:cs typeface="微软雅黑"/>
              </a:rPr>
              <a:t>粤港澳大湾区 AI Coding 创新大赛 · 方向一「AI + 教学管理助手」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09700"/>
            <a:ext cx="952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300" b="1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6667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计算机专业实验报告 · 智能评阅系统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6200" y="25908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66C72"/>
                </a:solidFill>
                <a:latin typeface="Consolas"/>
                <a:ea typeface="Consolas"/>
                <a:cs typeface="Consolas"/>
              </a:rPr>
              <a:t>2 人 · 软件工程 + 计算机科学与技术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067050"/>
            <a:ext cx="10287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950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由 LearnBuddy 专家智能体真实驱动的评阅系统。</a:t>
            </a:r>
            <a:endParaRPr/>
          </a:p>
          <a:p>
            <a:pPr algn="l">
              <a:lnSpc>
                <a:spcPct val="160000"/>
              </a:lnSpc>
            </a:pPr>
            <a:r>
              <a:rPr sz="1950" b="0" i="0">
                <a:solidFill>
                  <a:srgbClr val="D4DBE1"/>
                </a:solidFill>
                <a:latin typeface="微软雅黑"/>
                <a:ea typeface="微软雅黑"/>
                <a:cs typeface="微软雅黑"/>
              </a:rPr>
              <a:t>教师用自然语言定义评分点，智能体完成解析 → 逐项取证 → 二次复核 → 成绩与评语。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6324600"/>
            <a:ext cx="323850" cy="533400"/>
          </a:xfrm>
          <a:prstGeom prst="rect">
            <a:avLst/>
          </a:prstGeom>
          <a:solidFill>
            <a:srgbClr val="11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00175" y="6172200"/>
            <a:ext cx="323850" cy="685800"/>
          </a:xfrm>
          <a:prstGeom prst="rect">
            <a:avLst/>
          </a:prstGeom>
          <a:solidFill>
            <a:srgbClr val="13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14550" y="6229350"/>
            <a:ext cx="323850" cy="628650"/>
          </a:xfrm>
          <a:prstGeom prst="rect">
            <a:avLst/>
          </a:prstGeom>
          <a:solidFill>
            <a:srgbClr val="144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28925" y="5981700"/>
            <a:ext cx="323850" cy="876300"/>
          </a:xfrm>
          <a:prstGeom prst="rect">
            <a:avLst/>
          </a:prstGeom>
          <a:solidFill>
            <a:srgbClr val="16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43300" y="5848350"/>
            <a:ext cx="323850" cy="1009650"/>
          </a:xfrm>
          <a:prstGeom prst="rect">
            <a:avLst/>
          </a:prstGeom>
          <a:solidFill>
            <a:srgbClr val="185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7675" y="5924550"/>
            <a:ext cx="323850" cy="933450"/>
          </a:xfrm>
          <a:prstGeom prst="rect">
            <a:avLst/>
          </a:prstGeom>
          <a:solidFill>
            <a:srgbClr val="1A6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72050" y="5638800"/>
            <a:ext cx="323850" cy="1219200"/>
          </a:xfrm>
          <a:prstGeom prst="rect">
            <a:avLst/>
          </a:prstGeom>
          <a:solidFill>
            <a:srgbClr val="1C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86425" y="5505450"/>
            <a:ext cx="323850" cy="1352550"/>
          </a:xfrm>
          <a:prstGeom prst="rect">
            <a:avLst/>
          </a:prstGeom>
          <a:solidFill>
            <a:srgbClr val="1D7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5581650"/>
            <a:ext cx="323850" cy="1276350"/>
          </a:xfrm>
          <a:prstGeom prst="rect">
            <a:avLst/>
          </a:prstGeom>
          <a:solidFill>
            <a:srgbClr val="1F8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15175" y="5276850"/>
            <a:ext cx="323850" cy="1581150"/>
          </a:xfrm>
          <a:prstGeom prst="rect">
            <a:avLst/>
          </a:prstGeom>
          <a:solidFill>
            <a:srgbClr val="2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29550" y="5124450"/>
            <a:ext cx="323850" cy="1733550"/>
          </a:xfrm>
          <a:prstGeom prst="rect">
            <a:avLst/>
          </a:prstGeom>
          <a:solidFill>
            <a:srgbClr val="229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3925" y="5219700"/>
            <a:ext cx="323850" cy="1638300"/>
          </a:xfrm>
          <a:prstGeom prst="rect">
            <a:avLst/>
          </a:prstGeom>
          <a:solidFill>
            <a:srgbClr val="24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58300" y="4933950"/>
            <a:ext cx="323850" cy="1924050"/>
          </a:xfrm>
          <a:prstGeom prst="rect">
            <a:avLst/>
          </a:prstGeom>
          <a:solidFill>
            <a:srgbClr val="26A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72675" y="4743450"/>
            <a:ext cx="323850" cy="2114550"/>
          </a:xfrm>
          <a:prstGeom prst="rect">
            <a:avLst/>
          </a:prstGeom>
          <a:solidFill>
            <a:srgbClr val="28B6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687050" y="4838700"/>
            <a:ext cx="323850" cy="2019300"/>
          </a:xfrm>
          <a:prstGeom prst="rect">
            <a:avLst/>
          </a:prstGeom>
          <a:solidFill>
            <a:srgbClr val="29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401425" y="4495800"/>
            <a:ext cx="323850" cy="2362200"/>
          </a:xfrm>
          <a:prstGeom prst="rect">
            <a:avLst/>
          </a:prstGeom>
          <a:solidFill>
            <a:srgbClr val="2BC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6848475"/>
            <a:ext cx="10820400" cy="9525"/>
          </a:xfrm>
          <a:prstGeom prst="rect">
            <a:avLst/>
          </a:prstGeom>
          <a:solidFill>
            <a:srgbClr val="144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三件事正在消耗教师</a:t>
            </a:r>
            <a:endParaRPr/>
          </a:p>
        </p:txBody>
      </p:sp>
      <p:sp>
        <p:nvSpPr>
          <p:cNvPr id="314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15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16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317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02 / 19</a:t>
            </a:r>
            <a:endParaRPr/>
          </a:p>
        </p:txBody>
      </p:sp>
      <p:sp>
        <p:nvSpPr>
          <p:cNvPr id="318" name="Rounded Rectangle 6"/>
          <p:cNvSpPr/>
          <p:nvPr/>
        </p:nvSpPr>
        <p:spPr>
          <a:xfrm>
            <a:off x="685800" y="1447800"/>
            <a:ext cx="3390900" cy="4838700"/>
          </a:xfrm>
          <a:prstGeom prst="roundRect">
            <a:avLst>
              <a:gd name="adj" fmla="val 393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19" name="TextBox 7"/>
          <p:cNvSpPr txBox="1"/>
          <p:nvPr/>
        </p:nvSpPr>
        <p:spPr>
          <a:xfrm>
            <a:off x="952500" y="171450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评阅的真正瓶颈</a:t>
            </a:r>
            <a:endParaRPr/>
          </a:p>
        </p:txBody>
      </p:sp>
      <p:sp>
        <p:nvSpPr>
          <p:cNvPr id="320" name="TextBox 8"/>
          <p:cNvSpPr txBox="1"/>
          <p:nvPr/>
        </p:nvSpPr>
        <p:spPr>
          <a:xfrm>
            <a:off x="952500" y="2171700"/>
            <a:ext cx="285750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10–20</a:t>
            </a:r>
            <a:endParaRPr/>
          </a:p>
        </p:txBody>
      </p:sp>
      <p:sp>
        <p:nvSpPr>
          <p:cNvPr id="321" name="TextBox 9"/>
          <p:cNvSpPr txBox="1"/>
          <p:nvPr/>
        </p:nvSpPr>
        <p:spPr>
          <a:xfrm>
            <a:off x="952500" y="302895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小时 / 一个教学班</a:t>
            </a:r>
            <a:endParaRPr/>
          </a:p>
        </p:txBody>
      </p:sp>
      <p:sp>
        <p:nvSpPr>
          <p:cNvPr id="322" name="Rectangle 10"/>
          <p:cNvSpPr/>
          <p:nvPr/>
        </p:nvSpPr>
        <p:spPr>
          <a:xfrm>
            <a:off x="952500" y="3409950"/>
            <a:ext cx="2857500" cy="9525"/>
          </a:xfrm>
          <a:prstGeom prst="rect">
            <a:avLst/>
          </a:prstGeom>
          <a:solidFill>
            <a:srgbClr val="1A4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23" name="TextBox 11"/>
          <p:cNvSpPr txBox="1"/>
          <p:nvPr/>
        </p:nvSpPr>
        <p:spPr>
          <a:xfrm>
            <a:off x="952500" y="3562350"/>
            <a:ext cx="28575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不在「打分」，在「逐点找证据」。</a:t>
            </a:r>
            <a:endParaRPr/>
          </a:p>
        </p:txBody>
      </p:sp>
      <p:sp>
        <p:nvSpPr>
          <p:cNvPr id="324" name="TextBox 12"/>
          <p:cNvSpPr txBox="1"/>
          <p:nvPr/>
        </p:nvSpPr>
        <p:spPr>
          <a:xfrm>
            <a:off x="952500" y="4286250"/>
            <a:ext cx="2857500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0" i="0">
                <a:solidFill>
                  <a:srgbClr val="888F97"/>
                </a:solidFill>
                <a:latin typeface="微软雅黑"/>
                <a:ea typeface="微软雅黑"/>
                <a:cs typeface="微软雅黑"/>
              </a:rPr>
              <a:t>批改的时间几乎都花在翻报告、定位依据、回忆标准上，而不是教学判断本身。</a:t>
            </a:r>
            <a:endParaRPr/>
          </a:p>
        </p:txBody>
      </p:sp>
      <p:sp>
        <p:nvSpPr>
          <p:cNvPr id="325" name="TextBox 13"/>
          <p:cNvSpPr txBox="1"/>
          <p:nvPr/>
        </p:nvSpPr>
        <p:spPr>
          <a:xfrm>
            <a:off x="952500" y="521970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2BC2B0"/>
                </a:solidFill>
                <a:latin typeface="微软雅黑"/>
                <a:ea typeface="微软雅黑"/>
                <a:cs typeface="微软雅黑"/>
              </a:rPr>
              <a:t>→ 逐点定位到报告原文</a:t>
            </a:r>
            <a:endParaRPr/>
          </a:p>
        </p:txBody>
      </p:sp>
      <p:sp>
        <p:nvSpPr>
          <p:cNvPr id="326" name="TextBox 14"/>
          <p:cNvSpPr txBox="1"/>
          <p:nvPr/>
        </p:nvSpPr>
        <p:spPr>
          <a:xfrm>
            <a:off x="952500" y="550545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2BC2B0"/>
                </a:solidFill>
                <a:latin typeface="微软雅黑"/>
                <a:ea typeface="微软雅黑"/>
                <a:cs typeface="微软雅黑"/>
              </a:rPr>
              <a:t>→ 判定可被第三方复算</a:t>
            </a:r>
            <a:endParaRPr/>
          </a:p>
        </p:txBody>
      </p:sp>
      <p:sp>
        <p:nvSpPr>
          <p:cNvPr id="327" name="TextBox 15"/>
          <p:cNvSpPr txBox="1"/>
          <p:nvPr/>
        </p:nvSpPr>
        <p:spPr>
          <a:xfrm>
            <a:off x="952500" y="579120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2BC2B0"/>
                </a:solidFill>
                <a:latin typeface="微软雅黑"/>
                <a:ea typeface="微软雅黑"/>
                <a:cs typeface="微软雅黑"/>
              </a:rPr>
              <a:t>→ 复核痕迹完整保留</a:t>
            </a:r>
            <a:endParaRPr/>
          </a:p>
        </p:txBody>
      </p:sp>
      <p:sp>
        <p:nvSpPr>
          <p:cNvPr id="328" name="Rounded Rectangle 16"/>
          <p:cNvSpPr/>
          <p:nvPr/>
        </p:nvSpPr>
        <p:spPr>
          <a:xfrm>
            <a:off x="4457700" y="1447800"/>
            <a:ext cx="7048500" cy="152400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29" name="Rounded Rectangle 17"/>
          <p:cNvSpPr/>
          <p:nvPr/>
        </p:nvSpPr>
        <p:spPr>
          <a:xfrm>
            <a:off x="4648200" y="163830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30" name="TextBox 18"/>
          <p:cNvSpPr txBox="1"/>
          <p:nvPr/>
        </p:nvSpPr>
        <p:spPr>
          <a:xfrm>
            <a:off x="5257800" y="1619250"/>
            <a:ext cx="6057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量大且高度重复</a:t>
            </a:r>
            <a:endParaRPr/>
          </a:p>
        </p:txBody>
      </p:sp>
      <p:sp>
        <p:nvSpPr>
          <p:cNvPr id="331" name="TextBox 19"/>
          <p:cNvSpPr txBox="1"/>
          <p:nvPr/>
        </p:nvSpPr>
        <p:spPr>
          <a:xfrm>
            <a:off x="5257800" y="1962150"/>
            <a:ext cx="60579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一个班四十份实验报告，教师要逐份比对代码实现、运行截图与结论表述。动作高度雷同，注意力却被反复切碎，越批到后面越容易松。</a:t>
            </a:r>
            <a:endParaRPr/>
          </a:p>
        </p:txBody>
      </p:sp>
      <p:sp>
        <p:nvSpPr>
          <p:cNvPr id="332" name="Rounded Rectangle 20"/>
          <p:cNvSpPr/>
          <p:nvPr/>
        </p:nvSpPr>
        <p:spPr>
          <a:xfrm>
            <a:off x="4457700" y="3105150"/>
            <a:ext cx="7048500" cy="152400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33" name="Rounded Rectangle 21"/>
          <p:cNvSpPr/>
          <p:nvPr/>
        </p:nvSpPr>
        <p:spPr>
          <a:xfrm>
            <a:off x="4648200" y="329565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34" name="TextBox 22"/>
          <p:cNvSpPr txBox="1"/>
          <p:nvPr/>
        </p:nvSpPr>
        <p:spPr>
          <a:xfrm>
            <a:off x="5257800" y="3276600"/>
            <a:ext cx="6057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标准会悄悄漂移</a:t>
            </a:r>
            <a:endParaRPr/>
          </a:p>
        </p:txBody>
      </p:sp>
      <p:sp>
        <p:nvSpPr>
          <p:cNvPr id="335" name="TextBox 23"/>
          <p:cNvSpPr txBox="1"/>
          <p:nvPr/>
        </p:nvSpPr>
        <p:spPr>
          <a:xfrm>
            <a:off x="5257800" y="3619500"/>
            <a:ext cx="60579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评分点条目多、执行靠临场记忆。同一份报告隔两周再批，判定未必一致；学生申诉时，教师也很难说清「当时为什么给这个分」。</a:t>
            </a:r>
            <a:endParaRPr/>
          </a:p>
        </p:txBody>
      </p:sp>
      <p:sp>
        <p:nvSpPr>
          <p:cNvPr id="336" name="Rounded Rectangle 24"/>
          <p:cNvSpPr/>
          <p:nvPr/>
        </p:nvSpPr>
        <p:spPr>
          <a:xfrm>
            <a:off x="4457700" y="4762500"/>
            <a:ext cx="7048500" cy="152400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37" name="Rounded Rectangle 25"/>
          <p:cNvSpPr/>
          <p:nvPr/>
        </p:nvSpPr>
        <p:spPr>
          <a:xfrm>
            <a:off x="4648200" y="495300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38" name="TextBox 26"/>
          <p:cNvSpPr txBox="1"/>
          <p:nvPr/>
        </p:nvSpPr>
        <p:spPr>
          <a:xfrm>
            <a:off x="5257800" y="4933950"/>
            <a:ext cx="6057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反馈落不到下一步</a:t>
            </a:r>
            <a:endParaRPr/>
          </a:p>
        </p:txBody>
      </p:sp>
      <p:sp>
        <p:nvSpPr>
          <p:cNvPr id="339" name="TextBox 27"/>
          <p:cNvSpPr txBox="1"/>
          <p:nvPr/>
        </p:nvSpPr>
        <p:spPr>
          <a:xfrm>
            <a:off x="5257800" y="5276850"/>
            <a:ext cx="60579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学生收到的往往只有分数和一句「注意规范」，不知道哪一处被扣、依据在报告哪一行、下次该怎么改。评语回不到证据，也就传不出方法。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赛题的三句定语，就是三条必答题</a:t>
            </a:r>
            <a:endParaRPr/>
          </a:p>
        </p:txBody>
      </p:sp>
      <p:sp>
        <p:nvSpPr>
          <p:cNvPr id="342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43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44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345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03 / 19</a:t>
            </a:r>
            <a:endParaRPr/>
          </a:p>
        </p:txBody>
      </p:sp>
      <p:sp>
        <p:nvSpPr>
          <p:cNvPr id="346" name="Rectangle 6"/>
          <p:cNvSpPr/>
          <p:nvPr/>
        </p:nvSpPr>
        <p:spPr>
          <a:xfrm>
            <a:off x="7239000" y="1143000"/>
            <a:ext cx="4953000" cy="4000500"/>
          </a:xfrm>
          <a:prstGeom prst="rect">
            <a:avLst/>
          </a:prstGeom>
          <a:solidFill>
            <a:srgbClr val="0C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47" name="Rounded Rectangle 7"/>
          <p:cNvSpPr/>
          <p:nvPr/>
        </p:nvSpPr>
        <p:spPr>
          <a:xfrm>
            <a:off x="685800" y="1447800"/>
            <a:ext cx="57150" cy="57150"/>
          </a:xfrm>
          <a:prstGeom prst="roundRect">
            <a:avLst>
              <a:gd name="adj" fmla="val 33333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48" name="TextBox 8"/>
          <p:cNvSpPr txBox="1"/>
          <p:nvPr/>
        </p:nvSpPr>
        <p:spPr>
          <a:xfrm>
            <a:off x="838200" y="14097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83898F"/>
                </a:solidFill>
                <a:latin typeface="微软雅黑"/>
                <a:ea typeface="微软雅黑"/>
                <a:cs typeface="微软雅黑"/>
              </a:rPr>
              <a:t>方向一 · 参赛小项原文（60%）</a:t>
            </a:r>
            <a:endParaRPr/>
          </a:p>
        </p:txBody>
      </p:sp>
      <p:sp>
        <p:nvSpPr>
          <p:cNvPr id="349" name="Rounded Rectangle 9"/>
          <p:cNvSpPr/>
          <p:nvPr/>
        </p:nvSpPr>
        <p:spPr>
          <a:xfrm>
            <a:off x="7486650" y="1447800"/>
            <a:ext cx="57150" cy="57150"/>
          </a:xfrm>
          <a:prstGeom prst="roundRect">
            <a:avLst>
              <a:gd name="adj" fmla="val 33333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50" name="TextBox 10"/>
          <p:cNvSpPr txBox="1"/>
          <p:nvPr/>
        </p:nvSpPr>
        <p:spPr>
          <a:xfrm>
            <a:off x="7639050" y="14097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83898F"/>
                </a:solidFill>
                <a:latin typeface="微软雅黑"/>
                <a:ea typeface="微软雅黑"/>
                <a:cs typeface="微软雅黑"/>
              </a:rPr>
              <a:t>落到产品上的回答（40%）</a:t>
            </a:r>
            <a:endParaRPr/>
          </a:p>
        </p:txBody>
      </p:sp>
      <p:sp>
        <p:nvSpPr>
          <p:cNvPr id="351" name="Rounded Rectangle 11"/>
          <p:cNvSpPr/>
          <p:nvPr/>
        </p:nvSpPr>
        <p:spPr>
          <a:xfrm>
            <a:off x="685800" y="1828800"/>
            <a:ext cx="6496050" cy="1397000"/>
          </a:xfrm>
          <a:prstGeom prst="roundRect">
            <a:avLst>
              <a:gd name="adj" fmla="val 8181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52" name="TextBox 12"/>
          <p:cNvSpPr txBox="1"/>
          <p:nvPr/>
        </p:nvSpPr>
        <p:spPr>
          <a:xfrm>
            <a:off x="876300" y="207645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353" name="TextBox 13"/>
          <p:cNvSpPr txBox="1"/>
          <p:nvPr/>
        </p:nvSpPr>
        <p:spPr>
          <a:xfrm>
            <a:off x="1409700" y="2019300"/>
            <a:ext cx="5581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实验报告自动解析</a:t>
            </a:r>
            <a:endParaRPr/>
          </a:p>
        </p:txBody>
      </p:sp>
      <p:sp>
        <p:nvSpPr>
          <p:cNvPr id="354" name="TextBox 14"/>
          <p:cNvSpPr txBox="1"/>
          <p:nvPr/>
        </p:nvSpPr>
        <p:spPr>
          <a:xfrm>
            <a:off x="1409700" y="2419350"/>
            <a:ext cx="5581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报告里的文字、代码、截图，你能不能真的读懂？</a:t>
            </a:r>
            <a:endParaRPr/>
          </a:p>
        </p:txBody>
      </p:sp>
      <p:sp>
        <p:nvSpPr>
          <p:cNvPr id="355" name="Rounded Rectangle 15"/>
          <p:cNvSpPr/>
          <p:nvPr/>
        </p:nvSpPr>
        <p:spPr>
          <a:xfrm>
            <a:off x="7486650" y="1828800"/>
            <a:ext cx="4019550" cy="1397000"/>
          </a:xfrm>
          <a:prstGeom prst="roundRect">
            <a:avLst>
              <a:gd name="adj" fmla="val 8181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56" name="Rectangle 16"/>
          <p:cNvSpPr/>
          <p:nvPr/>
        </p:nvSpPr>
        <p:spPr>
          <a:xfrm>
            <a:off x="7486650" y="1828800"/>
            <a:ext cx="28575" cy="1397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57" name="TextBox 17"/>
          <p:cNvSpPr txBox="1"/>
          <p:nvPr/>
        </p:nvSpPr>
        <p:spPr>
          <a:xfrm>
            <a:off x="7658100" y="20193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多模态解析</a:t>
            </a:r>
            <a:endParaRPr/>
          </a:p>
        </p:txBody>
      </p:sp>
      <p:sp>
        <p:nvSpPr>
          <p:cNvPr id="358" name="TextBox 18"/>
          <p:cNvSpPr txBox="1"/>
          <p:nvPr/>
        </p:nvSpPr>
        <p:spPr>
          <a:xfrm>
            <a:off x="7658100" y="2343150"/>
            <a:ext cx="36766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A3AAB1"/>
                </a:solidFill>
                <a:latin typeface="微软雅黑"/>
                <a:ea typeface="微软雅黑"/>
                <a:cs typeface="微软雅黑"/>
              </a:rPr>
              <a:t>章节结构树 + 代码块识别 + 图表定位，先把报告拆成可核查的结构。</a:t>
            </a:r>
            <a:endParaRPr/>
          </a:p>
        </p:txBody>
      </p:sp>
      <p:sp>
        <p:nvSpPr>
          <p:cNvPr id="359" name="Rounded Rectangle 19"/>
          <p:cNvSpPr/>
          <p:nvPr/>
        </p:nvSpPr>
        <p:spPr>
          <a:xfrm>
            <a:off x="685800" y="3359150"/>
            <a:ext cx="6496050" cy="1397000"/>
          </a:xfrm>
          <a:prstGeom prst="roundRect">
            <a:avLst>
              <a:gd name="adj" fmla="val 8181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60" name="TextBox 20"/>
          <p:cNvSpPr txBox="1"/>
          <p:nvPr/>
        </p:nvSpPr>
        <p:spPr>
          <a:xfrm>
            <a:off x="876300" y="36068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361" name="TextBox 21"/>
          <p:cNvSpPr txBox="1"/>
          <p:nvPr/>
        </p:nvSpPr>
        <p:spPr>
          <a:xfrm>
            <a:off x="1409700" y="3549650"/>
            <a:ext cx="5581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评分点逐项核查</a:t>
            </a:r>
            <a:endParaRPr/>
          </a:p>
        </p:txBody>
      </p:sp>
      <p:sp>
        <p:nvSpPr>
          <p:cNvPr id="362" name="TextBox 22"/>
          <p:cNvSpPr txBox="1"/>
          <p:nvPr/>
        </p:nvSpPr>
        <p:spPr>
          <a:xfrm>
            <a:off x="1409700" y="3949700"/>
            <a:ext cx="5581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你是不是逐个评分点去找证据、再给判定？</a:t>
            </a:r>
            <a:endParaRPr/>
          </a:p>
        </p:txBody>
      </p:sp>
      <p:sp>
        <p:nvSpPr>
          <p:cNvPr id="363" name="Rounded Rectangle 23"/>
          <p:cNvSpPr/>
          <p:nvPr/>
        </p:nvSpPr>
        <p:spPr>
          <a:xfrm>
            <a:off x="7486650" y="3359150"/>
            <a:ext cx="4019550" cy="1397000"/>
          </a:xfrm>
          <a:prstGeom prst="roundRect">
            <a:avLst>
              <a:gd name="adj" fmla="val 8181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64" name="Rectangle 24"/>
          <p:cNvSpPr/>
          <p:nvPr/>
        </p:nvSpPr>
        <p:spPr>
          <a:xfrm>
            <a:off x="7486650" y="3359150"/>
            <a:ext cx="28575" cy="1397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65" name="TextBox 25"/>
          <p:cNvSpPr txBox="1"/>
          <p:nvPr/>
        </p:nvSpPr>
        <p:spPr>
          <a:xfrm>
            <a:off x="7658100" y="354965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逐项四元组</a:t>
            </a:r>
            <a:endParaRPr/>
          </a:p>
        </p:txBody>
      </p:sp>
      <p:sp>
        <p:nvSpPr>
          <p:cNvPr id="366" name="TextBox 26"/>
          <p:cNvSpPr txBox="1"/>
          <p:nvPr/>
        </p:nvSpPr>
        <p:spPr>
          <a:xfrm>
            <a:off x="7658100" y="3873500"/>
            <a:ext cx="36766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A3AAB1"/>
                </a:solidFill>
                <a:latin typeface="微软雅黑"/>
                <a:ea typeface="微软雅黑"/>
                <a:cs typeface="微软雅黑"/>
              </a:rPr>
              <a:t>Rubric 驱动的「评分点—证据—判定—理由」，逐点留痕、逐点给依据。</a:t>
            </a:r>
            <a:endParaRPr/>
          </a:p>
        </p:txBody>
      </p:sp>
      <p:sp>
        <p:nvSpPr>
          <p:cNvPr id="367" name="Rounded Rectangle 27"/>
          <p:cNvSpPr/>
          <p:nvPr/>
        </p:nvSpPr>
        <p:spPr>
          <a:xfrm>
            <a:off x="685800" y="4889500"/>
            <a:ext cx="6496050" cy="1397000"/>
          </a:xfrm>
          <a:prstGeom prst="roundRect">
            <a:avLst>
              <a:gd name="adj" fmla="val 8181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68" name="TextBox 28"/>
          <p:cNvSpPr txBox="1"/>
          <p:nvPr/>
        </p:nvSpPr>
        <p:spPr>
          <a:xfrm>
            <a:off x="876300" y="513715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369" name="TextBox 29"/>
          <p:cNvSpPr txBox="1"/>
          <p:nvPr/>
        </p:nvSpPr>
        <p:spPr>
          <a:xfrm>
            <a:off x="1409700" y="5080000"/>
            <a:ext cx="5581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成绩评语智能生成</a:t>
            </a:r>
            <a:endParaRPr/>
          </a:p>
        </p:txBody>
      </p:sp>
      <p:sp>
        <p:nvSpPr>
          <p:cNvPr id="370" name="TextBox 30"/>
          <p:cNvSpPr txBox="1"/>
          <p:nvPr/>
        </p:nvSpPr>
        <p:spPr>
          <a:xfrm>
            <a:off x="1409700" y="5480050"/>
            <a:ext cx="5581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除了分数，有没有给学生一句可执行的话？</a:t>
            </a:r>
            <a:endParaRPr/>
          </a:p>
        </p:txBody>
      </p:sp>
      <p:sp>
        <p:nvSpPr>
          <p:cNvPr id="371" name="Rounded Rectangle 31"/>
          <p:cNvSpPr/>
          <p:nvPr/>
        </p:nvSpPr>
        <p:spPr>
          <a:xfrm>
            <a:off x="7486650" y="4889500"/>
            <a:ext cx="4019550" cy="1397000"/>
          </a:xfrm>
          <a:prstGeom prst="roundRect">
            <a:avLst>
              <a:gd name="adj" fmla="val 8181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72" name="Rectangle 32"/>
          <p:cNvSpPr/>
          <p:nvPr/>
        </p:nvSpPr>
        <p:spPr>
          <a:xfrm>
            <a:off x="7486650" y="4889500"/>
            <a:ext cx="28575" cy="1397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73" name="TextBox 33"/>
          <p:cNvSpPr txBox="1"/>
          <p:nvPr/>
        </p:nvSpPr>
        <p:spPr>
          <a:xfrm>
            <a:off x="7658100" y="50800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可追溯的评语</a:t>
            </a:r>
            <a:endParaRPr/>
          </a:p>
        </p:txBody>
      </p:sp>
      <p:sp>
        <p:nvSpPr>
          <p:cNvPr id="374" name="TextBox 34"/>
          <p:cNvSpPr txBox="1"/>
          <p:nvPr/>
        </p:nvSpPr>
        <p:spPr>
          <a:xfrm>
            <a:off x="7658100" y="5403850"/>
            <a:ext cx="36766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A3AAB1"/>
                </a:solidFill>
                <a:latin typeface="微软雅黑"/>
                <a:ea typeface="微软雅黑"/>
                <a:cs typeface="微软雅黑"/>
              </a:rPr>
              <a:t>个性化、非模板化，每一句都指回报告里的具体位置。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3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1"/>
          <p:cNvSpPr/>
          <p:nvPr/>
        </p:nvSpPr>
        <p:spPr>
          <a:xfrm>
            <a:off x="2286000" y="571500"/>
            <a:ext cx="7620000" cy="5715000"/>
          </a:xfrm>
          <a:prstGeom prst="rect">
            <a:avLst/>
          </a:prstGeom>
          <a:solidFill>
            <a:srgbClr val="0C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77" name="Rectangle 2"/>
          <p:cNvSpPr/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23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78" name="TextBox 3"/>
          <p:cNvSpPr txBox="1"/>
          <p:nvPr/>
        </p:nvSpPr>
        <p:spPr>
          <a:xfrm>
            <a:off x="1143000" y="1257300"/>
            <a:ext cx="1905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2AC0AE"/>
                </a:solidFill>
                <a:latin typeface="微软雅黑"/>
                <a:ea typeface="微软雅黑"/>
                <a:cs typeface="微软雅黑"/>
              </a:rPr>
              <a:t>「</a:t>
            </a:r>
            <a:endParaRPr/>
          </a:p>
        </p:txBody>
      </p:sp>
      <p:sp>
        <p:nvSpPr>
          <p:cNvPr id="379" name="TextBox 4"/>
          <p:cNvSpPr txBox="1"/>
          <p:nvPr/>
        </p:nvSpPr>
        <p:spPr>
          <a:xfrm>
            <a:off x="1143000" y="2362200"/>
            <a:ext cx="99060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3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AI 跑在 LearnBuddy 里，产品放在浏览器里，</a:t>
            </a:r>
            <a:endParaRPr/>
          </a:p>
          <a:p>
            <a:pPr algn="l">
              <a:lnSpc>
                <a:spcPct val="145000"/>
              </a:lnSpc>
            </a:pPr>
            <a:r>
              <a:rPr sz="33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证据留在仓库和对话记录里。</a:t>
            </a:r>
            <a:endParaRPr/>
          </a:p>
        </p:txBody>
      </p:sp>
      <p:sp>
        <p:nvSpPr>
          <p:cNvPr id="380" name="Rectangle 5"/>
          <p:cNvSpPr/>
          <p:nvPr/>
        </p:nvSpPr>
        <p:spPr>
          <a:xfrm>
            <a:off x="1143000" y="3829050"/>
            <a:ext cx="9906000" cy="9525"/>
          </a:xfrm>
          <a:prstGeom prst="rect">
            <a:avLst/>
          </a:prstGeom>
          <a:solidFill>
            <a:srgbClr val="144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81" name="TextBox 6"/>
          <p:cNvSpPr txBox="1"/>
          <p:nvPr/>
        </p:nvSpPr>
        <p:spPr>
          <a:xfrm>
            <a:off x="1143000" y="40767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382" name="TextBox 7"/>
          <p:cNvSpPr txBox="1"/>
          <p:nvPr/>
        </p:nvSpPr>
        <p:spPr>
          <a:xfrm>
            <a:off x="1657350" y="4076700"/>
            <a:ext cx="9429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 i="0">
                <a:solidFill>
                  <a:srgbClr val="9BA1A7"/>
                </a:solidFill>
                <a:latin typeface="微软雅黑"/>
                <a:ea typeface="微软雅黑"/>
                <a:cs typeface="微软雅黑"/>
              </a:rPr>
              <a:t>推理在对话侧 —— AI 能力由 LearnBuddy 专家智能体承载，不在浏览器里发起任何模型调用。</a:t>
            </a:r>
            <a:endParaRPr/>
          </a:p>
        </p:txBody>
      </p:sp>
      <p:sp>
        <p:nvSpPr>
          <p:cNvPr id="383" name="TextBox 8"/>
          <p:cNvSpPr txBox="1"/>
          <p:nvPr/>
        </p:nvSpPr>
        <p:spPr>
          <a:xfrm>
            <a:off x="1143000" y="44958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384" name="TextBox 9"/>
          <p:cNvSpPr txBox="1"/>
          <p:nvPr/>
        </p:nvSpPr>
        <p:spPr>
          <a:xfrm>
            <a:off x="1657350" y="4495800"/>
            <a:ext cx="9429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 i="0">
                <a:solidFill>
                  <a:srgbClr val="9BA1A7"/>
                </a:solidFill>
                <a:latin typeface="微软雅黑"/>
                <a:ea typeface="微软雅黑"/>
                <a:cs typeface="微软雅黑"/>
              </a:rPr>
              <a:t>产品在浏览器里 —— Web 端运行时零 AI 调用、零后端，只做确定性渲染与纯前端规则核查。</a:t>
            </a:r>
            <a:endParaRPr/>
          </a:p>
        </p:txBody>
      </p:sp>
      <p:sp>
        <p:nvSpPr>
          <p:cNvPr id="385" name="TextBox 10"/>
          <p:cNvSpPr txBox="1"/>
          <p:nvPr/>
        </p:nvSpPr>
        <p:spPr>
          <a:xfrm>
            <a:off x="1143000" y="49149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386" name="TextBox 11"/>
          <p:cNvSpPr txBox="1"/>
          <p:nvPr/>
        </p:nvSpPr>
        <p:spPr>
          <a:xfrm>
            <a:off x="1657350" y="4914900"/>
            <a:ext cx="9429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 i="0">
                <a:solidFill>
                  <a:srgbClr val="9BA1A7"/>
                </a:solidFill>
                <a:latin typeface="微软雅黑"/>
                <a:ea typeface="微软雅黑"/>
                <a:cs typeface="微软雅黑"/>
              </a:rPr>
              <a:t>证据在仓库里 —— 每个分数都能追到评分点、证据引用与报告原文的逐字位置。</a:t>
            </a:r>
            <a:endParaRPr/>
          </a:p>
        </p:txBody>
      </p:sp>
      <p:sp>
        <p:nvSpPr>
          <p:cNvPr id="387" name="TextBox 12"/>
          <p:cNvSpPr txBox="1"/>
          <p:nvPr/>
        </p:nvSpPr>
        <p:spPr>
          <a:xfrm>
            <a:off x="1143000" y="56197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666C72"/>
                </a:solidFill>
                <a:latin typeface="Consolas"/>
                <a:ea typeface="Consolas"/>
                <a:cs typeface="Consolas"/>
              </a:rPr>
              <a:t>02 · COMPILE-TIME AI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3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同一个能力，两种放法</a:t>
            </a:r>
            <a:endParaRPr/>
          </a:p>
        </p:txBody>
      </p:sp>
      <p:sp>
        <p:nvSpPr>
          <p:cNvPr id="390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91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92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393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05 / 19</a:t>
            </a:r>
            <a:endParaRPr/>
          </a:p>
        </p:txBody>
      </p:sp>
      <p:sp>
        <p:nvSpPr>
          <p:cNvPr id="394" name="Rounded Rectangle 6"/>
          <p:cNvSpPr/>
          <p:nvPr/>
        </p:nvSpPr>
        <p:spPr>
          <a:xfrm>
            <a:off x="685800" y="1447800"/>
            <a:ext cx="10820400" cy="2095500"/>
          </a:xfrm>
          <a:prstGeom prst="roundRect">
            <a:avLst>
              <a:gd name="adj" fmla="val 6363"/>
            </a:avLst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95" name="TextBox 7"/>
          <p:cNvSpPr txBox="1"/>
          <p:nvPr/>
        </p:nvSpPr>
        <p:spPr>
          <a:xfrm>
            <a:off x="895350" y="1619250"/>
            <a:ext cx="381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BCC3CA"/>
                </a:solidFill>
                <a:latin typeface="微软雅黑"/>
                <a:ea typeface="微软雅黑"/>
                <a:cs typeface="微软雅黑"/>
              </a:rPr>
              <a:t>常规做法 · Runtime AI</a:t>
            </a:r>
            <a:endParaRPr/>
          </a:p>
        </p:txBody>
      </p:sp>
      <p:sp>
        <p:nvSpPr>
          <p:cNvPr id="396" name="Rounded Rectangle 8"/>
          <p:cNvSpPr/>
          <p:nvPr/>
        </p:nvSpPr>
        <p:spPr>
          <a:xfrm>
            <a:off x="9029700" y="1619250"/>
            <a:ext cx="2266950" cy="285750"/>
          </a:xfrm>
          <a:prstGeom prst="roundRect">
            <a:avLst>
              <a:gd name="adj" fmla="val 20000"/>
            </a:avLst>
          </a:prstGeom>
          <a:solidFill>
            <a:srgbClr val="2A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97" name="TextBox 9"/>
          <p:cNvSpPr txBox="1"/>
          <p:nvPr/>
        </p:nvSpPr>
        <p:spPr>
          <a:xfrm>
            <a:off x="9144000" y="16764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A7AEB6"/>
                </a:solidFill>
                <a:latin typeface="微软雅黑"/>
                <a:ea typeface="微软雅黑"/>
                <a:cs typeface="微软雅黑"/>
              </a:rPr>
              <a:t>与「平台唯一」约束冲突</a:t>
            </a:r>
            <a:endParaRPr/>
          </a:p>
        </p:txBody>
      </p:sp>
      <p:sp>
        <p:nvSpPr>
          <p:cNvPr id="398" name="Rounded Rectangle 10"/>
          <p:cNvSpPr/>
          <p:nvPr/>
        </p:nvSpPr>
        <p:spPr>
          <a:xfrm>
            <a:off x="895350" y="2038350"/>
            <a:ext cx="819150" cy="438150"/>
          </a:xfrm>
          <a:prstGeom prst="roundRect">
            <a:avLst>
              <a:gd name="adj" fmla="val 1739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99" name="TextBox 11"/>
          <p:cNvSpPr txBox="1"/>
          <p:nvPr/>
        </p:nvSpPr>
        <p:spPr>
          <a:xfrm>
            <a:off x="895350" y="2143125"/>
            <a:ext cx="81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" b="0" i="0">
                <a:solidFill>
                  <a:srgbClr val="BCC3CA"/>
                </a:solidFill>
                <a:latin typeface="微软雅黑"/>
                <a:ea typeface="微软雅黑"/>
                <a:cs typeface="微软雅黑"/>
              </a:rPr>
              <a:t>用户上传</a:t>
            </a:r>
            <a:endParaRPr/>
          </a:p>
        </p:txBody>
      </p:sp>
      <p:sp>
        <p:nvSpPr>
          <p:cNvPr id="400" name="Right Arrow 12"/>
          <p:cNvSpPr/>
          <p:nvPr/>
        </p:nvSpPr>
        <p:spPr>
          <a:xfrm>
            <a:off x="1752600" y="2171700"/>
            <a:ext cx="171450" cy="171450"/>
          </a:xfrm>
          <a:prstGeom prst="rightArrow">
            <a:avLst/>
          </a:prstGeom>
          <a:solidFill>
            <a:srgbClr val="23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01" name="Rounded Rectangle 13"/>
          <p:cNvSpPr/>
          <p:nvPr/>
        </p:nvSpPr>
        <p:spPr>
          <a:xfrm>
            <a:off x="1962150" y="2038350"/>
            <a:ext cx="666750" cy="438150"/>
          </a:xfrm>
          <a:prstGeom prst="roundRect">
            <a:avLst>
              <a:gd name="adj" fmla="val 1739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02" name="TextBox 14"/>
          <p:cNvSpPr txBox="1"/>
          <p:nvPr/>
        </p:nvSpPr>
        <p:spPr>
          <a:xfrm>
            <a:off x="1962150" y="2143125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" b="0" i="0">
                <a:solidFill>
                  <a:srgbClr val="BCC3CA"/>
                </a:solidFill>
                <a:latin typeface="微软雅黑"/>
                <a:ea typeface="微软雅黑"/>
                <a:cs typeface="微软雅黑"/>
              </a:rPr>
              <a:t>浏览器</a:t>
            </a:r>
            <a:endParaRPr/>
          </a:p>
        </p:txBody>
      </p:sp>
      <p:sp>
        <p:nvSpPr>
          <p:cNvPr id="403" name="Right Arrow 15"/>
          <p:cNvSpPr/>
          <p:nvPr/>
        </p:nvSpPr>
        <p:spPr>
          <a:xfrm>
            <a:off x="2667000" y="2171700"/>
            <a:ext cx="171450" cy="171450"/>
          </a:xfrm>
          <a:prstGeom prst="rightArrow">
            <a:avLst/>
          </a:prstGeom>
          <a:solidFill>
            <a:srgbClr val="23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04" name="Rounded Rectangle 16"/>
          <p:cNvSpPr/>
          <p:nvPr/>
        </p:nvSpPr>
        <p:spPr>
          <a:xfrm>
            <a:off x="2876550" y="2038350"/>
            <a:ext cx="800100" cy="438150"/>
          </a:xfrm>
          <a:prstGeom prst="roundRect">
            <a:avLst>
              <a:gd name="adj" fmla="val 1739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05" name="TextBox 17"/>
          <p:cNvSpPr txBox="1"/>
          <p:nvPr/>
        </p:nvSpPr>
        <p:spPr>
          <a:xfrm>
            <a:off x="2876550" y="2143125"/>
            <a:ext cx="80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" b="0" i="0">
                <a:solidFill>
                  <a:srgbClr val="BCC3CA"/>
                </a:solidFill>
                <a:latin typeface="微软雅黑"/>
                <a:ea typeface="微软雅黑"/>
                <a:cs typeface="微软雅黑"/>
              </a:rPr>
              <a:t>自建后端</a:t>
            </a:r>
            <a:endParaRPr/>
          </a:p>
        </p:txBody>
      </p:sp>
      <p:sp>
        <p:nvSpPr>
          <p:cNvPr id="406" name="Right Arrow 18"/>
          <p:cNvSpPr/>
          <p:nvPr/>
        </p:nvSpPr>
        <p:spPr>
          <a:xfrm>
            <a:off x="3714750" y="2171700"/>
            <a:ext cx="171450" cy="171450"/>
          </a:xfrm>
          <a:prstGeom prst="rightArrow">
            <a:avLst/>
          </a:prstGeom>
          <a:solidFill>
            <a:srgbClr val="23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07" name="Rounded Rectangle 19"/>
          <p:cNvSpPr/>
          <p:nvPr/>
        </p:nvSpPr>
        <p:spPr>
          <a:xfrm>
            <a:off x="3924300" y="2038350"/>
            <a:ext cx="990600" cy="438150"/>
          </a:xfrm>
          <a:prstGeom prst="roundRect">
            <a:avLst>
              <a:gd name="adj" fmla="val 17391"/>
            </a:avLst>
          </a:prstGeom>
          <a:solidFill>
            <a:srgbClr val="2E3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08" name="TextBox 20"/>
          <p:cNvSpPr txBox="1"/>
          <p:nvPr/>
        </p:nvSpPr>
        <p:spPr>
          <a:xfrm>
            <a:off x="3924300" y="214312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第三方 LLM</a:t>
            </a:r>
            <a:endParaRPr/>
          </a:p>
        </p:txBody>
      </p:sp>
      <p:sp>
        <p:nvSpPr>
          <p:cNvPr id="409" name="Right Arrow 21"/>
          <p:cNvSpPr/>
          <p:nvPr/>
        </p:nvSpPr>
        <p:spPr>
          <a:xfrm>
            <a:off x="4953000" y="2171700"/>
            <a:ext cx="171450" cy="171450"/>
          </a:xfrm>
          <a:prstGeom prst="rightArrow">
            <a:avLst/>
          </a:prstGeom>
          <a:solidFill>
            <a:srgbClr val="23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10" name="Rounded Rectangle 22"/>
          <p:cNvSpPr/>
          <p:nvPr/>
        </p:nvSpPr>
        <p:spPr>
          <a:xfrm>
            <a:off x="5162550" y="2038350"/>
            <a:ext cx="666750" cy="438150"/>
          </a:xfrm>
          <a:prstGeom prst="roundRect">
            <a:avLst>
              <a:gd name="adj" fmla="val 1739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11" name="TextBox 23"/>
          <p:cNvSpPr txBox="1"/>
          <p:nvPr/>
        </p:nvSpPr>
        <p:spPr>
          <a:xfrm>
            <a:off x="5162550" y="2143125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" b="0" i="0">
                <a:solidFill>
                  <a:srgbClr val="BCC3CA"/>
                </a:solidFill>
                <a:latin typeface="微软雅黑"/>
                <a:ea typeface="微软雅黑"/>
                <a:cs typeface="微软雅黑"/>
              </a:rPr>
              <a:t>数据库</a:t>
            </a:r>
            <a:endParaRPr/>
          </a:p>
        </p:txBody>
      </p:sp>
      <p:sp>
        <p:nvSpPr>
          <p:cNvPr id="412" name="TextBox 24"/>
          <p:cNvSpPr txBox="1"/>
          <p:nvPr/>
        </p:nvSpPr>
        <p:spPr>
          <a:xfrm>
            <a:off x="895350" y="2609850"/>
            <a:ext cx="104013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75" b="0" i="0">
                <a:solidFill>
                  <a:srgbClr val="8E959D"/>
                </a:solidFill>
                <a:latin typeface="微软雅黑"/>
                <a:ea typeface="微软雅黑"/>
                <a:cs typeface="微软雅黑"/>
              </a:rPr>
              <a:t>这条路能把产品跑起来，代价是：AI 调用发生在平台之外，与赛题「以 LearnBuddy 为唯一指定平台」直接冲突；而且模型每次回答都可能不同，同一个分数无法被第三方复算。</a:t>
            </a:r>
            <a:endParaRPr/>
          </a:p>
        </p:txBody>
      </p:sp>
      <p:sp>
        <p:nvSpPr>
          <p:cNvPr id="413" name="Rounded Rectangle 25"/>
          <p:cNvSpPr/>
          <p:nvPr/>
        </p:nvSpPr>
        <p:spPr>
          <a:xfrm>
            <a:off x="685800" y="3695700"/>
            <a:ext cx="10820400" cy="2590800"/>
          </a:xfrm>
          <a:prstGeom prst="roundRect">
            <a:avLst>
              <a:gd name="adj" fmla="val 5147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14" name="Rectangle 26"/>
          <p:cNvSpPr/>
          <p:nvPr/>
        </p:nvSpPr>
        <p:spPr>
          <a:xfrm>
            <a:off x="685800" y="3695700"/>
            <a:ext cx="28575" cy="259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15" name="TextBox 27"/>
          <p:cNvSpPr txBox="1"/>
          <p:nvPr/>
        </p:nvSpPr>
        <p:spPr>
          <a:xfrm>
            <a:off x="895350" y="3867150"/>
            <a:ext cx="381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本项目 · Compile-time AI</a:t>
            </a:r>
            <a:endParaRPr/>
          </a:p>
        </p:txBody>
      </p:sp>
      <p:sp>
        <p:nvSpPr>
          <p:cNvPr id="416" name="Rounded Rectangle 28"/>
          <p:cNvSpPr/>
          <p:nvPr/>
        </p:nvSpPr>
        <p:spPr>
          <a:xfrm>
            <a:off x="9505950" y="3867150"/>
            <a:ext cx="1790700" cy="285750"/>
          </a:xfrm>
          <a:prstGeom prst="roundRect">
            <a:avLst>
              <a:gd name="adj" fmla="val 20000"/>
            </a:avLst>
          </a:prstGeom>
          <a:solidFill>
            <a:srgbClr val="18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17" name="TextBox 29"/>
          <p:cNvSpPr txBox="1"/>
          <p:nvPr/>
        </p:nvSpPr>
        <p:spPr>
          <a:xfrm>
            <a:off x="9620250" y="3924300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零 AI 调用 · 零后端</a:t>
            </a:r>
            <a:endParaRPr/>
          </a:p>
        </p:txBody>
      </p:sp>
      <p:sp>
        <p:nvSpPr>
          <p:cNvPr id="418" name="TextBox 30"/>
          <p:cNvSpPr txBox="1"/>
          <p:nvPr/>
        </p:nvSpPr>
        <p:spPr>
          <a:xfrm>
            <a:off x="895350" y="44005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开发时</a:t>
            </a:r>
            <a:endParaRPr/>
          </a:p>
        </p:txBody>
      </p:sp>
      <p:sp>
        <p:nvSpPr>
          <p:cNvPr id="419" name="Rounded Rectangle 31"/>
          <p:cNvSpPr/>
          <p:nvPr/>
        </p:nvSpPr>
        <p:spPr>
          <a:xfrm>
            <a:off x="1562100" y="4286250"/>
            <a:ext cx="2209800" cy="419100"/>
          </a:xfrm>
          <a:prstGeom prst="roundRect">
            <a:avLst>
              <a:gd name="adj" fmla="val 1818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20" name="TextBox 32"/>
          <p:cNvSpPr txBox="1"/>
          <p:nvPr/>
        </p:nvSpPr>
        <p:spPr>
          <a:xfrm>
            <a:off x="1562100" y="4410075"/>
            <a:ext cx="2209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LearnBuddy 对话中上传报告</a:t>
            </a:r>
            <a:endParaRPr/>
          </a:p>
        </p:txBody>
      </p:sp>
      <p:sp>
        <p:nvSpPr>
          <p:cNvPr id="421" name="Right Arrow 33"/>
          <p:cNvSpPr/>
          <p:nvPr/>
        </p:nvSpPr>
        <p:spPr>
          <a:xfrm>
            <a:off x="3848100" y="4419600"/>
            <a:ext cx="152400" cy="15240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22" name="Rounded Rectangle 34"/>
          <p:cNvSpPr/>
          <p:nvPr/>
        </p:nvSpPr>
        <p:spPr>
          <a:xfrm>
            <a:off x="4076700" y="4286250"/>
            <a:ext cx="1771650" cy="419100"/>
          </a:xfrm>
          <a:prstGeom prst="roundRect">
            <a:avLst>
              <a:gd name="adj" fmla="val 1818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23" name="TextBox 35"/>
          <p:cNvSpPr txBox="1"/>
          <p:nvPr/>
        </p:nvSpPr>
        <p:spPr>
          <a:xfrm>
            <a:off x="4076700" y="4410075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五 Agent 流水线推理</a:t>
            </a:r>
            <a:endParaRPr/>
          </a:p>
        </p:txBody>
      </p:sp>
      <p:sp>
        <p:nvSpPr>
          <p:cNvPr id="424" name="Right Arrow 36"/>
          <p:cNvSpPr/>
          <p:nvPr/>
        </p:nvSpPr>
        <p:spPr>
          <a:xfrm>
            <a:off x="5924550" y="4419600"/>
            <a:ext cx="152400" cy="15240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25" name="Rounded Rectangle 37"/>
          <p:cNvSpPr/>
          <p:nvPr/>
        </p:nvSpPr>
        <p:spPr>
          <a:xfrm>
            <a:off x="6153150" y="4286250"/>
            <a:ext cx="1600200" cy="419100"/>
          </a:xfrm>
          <a:prstGeom prst="roundRect">
            <a:avLst>
              <a:gd name="adj" fmla="val 1818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26" name="TextBox 38"/>
          <p:cNvSpPr txBox="1"/>
          <p:nvPr/>
        </p:nvSpPr>
        <p:spPr>
          <a:xfrm>
            <a:off x="6153150" y="4410075"/>
            <a:ext cx="1600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ReviewResult JSON</a:t>
            </a:r>
            <a:endParaRPr/>
          </a:p>
        </p:txBody>
      </p:sp>
      <p:sp>
        <p:nvSpPr>
          <p:cNvPr id="427" name="TextBox 39"/>
          <p:cNvSpPr txBox="1"/>
          <p:nvPr/>
        </p:nvSpPr>
        <p:spPr>
          <a:xfrm>
            <a:off x="895350" y="49339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运行时</a:t>
            </a:r>
            <a:endParaRPr/>
          </a:p>
        </p:txBody>
      </p:sp>
      <p:sp>
        <p:nvSpPr>
          <p:cNvPr id="428" name="Rounded Rectangle 40"/>
          <p:cNvSpPr/>
          <p:nvPr/>
        </p:nvSpPr>
        <p:spPr>
          <a:xfrm>
            <a:off x="1562100" y="4819650"/>
            <a:ext cx="1866900" cy="419100"/>
          </a:xfrm>
          <a:prstGeom prst="roundRect">
            <a:avLst>
              <a:gd name="adj" fmla="val 1818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29" name="TextBox 41"/>
          <p:cNvSpPr txBox="1"/>
          <p:nvPr/>
        </p:nvSpPr>
        <p:spPr>
          <a:xfrm>
            <a:off x="1562100" y="4943475"/>
            <a:ext cx="1866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浏览器读仓库内 JSON</a:t>
            </a:r>
            <a:endParaRPr/>
          </a:p>
        </p:txBody>
      </p:sp>
      <p:sp>
        <p:nvSpPr>
          <p:cNvPr id="430" name="Right Arrow 42"/>
          <p:cNvSpPr/>
          <p:nvPr/>
        </p:nvSpPr>
        <p:spPr>
          <a:xfrm>
            <a:off x="3505200" y="4953000"/>
            <a:ext cx="152400" cy="15240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31" name="Rounded Rectangle 43"/>
          <p:cNvSpPr/>
          <p:nvPr/>
        </p:nvSpPr>
        <p:spPr>
          <a:xfrm>
            <a:off x="3733800" y="4819650"/>
            <a:ext cx="1066800" cy="419100"/>
          </a:xfrm>
          <a:prstGeom prst="roundRect">
            <a:avLst>
              <a:gd name="adj" fmla="val 1818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32" name="TextBox 44"/>
          <p:cNvSpPr txBox="1"/>
          <p:nvPr/>
        </p:nvSpPr>
        <p:spPr>
          <a:xfrm>
            <a:off x="3733800" y="4943475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确定性渲染</a:t>
            </a:r>
            <a:endParaRPr/>
          </a:p>
        </p:txBody>
      </p:sp>
      <p:sp>
        <p:nvSpPr>
          <p:cNvPr id="433" name="Right Arrow 45"/>
          <p:cNvSpPr/>
          <p:nvPr/>
        </p:nvSpPr>
        <p:spPr>
          <a:xfrm>
            <a:off x="4876800" y="4953000"/>
            <a:ext cx="152400" cy="15240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34" name="Rounded Rectangle 46"/>
          <p:cNvSpPr/>
          <p:nvPr/>
        </p:nvSpPr>
        <p:spPr>
          <a:xfrm>
            <a:off x="5105400" y="4819650"/>
            <a:ext cx="1428750" cy="419100"/>
          </a:xfrm>
          <a:prstGeom prst="roundRect">
            <a:avLst>
              <a:gd name="adj" fmla="val 18181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35" name="TextBox 47"/>
          <p:cNvSpPr txBox="1"/>
          <p:nvPr/>
        </p:nvSpPr>
        <p:spPr>
          <a:xfrm>
            <a:off x="5105400" y="494347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纯前端规则核查</a:t>
            </a:r>
            <a:endParaRPr/>
          </a:p>
        </p:txBody>
      </p:sp>
      <p:sp>
        <p:nvSpPr>
          <p:cNvPr id="436" name="TextBox 48"/>
          <p:cNvSpPr txBox="1"/>
          <p:nvPr/>
        </p:nvSpPr>
        <p:spPr>
          <a:xfrm>
            <a:off x="895350" y="5467350"/>
            <a:ext cx="10401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75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推理前移到开发时：对话侧跑完流水线，产出结构化 JSON 提交进仓库。换来三件事 —— 结果可复现（分数由纯算术得出）、过程可审计（逐字定位）、质量可评测（可独立复算）。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4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三件交付物，互为佐证</a:t>
            </a:r>
            <a:endParaRPr/>
          </a:p>
        </p:txBody>
      </p:sp>
      <p:sp>
        <p:nvSpPr>
          <p:cNvPr id="439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40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41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442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06 / 19</a:t>
            </a:r>
            <a:endParaRPr/>
          </a:p>
        </p:txBody>
      </p:sp>
      <p:sp>
        <p:nvSpPr>
          <p:cNvPr id="443" name="Rounded Rectangle 6"/>
          <p:cNvSpPr/>
          <p:nvPr/>
        </p:nvSpPr>
        <p:spPr>
          <a:xfrm>
            <a:off x="685800" y="1943100"/>
            <a:ext cx="5715000" cy="1066800"/>
          </a:xfrm>
          <a:prstGeom prst="roundRect">
            <a:avLst>
              <a:gd name="adj" fmla="val 1071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44" name="Rectangle 7"/>
          <p:cNvSpPr/>
          <p:nvPr/>
        </p:nvSpPr>
        <p:spPr>
          <a:xfrm>
            <a:off x="685800" y="1943100"/>
            <a:ext cx="28575" cy="1066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45" name="Rounded Rectangle 8"/>
          <p:cNvSpPr/>
          <p:nvPr/>
        </p:nvSpPr>
        <p:spPr>
          <a:xfrm>
            <a:off x="876300" y="224790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1D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46" name="TextBox 9"/>
          <p:cNvSpPr txBox="1"/>
          <p:nvPr/>
        </p:nvSpPr>
        <p:spPr>
          <a:xfrm>
            <a:off x="1485900" y="2228850"/>
            <a:ext cx="4724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专家智能体包</a:t>
            </a:r>
            <a:endParaRPr/>
          </a:p>
        </p:txBody>
      </p:sp>
      <p:sp>
        <p:nvSpPr>
          <p:cNvPr id="447" name="TextBox 10"/>
          <p:cNvSpPr txBox="1"/>
          <p:nvPr/>
        </p:nvSpPr>
        <p:spPr>
          <a:xfrm>
            <a:off x="1485900" y="2571750"/>
            <a:ext cx="472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能力本体 · AI 在这里跑</a:t>
            </a:r>
            <a:endParaRPr/>
          </a:p>
        </p:txBody>
      </p:sp>
      <p:sp>
        <p:nvSpPr>
          <p:cNvPr id="448" name="Rectangle 11"/>
          <p:cNvSpPr/>
          <p:nvPr/>
        </p:nvSpPr>
        <p:spPr>
          <a:xfrm>
            <a:off x="3533775" y="3009900"/>
            <a:ext cx="19050" cy="323850"/>
          </a:xfrm>
          <a:prstGeom prst="rect">
            <a:avLst/>
          </a:prstGeom>
          <a:solidFill>
            <a:srgbClr val="16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49" name="Rounded Rectangle 12"/>
          <p:cNvSpPr/>
          <p:nvPr/>
        </p:nvSpPr>
        <p:spPr>
          <a:xfrm>
            <a:off x="685800" y="3333750"/>
            <a:ext cx="5715000" cy="1066800"/>
          </a:xfrm>
          <a:prstGeom prst="roundRect">
            <a:avLst>
              <a:gd name="adj" fmla="val 1071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50" name="Rectangle 13"/>
          <p:cNvSpPr/>
          <p:nvPr/>
        </p:nvSpPr>
        <p:spPr>
          <a:xfrm>
            <a:off x="685800" y="3333750"/>
            <a:ext cx="28575" cy="1066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51" name="Rounded Rectangle 14"/>
          <p:cNvSpPr/>
          <p:nvPr/>
        </p:nvSpPr>
        <p:spPr>
          <a:xfrm>
            <a:off x="876300" y="363855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1D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52" name="TextBox 15"/>
          <p:cNvSpPr txBox="1"/>
          <p:nvPr/>
        </p:nvSpPr>
        <p:spPr>
          <a:xfrm>
            <a:off x="1485900" y="3619500"/>
            <a:ext cx="4724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Web Demo 产品展示页</a:t>
            </a:r>
            <a:endParaRPr/>
          </a:p>
        </p:txBody>
      </p:sp>
      <p:sp>
        <p:nvSpPr>
          <p:cNvPr id="453" name="TextBox 16"/>
          <p:cNvSpPr txBox="1"/>
          <p:nvPr/>
        </p:nvSpPr>
        <p:spPr>
          <a:xfrm>
            <a:off x="1485900" y="3962400"/>
            <a:ext cx="472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产品形态 · 在线链接 + 源码仓库</a:t>
            </a:r>
            <a:endParaRPr/>
          </a:p>
        </p:txBody>
      </p:sp>
      <p:sp>
        <p:nvSpPr>
          <p:cNvPr id="454" name="Rectangle 17"/>
          <p:cNvSpPr/>
          <p:nvPr/>
        </p:nvSpPr>
        <p:spPr>
          <a:xfrm>
            <a:off x="3533775" y="4400550"/>
            <a:ext cx="19050" cy="323850"/>
          </a:xfrm>
          <a:prstGeom prst="rect">
            <a:avLst/>
          </a:prstGeom>
          <a:solidFill>
            <a:srgbClr val="16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55" name="Rounded Rectangle 18"/>
          <p:cNvSpPr/>
          <p:nvPr/>
        </p:nvSpPr>
        <p:spPr>
          <a:xfrm>
            <a:off x="685800" y="4724400"/>
            <a:ext cx="5715000" cy="1066800"/>
          </a:xfrm>
          <a:prstGeom prst="roundRect">
            <a:avLst>
              <a:gd name="adj" fmla="val 1071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56" name="Rectangle 19"/>
          <p:cNvSpPr/>
          <p:nvPr/>
        </p:nvSpPr>
        <p:spPr>
          <a:xfrm>
            <a:off x="685800" y="4724400"/>
            <a:ext cx="28575" cy="1066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57" name="Rounded Rectangle 20"/>
          <p:cNvSpPr/>
          <p:nvPr/>
        </p:nvSpPr>
        <p:spPr>
          <a:xfrm>
            <a:off x="876300" y="502920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1D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58" name="TextBox 21"/>
          <p:cNvSpPr txBox="1"/>
          <p:nvPr/>
        </p:nvSpPr>
        <p:spPr>
          <a:xfrm>
            <a:off x="1485900" y="5010150"/>
            <a:ext cx="4724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评审材料包</a:t>
            </a:r>
            <a:endParaRPr/>
          </a:p>
        </p:txBody>
      </p:sp>
      <p:sp>
        <p:nvSpPr>
          <p:cNvPr id="459" name="TextBox 22"/>
          <p:cNvSpPr txBox="1"/>
          <p:nvPr/>
        </p:nvSpPr>
        <p:spPr>
          <a:xfrm>
            <a:off x="1485900" y="5353050"/>
            <a:ext cx="472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佐证链 · PPT / 视频 / 对话归档</a:t>
            </a:r>
            <a:endParaRPr/>
          </a:p>
        </p:txBody>
      </p:sp>
      <p:sp>
        <p:nvSpPr>
          <p:cNvPr id="460" name="Rounded Rectangle 23"/>
          <p:cNvSpPr/>
          <p:nvPr/>
        </p:nvSpPr>
        <p:spPr>
          <a:xfrm>
            <a:off x="6781800" y="1447800"/>
            <a:ext cx="4724400" cy="1536700"/>
          </a:xfrm>
          <a:prstGeom prst="roundRect">
            <a:avLst>
              <a:gd name="adj" fmla="val 7438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61" name="TextBox 24"/>
          <p:cNvSpPr txBox="1"/>
          <p:nvPr/>
        </p:nvSpPr>
        <p:spPr>
          <a:xfrm>
            <a:off x="6953250" y="1600200"/>
            <a:ext cx="4381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一 · 专家智能体包</a:t>
            </a:r>
            <a:endParaRPr/>
          </a:p>
        </p:txBody>
      </p:sp>
      <p:sp>
        <p:nvSpPr>
          <p:cNvPr id="462" name="TextBox 25"/>
          <p:cNvSpPr txBox="1"/>
          <p:nvPr/>
        </p:nvSpPr>
        <p:spPr>
          <a:xfrm>
            <a:off x="6953250" y="1905000"/>
            <a:ext cx="438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✅ 已落地</a:t>
            </a:r>
            <a:endParaRPr/>
          </a:p>
        </p:txBody>
      </p:sp>
      <p:sp>
        <p:nvSpPr>
          <p:cNvPr id="463" name="TextBox 26"/>
          <p:cNvSpPr txBox="1"/>
          <p:nvPr/>
        </p:nvSpPr>
        <p:spPr>
          <a:xfrm>
            <a:off x="6953250" y="2171700"/>
            <a:ext cx="43815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3AAB1"/>
                </a:solidFill>
                <a:latin typeface="微软雅黑"/>
                <a:ea typeface="微软雅黑"/>
                <a:cs typeface="微软雅黑"/>
              </a:rPr>
              <a:t>Prompt + Skills + Tools + Workflow + Evaluation 五件套齐备，六件工具自测 61 项通过，已通过官方校验并注册到专家市场。</a:t>
            </a:r>
            <a:endParaRPr/>
          </a:p>
        </p:txBody>
      </p:sp>
      <p:sp>
        <p:nvSpPr>
          <p:cNvPr id="464" name="Rounded Rectangle 27"/>
          <p:cNvSpPr/>
          <p:nvPr/>
        </p:nvSpPr>
        <p:spPr>
          <a:xfrm>
            <a:off x="6781800" y="3098800"/>
            <a:ext cx="4724400" cy="1536700"/>
          </a:xfrm>
          <a:prstGeom prst="roundRect">
            <a:avLst>
              <a:gd name="adj" fmla="val 7438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65" name="TextBox 28"/>
          <p:cNvSpPr txBox="1"/>
          <p:nvPr/>
        </p:nvSpPr>
        <p:spPr>
          <a:xfrm>
            <a:off x="6953250" y="3251200"/>
            <a:ext cx="4381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二 · Web Demo</a:t>
            </a:r>
            <a:endParaRPr/>
          </a:p>
        </p:txBody>
      </p:sp>
      <p:sp>
        <p:nvSpPr>
          <p:cNvPr id="466" name="TextBox 29"/>
          <p:cNvSpPr txBox="1"/>
          <p:nvPr/>
        </p:nvSpPr>
        <p:spPr>
          <a:xfrm>
            <a:off x="6953250" y="3556000"/>
            <a:ext cx="438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✅ 7 路由实测</a:t>
            </a:r>
            <a:endParaRPr/>
          </a:p>
        </p:txBody>
      </p:sp>
      <p:sp>
        <p:nvSpPr>
          <p:cNvPr id="467" name="TextBox 30"/>
          <p:cNvSpPr txBox="1"/>
          <p:nvPr/>
        </p:nvSpPr>
        <p:spPr>
          <a:xfrm>
            <a:off x="6953250" y="3822700"/>
            <a:ext cx="43815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3AAB1"/>
                </a:solidFill>
                <a:latin typeface="微软雅黑"/>
                <a:ea typeface="微软雅黑"/>
                <a:cs typeface="微软雅黑"/>
              </a:rPr>
              <a:t>首页 / 智能体构成 / 评阅工作台 / 结果详情 / 上传核查 / 一致性评测 / 工作流溯源，类型检查 0 错、静态页 21/21。</a:t>
            </a:r>
            <a:endParaRPr/>
          </a:p>
        </p:txBody>
      </p:sp>
      <p:sp>
        <p:nvSpPr>
          <p:cNvPr id="468" name="Rounded Rectangle 31"/>
          <p:cNvSpPr/>
          <p:nvPr/>
        </p:nvSpPr>
        <p:spPr>
          <a:xfrm>
            <a:off x="6781800" y="4749800"/>
            <a:ext cx="4724400" cy="1536700"/>
          </a:xfrm>
          <a:prstGeom prst="roundRect">
            <a:avLst>
              <a:gd name="adj" fmla="val 7438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69" name="TextBox 32"/>
          <p:cNvSpPr txBox="1"/>
          <p:nvPr/>
        </p:nvSpPr>
        <p:spPr>
          <a:xfrm>
            <a:off x="6953250" y="4902200"/>
            <a:ext cx="4381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三 · 评审材料包</a:t>
            </a:r>
            <a:endParaRPr/>
          </a:p>
        </p:txBody>
      </p:sp>
      <p:sp>
        <p:nvSpPr>
          <p:cNvPr id="470" name="TextBox 33"/>
          <p:cNvSpPr txBox="1"/>
          <p:nvPr/>
        </p:nvSpPr>
        <p:spPr>
          <a:xfrm>
            <a:off x="6953250" y="5207000"/>
            <a:ext cx="438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✅ 三件全交付</a:t>
            </a:r>
            <a:endParaRPr/>
          </a:p>
        </p:txBody>
      </p:sp>
      <p:sp>
        <p:nvSpPr>
          <p:cNvPr id="471" name="TextBox 34"/>
          <p:cNvSpPr txBox="1"/>
          <p:nvPr/>
        </p:nvSpPr>
        <p:spPr>
          <a:xfrm>
            <a:off x="6953250" y="5473700"/>
            <a:ext cx="43815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3AAB1"/>
                </a:solidFill>
                <a:latin typeface="微软雅黑"/>
                <a:ea typeface="微软雅黑"/>
                <a:cs typeface="微软雅黑"/>
              </a:rPr>
              <a:t>39 轮对话归档（9 份逐字转录）已入库；作品介绍 PPT 与 3 分钟演示视频随作品一并提交。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4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五个 Agent 的评阅流水线</a:t>
            </a:r>
            <a:endParaRPr/>
          </a:p>
        </p:txBody>
      </p:sp>
      <p:sp>
        <p:nvSpPr>
          <p:cNvPr id="474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75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76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477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07 / 19</a:t>
            </a:r>
            <a:endParaRPr/>
          </a:p>
        </p:txBody>
      </p:sp>
      <p:sp>
        <p:nvSpPr>
          <p:cNvPr id="478" name="Rounded Rectangle 6"/>
          <p:cNvSpPr/>
          <p:nvPr/>
        </p:nvSpPr>
        <p:spPr>
          <a:xfrm>
            <a:off x="685800" y="1447800"/>
            <a:ext cx="10820400" cy="2247900"/>
          </a:xfrm>
          <a:prstGeom prst="roundRect">
            <a:avLst>
              <a:gd name="adj" fmla="val 593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79" name="Rounded Rectangle 7"/>
          <p:cNvSpPr/>
          <p:nvPr/>
        </p:nvSpPr>
        <p:spPr>
          <a:xfrm>
            <a:off x="895350" y="1885950"/>
            <a:ext cx="1821180" cy="1028700"/>
          </a:xfrm>
          <a:prstGeom prst="roundRect">
            <a:avLst>
              <a:gd name="adj" fmla="val 9259"/>
            </a:avLst>
          </a:prstGeom>
          <a:solidFill>
            <a:srgbClr val="17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80" name="TextBox 8"/>
          <p:cNvSpPr txBox="1"/>
          <p:nvPr/>
        </p:nvSpPr>
        <p:spPr>
          <a:xfrm>
            <a:off x="895350" y="207645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50" b="1" i="0">
                <a:solidFill>
                  <a:srgbClr val="29B8A8"/>
                </a:solidFill>
                <a:latin typeface="Consolas"/>
                <a:ea typeface="Consolas"/>
                <a:cs typeface="Consolas"/>
              </a:rPr>
              <a:t>Parser</a:t>
            </a:r>
            <a:endParaRPr/>
          </a:p>
        </p:txBody>
      </p:sp>
      <p:sp>
        <p:nvSpPr>
          <p:cNvPr id="481" name="TextBox 9"/>
          <p:cNvSpPr txBox="1"/>
          <p:nvPr/>
        </p:nvSpPr>
        <p:spPr>
          <a:xfrm>
            <a:off x="895350" y="240030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解析</a:t>
            </a:r>
            <a:endParaRPr/>
          </a:p>
        </p:txBody>
      </p:sp>
      <p:sp>
        <p:nvSpPr>
          <p:cNvPr id="482" name="Right Arrow 10"/>
          <p:cNvSpPr/>
          <p:nvPr/>
        </p:nvSpPr>
        <p:spPr>
          <a:xfrm>
            <a:off x="2792730" y="2324100"/>
            <a:ext cx="171450" cy="171450"/>
          </a:xfrm>
          <a:prstGeom prst="rightArrow">
            <a:avLst/>
          </a:prstGeom>
          <a:solidFill>
            <a:srgbClr val="269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83" name="Rounded Rectangle 11"/>
          <p:cNvSpPr/>
          <p:nvPr/>
        </p:nvSpPr>
        <p:spPr>
          <a:xfrm>
            <a:off x="3040380" y="1885950"/>
            <a:ext cx="1821180" cy="1028700"/>
          </a:xfrm>
          <a:prstGeom prst="roundRect">
            <a:avLst>
              <a:gd name="adj" fmla="val 9259"/>
            </a:avLst>
          </a:prstGeom>
          <a:solidFill>
            <a:srgbClr val="19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84" name="TextBox 12"/>
          <p:cNvSpPr txBox="1"/>
          <p:nvPr/>
        </p:nvSpPr>
        <p:spPr>
          <a:xfrm>
            <a:off x="3040380" y="207645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50" b="1" i="0">
                <a:solidFill>
                  <a:srgbClr val="29B8A8"/>
                </a:solidFill>
                <a:latin typeface="Consolas"/>
                <a:ea typeface="Consolas"/>
                <a:cs typeface="Consolas"/>
              </a:rPr>
              <a:t>Evidence</a:t>
            </a:r>
            <a:endParaRPr/>
          </a:p>
        </p:txBody>
      </p:sp>
      <p:sp>
        <p:nvSpPr>
          <p:cNvPr id="485" name="TextBox 13"/>
          <p:cNvSpPr txBox="1"/>
          <p:nvPr/>
        </p:nvSpPr>
        <p:spPr>
          <a:xfrm>
            <a:off x="3040380" y="240030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取证</a:t>
            </a:r>
            <a:endParaRPr/>
          </a:p>
        </p:txBody>
      </p:sp>
      <p:sp>
        <p:nvSpPr>
          <p:cNvPr id="486" name="Right Arrow 14"/>
          <p:cNvSpPr/>
          <p:nvPr/>
        </p:nvSpPr>
        <p:spPr>
          <a:xfrm>
            <a:off x="4937760" y="2324100"/>
            <a:ext cx="171450" cy="171450"/>
          </a:xfrm>
          <a:prstGeom prst="rightArrow">
            <a:avLst/>
          </a:prstGeom>
          <a:solidFill>
            <a:srgbClr val="269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87" name="Rounded Rectangle 15"/>
          <p:cNvSpPr/>
          <p:nvPr/>
        </p:nvSpPr>
        <p:spPr>
          <a:xfrm>
            <a:off x="5185410" y="1885950"/>
            <a:ext cx="1821180" cy="1028700"/>
          </a:xfrm>
          <a:prstGeom prst="roundRect">
            <a:avLst>
              <a:gd name="adj" fmla="val 9259"/>
            </a:avLst>
          </a:prstGeom>
          <a:solidFill>
            <a:srgbClr val="1A4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88" name="TextBox 16"/>
          <p:cNvSpPr txBox="1"/>
          <p:nvPr/>
        </p:nvSpPr>
        <p:spPr>
          <a:xfrm>
            <a:off x="5185410" y="207645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Grader</a:t>
            </a:r>
            <a:endParaRPr/>
          </a:p>
        </p:txBody>
      </p:sp>
      <p:sp>
        <p:nvSpPr>
          <p:cNvPr id="489" name="TextBox 17"/>
          <p:cNvSpPr txBox="1"/>
          <p:nvPr/>
        </p:nvSpPr>
        <p:spPr>
          <a:xfrm>
            <a:off x="5185410" y="240030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判定</a:t>
            </a:r>
            <a:endParaRPr/>
          </a:p>
        </p:txBody>
      </p:sp>
      <p:sp>
        <p:nvSpPr>
          <p:cNvPr id="490" name="Right Arrow 18"/>
          <p:cNvSpPr/>
          <p:nvPr/>
        </p:nvSpPr>
        <p:spPr>
          <a:xfrm>
            <a:off x="7082790" y="2324100"/>
            <a:ext cx="171450" cy="171450"/>
          </a:xfrm>
          <a:prstGeom prst="rightArrow">
            <a:avLst/>
          </a:prstGeom>
          <a:solidFill>
            <a:srgbClr val="269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91" name="Rounded Rectangle 19"/>
          <p:cNvSpPr/>
          <p:nvPr/>
        </p:nvSpPr>
        <p:spPr>
          <a:xfrm>
            <a:off x="7330440" y="1885950"/>
            <a:ext cx="1821180" cy="1028700"/>
          </a:xfrm>
          <a:prstGeom prst="roundRect">
            <a:avLst>
              <a:gd name="adj" fmla="val 9259"/>
            </a:avLst>
          </a:prstGeom>
          <a:solidFill>
            <a:srgbClr val="1B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92" name="TextBox 20"/>
          <p:cNvSpPr txBox="1"/>
          <p:nvPr/>
        </p:nvSpPr>
        <p:spPr>
          <a:xfrm>
            <a:off x="7330440" y="207645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Reviewer</a:t>
            </a:r>
            <a:endParaRPr/>
          </a:p>
        </p:txBody>
      </p:sp>
      <p:sp>
        <p:nvSpPr>
          <p:cNvPr id="493" name="TextBox 21"/>
          <p:cNvSpPr txBox="1"/>
          <p:nvPr/>
        </p:nvSpPr>
        <p:spPr>
          <a:xfrm>
            <a:off x="7330440" y="240030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复核</a:t>
            </a:r>
            <a:endParaRPr/>
          </a:p>
        </p:txBody>
      </p:sp>
      <p:sp>
        <p:nvSpPr>
          <p:cNvPr id="494" name="Right Arrow 22"/>
          <p:cNvSpPr/>
          <p:nvPr/>
        </p:nvSpPr>
        <p:spPr>
          <a:xfrm>
            <a:off x="9227820" y="2324100"/>
            <a:ext cx="171450" cy="171450"/>
          </a:xfrm>
          <a:prstGeom prst="rightArrow">
            <a:avLst/>
          </a:prstGeom>
          <a:solidFill>
            <a:srgbClr val="269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95" name="Rounded Rectangle 23"/>
          <p:cNvSpPr/>
          <p:nvPr/>
        </p:nvSpPr>
        <p:spPr>
          <a:xfrm>
            <a:off x="9475470" y="1885950"/>
            <a:ext cx="1821180" cy="1028700"/>
          </a:xfrm>
          <a:prstGeom prst="roundRect">
            <a:avLst>
              <a:gd name="adj" fmla="val 9259"/>
            </a:avLst>
          </a:prstGeom>
          <a:solidFill>
            <a:srgbClr val="1C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96" name="TextBox 24"/>
          <p:cNvSpPr txBox="1"/>
          <p:nvPr/>
        </p:nvSpPr>
        <p:spPr>
          <a:xfrm>
            <a:off x="9475470" y="207645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Feedback</a:t>
            </a:r>
            <a:endParaRPr/>
          </a:p>
        </p:txBody>
      </p:sp>
      <p:sp>
        <p:nvSpPr>
          <p:cNvPr id="497" name="TextBox 25"/>
          <p:cNvSpPr txBox="1"/>
          <p:nvPr/>
        </p:nvSpPr>
        <p:spPr>
          <a:xfrm>
            <a:off x="9475470" y="2400300"/>
            <a:ext cx="18211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C7CED4"/>
                </a:solidFill>
                <a:latin typeface="微软雅黑"/>
                <a:ea typeface="微软雅黑"/>
                <a:cs typeface="微软雅黑"/>
              </a:rPr>
              <a:t>评语</a:t>
            </a:r>
            <a:endParaRPr/>
          </a:p>
        </p:txBody>
      </p:sp>
      <p:sp>
        <p:nvSpPr>
          <p:cNvPr id="498" name="TextBox 26"/>
          <p:cNvSpPr txBox="1"/>
          <p:nvPr/>
        </p:nvSpPr>
        <p:spPr>
          <a:xfrm>
            <a:off x="895350" y="3105150"/>
            <a:ext cx="104013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每一环都输出置信度与原文证据引用，逐环可在溯源页看到该环的输入、输出与置信度变化 —— 这是「和直接问大模型有什么区别」的正面回答：区别在于过程可见。</a:t>
            </a:r>
            <a:endParaRPr/>
          </a:p>
        </p:txBody>
      </p:sp>
      <p:sp>
        <p:nvSpPr>
          <p:cNvPr id="499" name="Rounded Rectangle 27"/>
          <p:cNvSpPr/>
          <p:nvPr/>
        </p:nvSpPr>
        <p:spPr>
          <a:xfrm>
            <a:off x="685800" y="3848100"/>
            <a:ext cx="3505200" cy="2438400"/>
          </a:xfrm>
          <a:prstGeom prst="roundRect">
            <a:avLst>
              <a:gd name="adj" fmla="val 4687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00" name="TextBox 28"/>
          <p:cNvSpPr txBox="1"/>
          <p:nvPr/>
        </p:nvSpPr>
        <p:spPr>
          <a:xfrm>
            <a:off x="857250" y="4000500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逐环留痕</a:t>
            </a:r>
            <a:endParaRPr/>
          </a:p>
        </p:txBody>
      </p:sp>
      <p:sp>
        <p:nvSpPr>
          <p:cNvPr id="501" name="TextBox 29"/>
          <p:cNvSpPr txBox="1"/>
          <p:nvPr/>
        </p:nvSpPr>
        <p:spPr>
          <a:xfrm>
            <a:off x="857250" y="4324350"/>
            <a:ext cx="31623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每个 Agent 的输入、输出与置信度都落到结果 JSON 的 provenance 里，可逐环回看。</a:t>
            </a:r>
            <a:endParaRPr/>
          </a:p>
        </p:txBody>
      </p:sp>
      <p:sp>
        <p:nvSpPr>
          <p:cNvPr id="502" name="Rounded Rectangle 30"/>
          <p:cNvSpPr/>
          <p:nvPr/>
        </p:nvSpPr>
        <p:spPr>
          <a:xfrm>
            <a:off x="4343400" y="3848100"/>
            <a:ext cx="3505200" cy="2438400"/>
          </a:xfrm>
          <a:prstGeom prst="roundRect">
            <a:avLst>
              <a:gd name="adj" fmla="val 4687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03" name="TextBox 31"/>
          <p:cNvSpPr txBox="1"/>
          <p:nvPr/>
        </p:nvSpPr>
        <p:spPr>
          <a:xfrm>
            <a:off x="4514850" y="4000500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证据先行</a:t>
            </a:r>
            <a:endParaRPr/>
          </a:p>
        </p:txBody>
      </p:sp>
      <p:sp>
        <p:nvSpPr>
          <p:cNvPr id="504" name="TextBox 32"/>
          <p:cNvSpPr txBox="1"/>
          <p:nvPr/>
        </p:nvSpPr>
        <p:spPr>
          <a:xfrm>
            <a:off x="4514850" y="4324350"/>
            <a:ext cx="31623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Evidence 环在前，Grader 环在后：先拿到原文证据，再给判定与理由。</a:t>
            </a:r>
            <a:endParaRPr/>
          </a:p>
        </p:txBody>
      </p:sp>
      <p:sp>
        <p:nvSpPr>
          <p:cNvPr id="505" name="Rounded Rectangle 33"/>
          <p:cNvSpPr/>
          <p:nvPr/>
        </p:nvSpPr>
        <p:spPr>
          <a:xfrm>
            <a:off x="8001000" y="3848100"/>
            <a:ext cx="3505200" cy="2438400"/>
          </a:xfrm>
          <a:prstGeom prst="roundRect">
            <a:avLst>
              <a:gd name="adj" fmla="val 4687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06" name="TextBox 34"/>
          <p:cNvSpPr txBox="1"/>
          <p:nvPr/>
        </p:nvSpPr>
        <p:spPr>
          <a:xfrm>
            <a:off x="8172450" y="4000500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可复算</a:t>
            </a:r>
            <a:endParaRPr/>
          </a:p>
        </p:txBody>
      </p:sp>
      <p:sp>
        <p:nvSpPr>
          <p:cNvPr id="507" name="TextBox 35"/>
          <p:cNvSpPr txBox="1"/>
          <p:nvPr/>
        </p:nvSpPr>
        <p:spPr>
          <a:xfrm>
            <a:off x="8172450" y="4324350"/>
            <a:ext cx="31623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整条链路的产出是纯数据，任何机器上重放都得到同样的页面与分数。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5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一份 JSON，三处同源</a:t>
            </a:r>
            <a:endParaRPr/>
          </a:p>
        </p:txBody>
      </p:sp>
      <p:sp>
        <p:nvSpPr>
          <p:cNvPr id="510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11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12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513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08 / 19</a:t>
            </a:r>
            <a:endParaRPr/>
          </a:p>
        </p:txBody>
      </p:sp>
      <p:sp>
        <p:nvSpPr>
          <p:cNvPr id="514" name="Rounded Rectangle 6"/>
          <p:cNvSpPr/>
          <p:nvPr/>
        </p:nvSpPr>
        <p:spPr>
          <a:xfrm>
            <a:off x="685800" y="1447800"/>
            <a:ext cx="6334125" cy="4838700"/>
          </a:xfrm>
          <a:prstGeom prst="roundRect">
            <a:avLst>
              <a:gd name="adj" fmla="val 2755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15" name="TextBox 7"/>
          <p:cNvSpPr txBox="1"/>
          <p:nvPr/>
        </p:nvSpPr>
        <p:spPr>
          <a:xfrm>
            <a:off x="914400" y="1657350"/>
            <a:ext cx="58769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ReviewResult 契约</a:t>
            </a:r>
            <a:endParaRPr/>
          </a:p>
        </p:txBody>
      </p:sp>
      <p:sp>
        <p:nvSpPr>
          <p:cNvPr id="516" name="TextBox 8"/>
          <p:cNvSpPr txBox="1"/>
          <p:nvPr/>
        </p:nvSpPr>
        <p:spPr>
          <a:xfrm>
            <a:off x="914400" y="1981200"/>
            <a:ext cx="5876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机器真源：JSON Schema ｜ 人类可读：契约说明</a:t>
            </a:r>
            <a:endParaRPr/>
          </a:p>
        </p:txBody>
      </p:sp>
      <p:sp>
        <p:nvSpPr>
          <p:cNvPr id="517" name="Rounded Rectangle 9"/>
          <p:cNvSpPr/>
          <p:nvPr/>
        </p:nvSpPr>
        <p:spPr>
          <a:xfrm>
            <a:off x="914400" y="2438400"/>
            <a:ext cx="5876925" cy="1123950"/>
          </a:xfrm>
          <a:prstGeom prst="roundRect">
            <a:avLst>
              <a:gd name="adj" fmla="val 8474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18" name="Rectangle 10"/>
          <p:cNvSpPr/>
          <p:nvPr/>
        </p:nvSpPr>
        <p:spPr>
          <a:xfrm>
            <a:off x="914400" y="2438400"/>
            <a:ext cx="28575" cy="11239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19" name="TextBox 11"/>
          <p:cNvSpPr txBox="1"/>
          <p:nvPr/>
        </p:nvSpPr>
        <p:spPr>
          <a:xfrm>
            <a:off x="1104900" y="2590800"/>
            <a:ext cx="54959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智能体输出格式</a:t>
            </a:r>
            <a:endParaRPr/>
          </a:p>
        </p:txBody>
      </p:sp>
      <p:sp>
        <p:nvSpPr>
          <p:cNvPr id="520" name="TextBox 12"/>
          <p:cNvSpPr txBox="1"/>
          <p:nvPr/>
        </p:nvSpPr>
        <p:spPr>
          <a:xfrm>
            <a:off x="1104900" y="2895600"/>
            <a:ext cx="54959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专家智能体产出的每份结果都必须长成这样，缺字段直接不合格。</a:t>
            </a:r>
            <a:endParaRPr/>
          </a:p>
        </p:txBody>
      </p:sp>
      <p:sp>
        <p:nvSpPr>
          <p:cNvPr id="521" name="Rounded Rectangle 13"/>
          <p:cNvSpPr/>
          <p:nvPr/>
        </p:nvSpPr>
        <p:spPr>
          <a:xfrm>
            <a:off x="914400" y="3695700"/>
            <a:ext cx="5876925" cy="1123950"/>
          </a:xfrm>
          <a:prstGeom prst="roundRect">
            <a:avLst>
              <a:gd name="adj" fmla="val 8474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22" name="Rectangle 14"/>
          <p:cNvSpPr/>
          <p:nvPr/>
        </p:nvSpPr>
        <p:spPr>
          <a:xfrm>
            <a:off x="914400" y="3695700"/>
            <a:ext cx="28575" cy="11239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23" name="TextBox 15"/>
          <p:cNvSpPr txBox="1"/>
          <p:nvPr/>
        </p:nvSpPr>
        <p:spPr>
          <a:xfrm>
            <a:off x="1104900" y="3848100"/>
            <a:ext cx="54959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前端类型定义</a:t>
            </a:r>
            <a:endParaRPr/>
          </a:p>
        </p:txBody>
      </p:sp>
      <p:sp>
        <p:nvSpPr>
          <p:cNvPr id="524" name="TextBox 16"/>
          <p:cNvSpPr txBox="1"/>
          <p:nvPr/>
        </p:nvSpPr>
        <p:spPr>
          <a:xfrm>
            <a:off x="1104900" y="4152900"/>
            <a:ext cx="54959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前端契约与机器 schema 的对象层、字段差异为零（23 对象层 / 132 字段）。</a:t>
            </a:r>
            <a:endParaRPr/>
          </a:p>
        </p:txBody>
      </p:sp>
      <p:sp>
        <p:nvSpPr>
          <p:cNvPr id="525" name="Rounded Rectangle 17"/>
          <p:cNvSpPr/>
          <p:nvPr/>
        </p:nvSpPr>
        <p:spPr>
          <a:xfrm>
            <a:off x="914400" y="4953000"/>
            <a:ext cx="5876925" cy="1123950"/>
          </a:xfrm>
          <a:prstGeom prst="roundRect">
            <a:avLst>
              <a:gd name="adj" fmla="val 8474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26" name="Rectangle 18"/>
          <p:cNvSpPr/>
          <p:nvPr/>
        </p:nvSpPr>
        <p:spPr>
          <a:xfrm>
            <a:off x="914400" y="4953000"/>
            <a:ext cx="28575" cy="11239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27" name="TextBox 19"/>
          <p:cNvSpPr txBox="1"/>
          <p:nvPr/>
        </p:nvSpPr>
        <p:spPr>
          <a:xfrm>
            <a:off x="1104900" y="5105400"/>
            <a:ext cx="54959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仓库数据资产</a:t>
            </a:r>
            <a:endParaRPr/>
          </a:p>
        </p:txBody>
      </p:sp>
      <p:sp>
        <p:nvSpPr>
          <p:cNvPr id="528" name="TextBox 20"/>
          <p:cNvSpPr txBox="1"/>
          <p:nvPr/>
        </p:nvSpPr>
        <p:spPr>
          <a:xfrm>
            <a:off x="1104900" y="5410200"/>
            <a:ext cx="54959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12 份历史评阅资产一行不改，继续通过双端校验。</a:t>
            </a:r>
            <a:endParaRPr/>
          </a:p>
        </p:txBody>
      </p:sp>
      <p:sp>
        <p:nvSpPr>
          <p:cNvPr id="529" name="Rounded Rectangle 21"/>
          <p:cNvSpPr/>
          <p:nvPr/>
        </p:nvSpPr>
        <p:spPr>
          <a:xfrm>
            <a:off x="7324725" y="1447800"/>
            <a:ext cx="4181475" cy="4838700"/>
          </a:xfrm>
          <a:prstGeom prst="roundRect">
            <a:avLst>
              <a:gd name="adj" fmla="val 3189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30" name="TextBox 22"/>
          <p:cNvSpPr txBox="1"/>
          <p:nvPr/>
        </p:nvSpPr>
        <p:spPr>
          <a:xfrm>
            <a:off x="7534275" y="1676400"/>
            <a:ext cx="3762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契约 1.2.0</a:t>
            </a:r>
            <a:endParaRPr/>
          </a:p>
        </p:txBody>
      </p:sp>
      <p:sp>
        <p:nvSpPr>
          <p:cNvPr id="531" name="TextBox 23"/>
          <p:cNvSpPr txBox="1"/>
          <p:nvPr/>
        </p:nvSpPr>
        <p:spPr>
          <a:xfrm>
            <a:off x="7534275" y="2019300"/>
            <a:ext cx="37623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向后兼容超集</a:t>
            </a:r>
            <a:endParaRPr/>
          </a:p>
        </p:txBody>
      </p:sp>
      <p:sp>
        <p:nvSpPr>
          <p:cNvPr id="532" name="TextBox 24"/>
          <p:cNvSpPr txBox="1"/>
          <p:nvPr/>
        </p:nvSpPr>
        <p:spPr>
          <a:xfrm>
            <a:off x="7534275" y="2362200"/>
            <a:ext cx="37623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75" b="0" i="0">
                <a:solidFill>
                  <a:srgbClr val="A3AAB1"/>
                </a:solidFill>
                <a:latin typeface="微软雅黑"/>
                <a:ea typeface="微软雅黑"/>
                <a:cs typeface="微软雅黑"/>
              </a:rPr>
              <a:t>以上一版契约（589 行 Zod 定义）为基线，新增字段一律 optional。因此历史资产不需要任何改动，就能同时通过前端契约与工具链六项检查。</a:t>
            </a:r>
            <a:endParaRPr/>
          </a:p>
        </p:txBody>
      </p:sp>
      <p:sp>
        <p:nvSpPr>
          <p:cNvPr id="533" name="Rectangle 25"/>
          <p:cNvSpPr/>
          <p:nvPr/>
        </p:nvSpPr>
        <p:spPr>
          <a:xfrm>
            <a:off x="7534275" y="3657600"/>
            <a:ext cx="3762375" cy="9525"/>
          </a:xfrm>
          <a:prstGeom prst="rect">
            <a:avLst/>
          </a:prstGeom>
          <a:solidFill>
            <a:srgbClr val="1A4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34" name="TextBox 26"/>
          <p:cNvSpPr txBox="1"/>
          <p:nvPr/>
        </p:nvSpPr>
        <p:spPr>
          <a:xfrm>
            <a:off x="7534275" y="3848100"/>
            <a:ext cx="3762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12 / 12</a:t>
            </a:r>
            <a:endParaRPr/>
          </a:p>
        </p:txBody>
      </p:sp>
      <p:sp>
        <p:nvSpPr>
          <p:cNvPr id="535" name="TextBox 27"/>
          <p:cNvSpPr txBox="1"/>
          <p:nvPr/>
        </p:nvSpPr>
        <p:spPr>
          <a:xfrm>
            <a:off x="7534275" y="4457700"/>
            <a:ext cx="3762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12 份历史资产在「前端契约」与「工具链六项检查」两端的通过数，均为此值。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5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无证据，不得高置信</a:t>
            </a:r>
            <a:endParaRPr/>
          </a:p>
        </p:txBody>
      </p:sp>
      <p:sp>
        <p:nvSpPr>
          <p:cNvPr id="538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39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40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541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09 / 19</a:t>
            </a:r>
            <a:endParaRPr/>
          </a:p>
        </p:txBody>
      </p:sp>
      <p:sp>
        <p:nvSpPr>
          <p:cNvPr id="542" name="Rounded Rectangle 6"/>
          <p:cNvSpPr/>
          <p:nvPr/>
        </p:nvSpPr>
        <p:spPr>
          <a:xfrm>
            <a:off x="685800" y="1447800"/>
            <a:ext cx="5905500" cy="4838700"/>
          </a:xfrm>
          <a:prstGeom prst="roundRect">
            <a:avLst>
              <a:gd name="adj" fmla="val 2755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43" name="TextBox 7"/>
          <p:cNvSpPr txBox="1"/>
          <p:nvPr/>
        </p:nvSpPr>
        <p:spPr>
          <a:xfrm>
            <a:off x="933450" y="1676400"/>
            <a:ext cx="5410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逐点四元组</a:t>
            </a:r>
            <a:endParaRPr/>
          </a:p>
        </p:txBody>
      </p:sp>
      <p:sp>
        <p:nvSpPr>
          <p:cNvPr id="544" name="Rounded Rectangle 8"/>
          <p:cNvSpPr/>
          <p:nvPr/>
        </p:nvSpPr>
        <p:spPr>
          <a:xfrm>
            <a:off x="933450" y="2152650"/>
            <a:ext cx="5410200" cy="914400"/>
          </a:xfrm>
          <a:prstGeom prst="roundRect">
            <a:avLst>
              <a:gd name="adj" fmla="val 10416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45" name="TextBox 9"/>
          <p:cNvSpPr txBox="1"/>
          <p:nvPr/>
        </p:nvSpPr>
        <p:spPr>
          <a:xfrm>
            <a:off x="1104900" y="23050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546" name="TextBox 10"/>
          <p:cNvSpPr txBox="1"/>
          <p:nvPr/>
        </p:nvSpPr>
        <p:spPr>
          <a:xfrm>
            <a:off x="1562100" y="2266950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评分点</a:t>
            </a:r>
            <a:endParaRPr/>
          </a:p>
        </p:txBody>
      </p:sp>
      <p:sp>
        <p:nvSpPr>
          <p:cNvPr id="547" name="TextBox 11"/>
          <p:cNvSpPr txBox="1"/>
          <p:nvPr/>
        </p:nvSpPr>
        <p:spPr>
          <a:xfrm>
            <a:off x="1562100" y="2590800"/>
            <a:ext cx="4495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BA2A9"/>
                </a:solidFill>
                <a:latin typeface="微软雅黑"/>
                <a:ea typeface="微软雅黑"/>
                <a:cs typeface="微软雅黑"/>
              </a:rPr>
              <a:t>Rubric 里的一条可判定要求</a:t>
            </a:r>
            <a:endParaRPr/>
          </a:p>
        </p:txBody>
      </p:sp>
      <p:sp>
        <p:nvSpPr>
          <p:cNvPr id="548" name="Rectangle 12"/>
          <p:cNvSpPr/>
          <p:nvPr/>
        </p:nvSpPr>
        <p:spPr>
          <a:xfrm>
            <a:off x="1257300" y="3067050"/>
            <a:ext cx="19050" cy="114300"/>
          </a:xfrm>
          <a:prstGeom prst="rect">
            <a:avLst/>
          </a:prstGeom>
          <a:solidFill>
            <a:srgbClr val="1F6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49" name="Rounded Rectangle 13"/>
          <p:cNvSpPr/>
          <p:nvPr/>
        </p:nvSpPr>
        <p:spPr>
          <a:xfrm>
            <a:off x="933450" y="3181350"/>
            <a:ext cx="5410200" cy="914400"/>
          </a:xfrm>
          <a:prstGeom prst="roundRect">
            <a:avLst>
              <a:gd name="adj" fmla="val 10416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50" name="TextBox 14"/>
          <p:cNvSpPr txBox="1"/>
          <p:nvPr/>
        </p:nvSpPr>
        <p:spPr>
          <a:xfrm>
            <a:off x="1104900" y="33337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551" name="TextBox 15"/>
          <p:cNvSpPr txBox="1"/>
          <p:nvPr/>
        </p:nvSpPr>
        <p:spPr>
          <a:xfrm>
            <a:off x="1562100" y="3295650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证据</a:t>
            </a:r>
            <a:endParaRPr/>
          </a:p>
        </p:txBody>
      </p:sp>
      <p:sp>
        <p:nvSpPr>
          <p:cNvPr id="552" name="TextBox 16"/>
          <p:cNvSpPr txBox="1"/>
          <p:nvPr/>
        </p:nvSpPr>
        <p:spPr>
          <a:xfrm>
            <a:off x="1562100" y="3619500"/>
            <a:ext cx="4495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BA2A9"/>
                </a:solidFill>
                <a:latin typeface="微软雅黑"/>
                <a:ea typeface="微软雅黑"/>
                <a:cs typeface="微软雅黑"/>
              </a:rPr>
              <a:t>报告原文的逐字片段 + 位置</a:t>
            </a:r>
            <a:endParaRPr/>
          </a:p>
        </p:txBody>
      </p:sp>
      <p:sp>
        <p:nvSpPr>
          <p:cNvPr id="553" name="Rectangle 17"/>
          <p:cNvSpPr/>
          <p:nvPr/>
        </p:nvSpPr>
        <p:spPr>
          <a:xfrm>
            <a:off x="1257300" y="4095750"/>
            <a:ext cx="19050" cy="114300"/>
          </a:xfrm>
          <a:prstGeom prst="rect">
            <a:avLst/>
          </a:prstGeom>
          <a:solidFill>
            <a:srgbClr val="1F6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54" name="Rounded Rectangle 18"/>
          <p:cNvSpPr/>
          <p:nvPr/>
        </p:nvSpPr>
        <p:spPr>
          <a:xfrm>
            <a:off x="933450" y="4210050"/>
            <a:ext cx="5410200" cy="914400"/>
          </a:xfrm>
          <a:prstGeom prst="roundRect">
            <a:avLst>
              <a:gd name="adj" fmla="val 10416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55" name="TextBox 19"/>
          <p:cNvSpPr txBox="1"/>
          <p:nvPr/>
        </p:nvSpPr>
        <p:spPr>
          <a:xfrm>
            <a:off x="1104900" y="43624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556" name="TextBox 20"/>
          <p:cNvSpPr txBox="1"/>
          <p:nvPr/>
        </p:nvSpPr>
        <p:spPr>
          <a:xfrm>
            <a:off x="1562100" y="4324350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判定</a:t>
            </a:r>
            <a:endParaRPr/>
          </a:p>
        </p:txBody>
      </p:sp>
      <p:sp>
        <p:nvSpPr>
          <p:cNvPr id="557" name="TextBox 21"/>
          <p:cNvSpPr txBox="1"/>
          <p:nvPr/>
        </p:nvSpPr>
        <p:spPr>
          <a:xfrm>
            <a:off x="1562100" y="4648200"/>
            <a:ext cx="4495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BA2A9"/>
                </a:solidFill>
                <a:latin typeface="微软雅黑"/>
                <a:ea typeface="微软雅黑"/>
                <a:cs typeface="微软雅黑"/>
              </a:rPr>
              <a:t>命中 / 部分命中 / 未命中</a:t>
            </a:r>
            <a:endParaRPr/>
          </a:p>
        </p:txBody>
      </p:sp>
      <p:sp>
        <p:nvSpPr>
          <p:cNvPr id="558" name="Rectangle 22"/>
          <p:cNvSpPr/>
          <p:nvPr/>
        </p:nvSpPr>
        <p:spPr>
          <a:xfrm>
            <a:off x="1257300" y="5124450"/>
            <a:ext cx="19050" cy="114300"/>
          </a:xfrm>
          <a:prstGeom prst="rect">
            <a:avLst/>
          </a:prstGeom>
          <a:solidFill>
            <a:srgbClr val="1F6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59" name="Rounded Rectangle 23"/>
          <p:cNvSpPr/>
          <p:nvPr/>
        </p:nvSpPr>
        <p:spPr>
          <a:xfrm>
            <a:off x="933450" y="5238750"/>
            <a:ext cx="5410200" cy="914400"/>
          </a:xfrm>
          <a:prstGeom prst="roundRect">
            <a:avLst>
              <a:gd name="adj" fmla="val 10416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60" name="TextBox 24"/>
          <p:cNvSpPr txBox="1"/>
          <p:nvPr/>
        </p:nvSpPr>
        <p:spPr>
          <a:xfrm>
            <a:off x="1104900" y="53911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04</a:t>
            </a:r>
            <a:endParaRPr/>
          </a:p>
        </p:txBody>
      </p:sp>
      <p:sp>
        <p:nvSpPr>
          <p:cNvPr id="561" name="TextBox 25"/>
          <p:cNvSpPr txBox="1"/>
          <p:nvPr/>
        </p:nvSpPr>
        <p:spPr>
          <a:xfrm>
            <a:off x="1562100" y="5353050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理由</a:t>
            </a:r>
            <a:endParaRPr/>
          </a:p>
        </p:txBody>
      </p:sp>
      <p:sp>
        <p:nvSpPr>
          <p:cNvPr id="562" name="TextBox 26"/>
          <p:cNvSpPr txBox="1"/>
          <p:nvPr/>
        </p:nvSpPr>
        <p:spPr>
          <a:xfrm>
            <a:off x="1562100" y="5676900"/>
            <a:ext cx="4495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BA2A9"/>
                </a:solidFill>
                <a:latin typeface="微软雅黑"/>
                <a:ea typeface="微软雅黑"/>
                <a:cs typeface="微软雅黑"/>
              </a:rPr>
              <a:t>为什么这么判，指回证据</a:t>
            </a:r>
            <a:endParaRPr/>
          </a:p>
        </p:txBody>
      </p:sp>
      <p:sp>
        <p:nvSpPr>
          <p:cNvPr id="563" name="Rounded Rectangle 27"/>
          <p:cNvSpPr/>
          <p:nvPr/>
        </p:nvSpPr>
        <p:spPr>
          <a:xfrm>
            <a:off x="6972300" y="1447800"/>
            <a:ext cx="4533900" cy="4838700"/>
          </a:xfrm>
          <a:prstGeom prst="roundRect">
            <a:avLst>
              <a:gd name="adj" fmla="val 2941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64" name="TextBox 28"/>
          <p:cNvSpPr txBox="1"/>
          <p:nvPr/>
        </p:nvSpPr>
        <p:spPr>
          <a:xfrm>
            <a:off x="7181850" y="1676400"/>
            <a:ext cx="4114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两条硬约束</a:t>
            </a:r>
            <a:endParaRPr/>
          </a:p>
        </p:txBody>
      </p:sp>
      <p:sp>
        <p:nvSpPr>
          <p:cNvPr id="565" name="Rounded Rectangle 29"/>
          <p:cNvSpPr/>
          <p:nvPr/>
        </p:nvSpPr>
        <p:spPr>
          <a:xfrm>
            <a:off x="7181850" y="2114550"/>
            <a:ext cx="4114800" cy="1409700"/>
          </a:xfrm>
          <a:prstGeom prst="roundRect">
            <a:avLst>
              <a:gd name="adj" fmla="val 6756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66" name="Rectangle 30"/>
          <p:cNvSpPr/>
          <p:nvPr/>
        </p:nvSpPr>
        <p:spPr>
          <a:xfrm>
            <a:off x="7181850" y="2114550"/>
            <a:ext cx="28575" cy="14097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67" name="TextBox 31"/>
          <p:cNvSpPr txBox="1"/>
          <p:nvPr/>
        </p:nvSpPr>
        <p:spPr>
          <a:xfrm>
            <a:off x="7372350" y="2305050"/>
            <a:ext cx="3733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逐字定位，不做归一化</a:t>
            </a:r>
            <a:endParaRPr/>
          </a:p>
        </p:txBody>
      </p:sp>
      <p:sp>
        <p:nvSpPr>
          <p:cNvPr id="568" name="TextBox 32"/>
          <p:cNvSpPr txBox="1"/>
          <p:nvPr/>
        </p:nvSpPr>
        <p:spPr>
          <a:xfrm>
            <a:off x="7372350" y="2628900"/>
            <a:ext cx="37338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引用解析器把摘要与原文做逐字比对，不做任何模糊归一化；对不上就拒绝，并给出拒绝原因。</a:t>
            </a:r>
            <a:endParaRPr/>
          </a:p>
        </p:txBody>
      </p:sp>
      <p:sp>
        <p:nvSpPr>
          <p:cNvPr id="569" name="Rounded Rectangle 33"/>
          <p:cNvSpPr/>
          <p:nvPr/>
        </p:nvSpPr>
        <p:spPr>
          <a:xfrm>
            <a:off x="7181850" y="3676650"/>
            <a:ext cx="4114800" cy="1409700"/>
          </a:xfrm>
          <a:prstGeom prst="roundRect">
            <a:avLst>
              <a:gd name="adj" fmla="val 6756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70" name="Rectangle 34"/>
          <p:cNvSpPr/>
          <p:nvPr/>
        </p:nvSpPr>
        <p:spPr>
          <a:xfrm>
            <a:off x="7181850" y="3676650"/>
            <a:ext cx="28575" cy="14097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71" name="TextBox 35"/>
          <p:cNvSpPr txBox="1"/>
          <p:nvPr/>
        </p:nvSpPr>
        <p:spPr>
          <a:xfrm>
            <a:off x="7372350" y="3867150"/>
            <a:ext cx="3733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无证据不得高置信</a:t>
            </a:r>
            <a:endParaRPr/>
          </a:p>
        </p:txBody>
      </p:sp>
      <p:sp>
        <p:nvSpPr>
          <p:cNvPr id="572" name="TextBox 36"/>
          <p:cNvSpPr txBox="1"/>
          <p:nvPr/>
        </p:nvSpPr>
        <p:spPr>
          <a:xfrm>
            <a:off x="7372350" y="4191000"/>
            <a:ext cx="37338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没有可定位证据的判定不能给高置信度。这把「AI 不能瞎说」从口号变成可执行的校验规则。</a:t>
            </a:r>
            <a:endParaRPr/>
          </a:p>
        </p:txBody>
      </p:sp>
      <p:sp>
        <p:nvSpPr>
          <p:cNvPr id="573" name="TextBox 37"/>
          <p:cNvSpPr txBox="1"/>
          <p:nvPr/>
        </p:nvSpPr>
        <p:spPr>
          <a:xfrm>
            <a:off x="7181850" y="5295900"/>
            <a:ext cx="41148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E959D"/>
                </a:solidFill>
                <a:latin typeface="微软雅黑"/>
                <a:ea typeface="微软雅黑"/>
                <a:cs typeface="微软雅黑"/>
              </a:rPr>
              <a:t>契约里 evidence 字段的 quote 一律取自解析出的报告原文，不取任何改写后的文本。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9" name="Rectangle 2"/>
          <p:cNvSpPr/>
          <p:nvPr/>
        </p:nvSpPr>
        <p:spPr>
          <a:xfrm>
            <a:off x="6667500" y="571500"/>
            <a:ext cx="5524500" cy="5715000"/>
          </a:xfrm>
          <a:prstGeom prst="rect">
            <a:avLst/>
          </a:prstGeom>
          <a:solidFill>
            <a:srgbClr val="0C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0" name="TextBox 3"/>
          <p:cNvSpPr txBox="1"/>
          <p:nvPr/>
        </p:nvSpPr>
        <p:spPr>
          <a:xfrm>
            <a:off x="1143000" y="1428750"/>
            <a:ext cx="2857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44544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31" name="TextBox 4"/>
          <p:cNvSpPr txBox="1"/>
          <p:nvPr/>
        </p:nvSpPr>
        <p:spPr>
          <a:xfrm>
            <a:off x="1143000" y="2857500"/>
            <a:ext cx="85725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能力、工程与质量</a:t>
            </a:r>
            <a:endParaRPr/>
          </a:p>
        </p:txBody>
      </p:sp>
      <p:sp>
        <p:nvSpPr>
          <p:cNvPr id="32" name="TextBox 5"/>
          <p:cNvSpPr txBox="1"/>
          <p:nvPr/>
        </p:nvSpPr>
        <p:spPr>
          <a:xfrm>
            <a:off x="1181100" y="381000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A0A6AC"/>
                </a:solidFill>
                <a:latin typeface="微软雅黑"/>
                <a:ea typeface="微软雅黑"/>
                <a:cs typeface="微软雅黑"/>
              </a:rPr>
              <a:t>AI 能力 · 专家智能体的构成与使用深度</a:t>
            </a:r>
            <a:endParaRPr/>
          </a:p>
        </p:txBody>
      </p:sp>
      <p:sp>
        <p:nvSpPr>
          <p:cNvPr id="33" name="TextBox 6"/>
          <p:cNvSpPr txBox="1"/>
          <p:nvPr/>
        </p:nvSpPr>
        <p:spPr>
          <a:xfrm>
            <a:off x="1181100" y="419100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A0A6AC"/>
                </a:solidFill>
                <a:latin typeface="微软雅黑"/>
                <a:ea typeface="微软雅黑"/>
                <a:cs typeface="微软雅黑"/>
              </a:rPr>
              <a:t>工程可复算 · 门禁、自测与跨端对拍</a:t>
            </a:r>
            <a:endParaRPr/>
          </a:p>
        </p:txBody>
      </p:sp>
      <p:sp>
        <p:nvSpPr>
          <p:cNvPr id="34" name="TextBox 7"/>
          <p:cNvSpPr txBox="1"/>
          <p:nvPr/>
        </p:nvSpPr>
        <p:spPr>
          <a:xfrm>
            <a:off x="1181100" y="457200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A0A6AC"/>
                </a:solidFill>
                <a:latin typeface="微软雅黑"/>
                <a:ea typeface="微软雅黑"/>
                <a:cs typeface="微软雅黑"/>
              </a:rPr>
              <a:t>质量自证 · 一致性评测与主动披露</a:t>
            </a:r>
            <a:endParaRPr/>
          </a:p>
        </p:txBody>
      </p:sp>
      <p:sp>
        <p:nvSpPr>
          <p:cNvPr id="35" name="TextBox 8"/>
          <p:cNvSpPr txBox="1"/>
          <p:nvPr/>
        </p:nvSpPr>
        <p:spPr>
          <a:xfrm>
            <a:off x="1143000" y="57150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666C72"/>
                </a:solidFill>
                <a:latin typeface="Consolas"/>
                <a:ea typeface="Consolas"/>
                <a:cs typeface="Consolas"/>
              </a:rPr>
              <a:t>03 · CAPABILITY &amp; EVIDENCE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五件套：能力本体</a:t>
            </a:r>
            <a:endParaRPr/>
          </a:p>
        </p:txBody>
      </p:sp>
      <p:sp>
        <p:nvSpPr>
          <p:cNvPr id="38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9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0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41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11 / 19</a:t>
            </a:r>
            <a:endParaRPr/>
          </a:p>
        </p:txBody>
      </p:sp>
      <p:sp>
        <p:nvSpPr>
          <p:cNvPr id="42" name="Rounded Rectangle 6"/>
          <p:cNvSpPr/>
          <p:nvPr/>
        </p:nvSpPr>
        <p:spPr>
          <a:xfrm>
            <a:off x="685800" y="1447800"/>
            <a:ext cx="3390900" cy="4838700"/>
          </a:xfrm>
          <a:prstGeom prst="roundRect">
            <a:avLst>
              <a:gd name="adj" fmla="val 393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3" name="TextBox 7"/>
          <p:cNvSpPr txBox="1"/>
          <p:nvPr/>
        </p:nvSpPr>
        <p:spPr>
          <a:xfrm>
            <a:off x="933450" y="1714500"/>
            <a:ext cx="2895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专家智能体包</a:t>
            </a:r>
            <a:endParaRPr/>
          </a:p>
        </p:txBody>
      </p:sp>
      <p:sp>
        <p:nvSpPr>
          <p:cNvPr id="44" name="TextBox 8"/>
          <p:cNvSpPr txBox="1"/>
          <p:nvPr/>
        </p:nvSpPr>
        <p:spPr>
          <a:xfrm>
            <a:off x="933450" y="2114550"/>
            <a:ext cx="2895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5 + 8 + 6</a:t>
            </a:r>
            <a:endParaRPr/>
          </a:p>
        </p:txBody>
      </p:sp>
      <p:sp>
        <p:nvSpPr>
          <p:cNvPr id="45" name="TextBox 9"/>
          <p:cNvSpPr txBox="1"/>
          <p:nvPr/>
        </p:nvSpPr>
        <p:spPr>
          <a:xfrm>
            <a:off x="933450" y="2781300"/>
            <a:ext cx="2895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75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五件套 · 八项技能 · 六件工具。AI 推理在这里完成，产物是结构化数据，不是一句回答。</a:t>
            </a:r>
            <a:endParaRPr/>
          </a:p>
        </p:txBody>
      </p:sp>
      <p:sp>
        <p:nvSpPr>
          <p:cNvPr id="46" name="Rectangle 10"/>
          <p:cNvSpPr/>
          <p:nvPr/>
        </p:nvSpPr>
        <p:spPr>
          <a:xfrm>
            <a:off x="933450" y="3657600"/>
            <a:ext cx="2895600" cy="9525"/>
          </a:xfrm>
          <a:prstGeom prst="rect">
            <a:avLst/>
          </a:prstGeom>
          <a:solidFill>
            <a:srgbClr val="1A4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47" name="TextBox 11"/>
          <p:cNvSpPr txBox="1"/>
          <p:nvPr/>
        </p:nvSpPr>
        <p:spPr>
          <a:xfrm>
            <a:off x="933450" y="3867150"/>
            <a:ext cx="2895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Tool 的三条判据</a:t>
            </a:r>
            <a:endParaRPr/>
          </a:p>
        </p:txBody>
      </p:sp>
      <p:sp>
        <p:nvSpPr>
          <p:cNvPr id="48" name="TextBox 12"/>
          <p:cNvSpPr txBox="1"/>
          <p:nvPr/>
        </p:nvSpPr>
        <p:spPr>
          <a:xfrm>
            <a:off x="933450" y="4210050"/>
            <a:ext cx="2895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→ 同输入必得同输出</a:t>
            </a:r>
            <a:endParaRPr/>
          </a:p>
        </p:txBody>
      </p:sp>
      <p:sp>
        <p:nvSpPr>
          <p:cNvPr id="49" name="TextBox 13"/>
          <p:cNvSpPr txBox="1"/>
          <p:nvPr/>
        </p:nvSpPr>
        <p:spPr>
          <a:xfrm>
            <a:off x="933450" y="4495800"/>
            <a:ext cx="2895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→ 可被第三方复算</a:t>
            </a:r>
            <a:endParaRPr/>
          </a:p>
        </p:txBody>
      </p:sp>
      <p:sp>
        <p:nvSpPr>
          <p:cNvPr id="50" name="TextBox 14"/>
          <p:cNvSpPr txBox="1"/>
          <p:nvPr/>
        </p:nvSpPr>
        <p:spPr>
          <a:xfrm>
            <a:off x="933450" y="4781550"/>
            <a:ext cx="2895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→ 输出里不出现形容词</a:t>
            </a:r>
            <a:endParaRPr/>
          </a:p>
        </p:txBody>
      </p:sp>
      <p:sp>
        <p:nvSpPr>
          <p:cNvPr id="51" name="Rectangle 15"/>
          <p:cNvSpPr/>
          <p:nvPr/>
        </p:nvSpPr>
        <p:spPr>
          <a:xfrm>
            <a:off x="933450" y="5181600"/>
            <a:ext cx="2895600" cy="9525"/>
          </a:xfrm>
          <a:prstGeom prst="rect">
            <a:avLst/>
          </a:prstGeom>
          <a:solidFill>
            <a:srgbClr val="1A4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2" name="TextBox 16"/>
          <p:cNvSpPr txBox="1"/>
          <p:nvPr/>
        </p:nvSpPr>
        <p:spPr>
          <a:xfrm>
            <a:off x="933450" y="5391150"/>
            <a:ext cx="28956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88F97"/>
                </a:solidFill>
                <a:latin typeface="微软雅黑"/>
                <a:ea typeface="微软雅黑"/>
                <a:cs typeface="微软雅黑"/>
              </a:rPr>
              <a:t>工具链只用 Python 标准库：无第三方依赖、无网络调用、无 AI 调用。</a:t>
            </a:r>
            <a:endParaRPr/>
          </a:p>
        </p:txBody>
      </p:sp>
      <p:sp>
        <p:nvSpPr>
          <p:cNvPr id="53" name="Rounded Rectangle 17"/>
          <p:cNvSpPr/>
          <p:nvPr/>
        </p:nvSpPr>
        <p:spPr>
          <a:xfrm>
            <a:off x="4457700" y="1447800"/>
            <a:ext cx="7048500" cy="891540"/>
          </a:xfrm>
          <a:prstGeom prst="roundRect">
            <a:avLst>
              <a:gd name="adj" fmla="val 10683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4" name="TextBox 18"/>
          <p:cNvSpPr txBox="1"/>
          <p:nvPr/>
        </p:nvSpPr>
        <p:spPr>
          <a:xfrm>
            <a:off x="4629150" y="156210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Prompt</a:t>
            </a:r>
            <a:endParaRPr/>
          </a:p>
        </p:txBody>
      </p:sp>
      <p:sp>
        <p:nvSpPr>
          <p:cNvPr id="55" name="TextBox 19"/>
          <p:cNvSpPr txBox="1"/>
          <p:nvPr/>
        </p:nvSpPr>
        <p:spPr>
          <a:xfrm>
            <a:off x="5695950" y="156210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系统提示词</a:t>
            </a:r>
            <a:endParaRPr/>
          </a:p>
        </p:txBody>
      </p:sp>
      <p:sp>
        <p:nvSpPr>
          <p:cNvPr id="56" name="TextBox 20"/>
          <p:cNvSpPr txBox="1"/>
          <p:nvPr/>
        </p:nvSpPr>
        <p:spPr>
          <a:xfrm>
            <a:off x="7010400" y="1562100"/>
            <a:ext cx="4305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定义角色、评分标准、输出契约与总分口径，把口径写死在提示词里，避免模型自创算法。</a:t>
            </a:r>
            <a:endParaRPr/>
          </a:p>
        </p:txBody>
      </p:sp>
      <p:sp>
        <p:nvSpPr>
          <p:cNvPr id="57" name="Rounded Rectangle 21"/>
          <p:cNvSpPr/>
          <p:nvPr/>
        </p:nvSpPr>
        <p:spPr>
          <a:xfrm>
            <a:off x="4457700" y="2434590"/>
            <a:ext cx="7048500" cy="891540"/>
          </a:xfrm>
          <a:prstGeom prst="roundRect">
            <a:avLst>
              <a:gd name="adj" fmla="val 10683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58" name="TextBox 22"/>
          <p:cNvSpPr txBox="1"/>
          <p:nvPr/>
        </p:nvSpPr>
        <p:spPr>
          <a:xfrm>
            <a:off x="4629150" y="254889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Skills</a:t>
            </a:r>
            <a:endParaRPr/>
          </a:p>
        </p:txBody>
      </p:sp>
      <p:sp>
        <p:nvSpPr>
          <p:cNvPr id="59" name="TextBox 23"/>
          <p:cNvSpPr txBox="1"/>
          <p:nvPr/>
        </p:nvSpPr>
        <p:spPr>
          <a:xfrm>
            <a:off x="5695950" y="254889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八项技能规格</a:t>
            </a:r>
            <a:endParaRPr/>
          </a:p>
        </p:txBody>
      </p:sp>
      <p:sp>
        <p:nvSpPr>
          <p:cNvPr id="60" name="TextBox 24"/>
          <p:cNvSpPr txBox="1"/>
          <p:nvPr/>
        </p:nvSpPr>
        <p:spPr>
          <a:xfrm>
            <a:off x="7010400" y="2548890"/>
            <a:ext cx="4305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S0 路由到 S7 复核，覆盖建标、解析、取证、判定、计算、装配、评语与解释的全流程。</a:t>
            </a:r>
            <a:endParaRPr/>
          </a:p>
        </p:txBody>
      </p:sp>
      <p:sp>
        <p:nvSpPr>
          <p:cNvPr id="61" name="Rounded Rectangle 25"/>
          <p:cNvSpPr/>
          <p:nvPr/>
        </p:nvSpPr>
        <p:spPr>
          <a:xfrm>
            <a:off x="4457700" y="3421380"/>
            <a:ext cx="7048500" cy="891540"/>
          </a:xfrm>
          <a:prstGeom prst="roundRect">
            <a:avLst>
              <a:gd name="adj" fmla="val 10683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62" name="TextBox 26"/>
          <p:cNvSpPr txBox="1"/>
          <p:nvPr/>
        </p:nvSpPr>
        <p:spPr>
          <a:xfrm>
            <a:off x="4629150" y="353568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Tools</a:t>
            </a:r>
            <a:endParaRPr/>
          </a:p>
        </p:txBody>
      </p:sp>
      <p:sp>
        <p:nvSpPr>
          <p:cNvPr id="63" name="TextBox 27"/>
          <p:cNvSpPr txBox="1"/>
          <p:nvPr/>
        </p:nvSpPr>
        <p:spPr>
          <a:xfrm>
            <a:off x="5695950" y="353568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六件确定性工具</a:t>
            </a:r>
            <a:endParaRPr/>
          </a:p>
        </p:txBody>
      </p:sp>
      <p:sp>
        <p:nvSpPr>
          <p:cNvPr id="64" name="TextBox 28"/>
          <p:cNvSpPr txBox="1"/>
          <p:nvPr/>
        </p:nvSpPr>
        <p:spPr>
          <a:xfrm>
            <a:off x="7010400" y="3535680"/>
            <a:ext cx="4305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解析器、核查器、引用解析器、计算器、契约校验器、资产库，全部是可被验证的纯函数。</a:t>
            </a:r>
            <a:endParaRPr/>
          </a:p>
        </p:txBody>
      </p:sp>
      <p:sp>
        <p:nvSpPr>
          <p:cNvPr id="65" name="Rounded Rectangle 29"/>
          <p:cNvSpPr/>
          <p:nvPr/>
        </p:nvSpPr>
        <p:spPr>
          <a:xfrm>
            <a:off x="4457700" y="4408170"/>
            <a:ext cx="7048500" cy="891540"/>
          </a:xfrm>
          <a:prstGeom prst="roundRect">
            <a:avLst>
              <a:gd name="adj" fmla="val 10683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66" name="TextBox 30"/>
          <p:cNvSpPr txBox="1"/>
          <p:nvPr/>
        </p:nvSpPr>
        <p:spPr>
          <a:xfrm>
            <a:off x="4629150" y="452247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Workflow</a:t>
            </a:r>
            <a:endParaRPr/>
          </a:p>
        </p:txBody>
      </p:sp>
      <p:sp>
        <p:nvSpPr>
          <p:cNvPr id="67" name="TextBox 31"/>
          <p:cNvSpPr txBox="1"/>
          <p:nvPr/>
        </p:nvSpPr>
        <p:spPr>
          <a:xfrm>
            <a:off x="5695950" y="452247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编排与失败重试</a:t>
            </a:r>
            <a:endParaRPr/>
          </a:p>
        </p:txBody>
      </p:sp>
      <p:sp>
        <p:nvSpPr>
          <p:cNvPr id="68" name="TextBox 32"/>
          <p:cNvSpPr txBox="1"/>
          <p:nvPr/>
        </p:nvSpPr>
        <p:spPr>
          <a:xfrm>
            <a:off x="7010400" y="4522470"/>
            <a:ext cx="4305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给出两种编排形态的可校验等价判据，以及失败时的降级与重试边界。</a:t>
            </a:r>
            <a:endParaRPr/>
          </a:p>
        </p:txBody>
      </p:sp>
      <p:sp>
        <p:nvSpPr>
          <p:cNvPr id="69" name="Rounded Rectangle 33"/>
          <p:cNvSpPr/>
          <p:nvPr/>
        </p:nvSpPr>
        <p:spPr>
          <a:xfrm>
            <a:off x="4457700" y="5394960"/>
            <a:ext cx="7048500" cy="891540"/>
          </a:xfrm>
          <a:prstGeom prst="roundRect">
            <a:avLst>
              <a:gd name="adj" fmla="val 10683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70" name="TextBox 34"/>
          <p:cNvSpPr txBox="1"/>
          <p:nvPr/>
        </p:nvSpPr>
        <p:spPr>
          <a:xfrm>
            <a:off x="4629150" y="550926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Evaluation</a:t>
            </a:r>
            <a:endParaRPr/>
          </a:p>
        </p:txBody>
      </p:sp>
      <p:sp>
        <p:nvSpPr>
          <p:cNvPr id="71" name="TextBox 35"/>
          <p:cNvSpPr txBox="1"/>
          <p:nvPr/>
        </p:nvSpPr>
        <p:spPr>
          <a:xfrm>
            <a:off x="5695950" y="550926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评测与回归门禁</a:t>
            </a:r>
            <a:endParaRPr/>
          </a:p>
        </p:txBody>
      </p:sp>
      <p:sp>
        <p:nvSpPr>
          <p:cNvPr id="72" name="TextBox 36"/>
          <p:cNvSpPr txBox="1"/>
          <p:nvPr/>
        </p:nvSpPr>
        <p:spPr>
          <a:xfrm>
            <a:off x="7010400" y="5509260"/>
            <a:ext cx="4305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四项指标口径统一，回归门禁把「劣化」变成退出码，CI 可以直接依赖。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8 个 Skill，6 件 Tool</a:t>
            </a:r>
            <a:endParaRPr/>
          </a:p>
        </p:txBody>
      </p:sp>
      <p:sp>
        <p:nvSpPr>
          <p:cNvPr id="75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76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77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78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12 / 19</a:t>
            </a:r>
            <a:endParaRPr/>
          </a:p>
        </p:txBody>
      </p:sp>
      <p:sp>
        <p:nvSpPr>
          <p:cNvPr id="79" name="Rounded Rectangle 6"/>
          <p:cNvSpPr/>
          <p:nvPr/>
        </p:nvSpPr>
        <p:spPr>
          <a:xfrm>
            <a:off x="685800" y="1447800"/>
            <a:ext cx="5257800" cy="4838700"/>
          </a:xfrm>
          <a:prstGeom prst="roundRect">
            <a:avLst>
              <a:gd name="adj" fmla="val 2755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80" name="TextBox 7"/>
          <p:cNvSpPr txBox="1"/>
          <p:nvPr/>
        </p:nvSpPr>
        <p:spPr>
          <a:xfrm>
            <a:off x="895350" y="1638300"/>
            <a:ext cx="4838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8 个 Skill</a:t>
            </a:r>
            <a:endParaRPr/>
          </a:p>
        </p:txBody>
      </p:sp>
      <p:sp>
        <p:nvSpPr>
          <p:cNvPr id="81" name="TextBox 8"/>
          <p:cNvSpPr txBox="1"/>
          <p:nvPr/>
        </p:nvSpPr>
        <p:spPr>
          <a:xfrm>
            <a:off x="895350" y="1981200"/>
            <a:ext cx="4838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规格与流程，允许判断与解释</a:t>
            </a:r>
            <a:endParaRPr/>
          </a:p>
        </p:txBody>
      </p:sp>
      <p:sp>
        <p:nvSpPr>
          <p:cNvPr id="82" name="Rounded Rectangle 9"/>
          <p:cNvSpPr/>
          <p:nvPr/>
        </p:nvSpPr>
        <p:spPr>
          <a:xfrm>
            <a:off x="895350" y="2305050"/>
            <a:ext cx="4838700" cy="438150"/>
          </a:xfrm>
          <a:prstGeom prst="roundRect">
            <a:avLst>
              <a:gd name="adj" fmla="val 17391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83" name="TextBox 10"/>
          <p:cNvSpPr txBox="1"/>
          <p:nvPr/>
        </p:nvSpPr>
        <p:spPr>
          <a:xfrm>
            <a:off x="1047750" y="240982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S0 任务路由</a:t>
            </a:r>
            <a:endParaRPr/>
          </a:p>
        </p:txBody>
      </p:sp>
      <p:sp>
        <p:nvSpPr>
          <p:cNvPr id="84" name="Rounded Rectangle 11"/>
          <p:cNvSpPr/>
          <p:nvPr/>
        </p:nvSpPr>
        <p:spPr>
          <a:xfrm>
            <a:off x="895350" y="2800350"/>
            <a:ext cx="4838700" cy="438150"/>
          </a:xfrm>
          <a:prstGeom prst="roundRect">
            <a:avLst>
              <a:gd name="adj" fmla="val 17391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85" name="TextBox 12"/>
          <p:cNvSpPr txBox="1"/>
          <p:nvPr/>
        </p:nvSpPr>
        <p:spPr>
          <a:xfrm>
            <a:off x="1047750" y="290512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S1 Rubric 构建</a:t>
            </a:r>
            <a:endParaRPr/>
          </a:p>
        </p:txBody>
      </p:sp>
      <p:sp>
        <p:nvSpPr>
          <p:cNvPr id="86" name="Rounded Rectangle 13"/>
          <p:cNvSpPr/>
          <p:nvPr/>
        </p:nvSpPr>
        <p:spPr>
          <a:xfrm>
            <a:off x="895350" y="3295650"/>
            <a:ext cx="4838700" cy="438150"/>
          </a:xfrm>
          <a:prstGeom prst="roundRect">
            <a:avLst>
              <a:gd name="adj" fmla="val 17391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87" name="TextBox 14"/>
          <p:cNvSpPr txBox="1"/>
          <p:nvPr/>
        </p:nvSpPr>
        <p:spPr>
          <a:xfrm>
            <a:off x="1047750" y="340042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S2 报告解析</a:t>
            </a:r>
            <a:endParaRPr/>
          </a:p>
        </p:txBody>
      </p:sp>
      <p:sp>
        <p:nvSpPr>
          <p:cNvPr id="88" name="Rounded Rectangle 15"/>
          <p:cNvSpPr/>
          <p:nvPr/>
        </p:nvSpPr>
        <p:spPr>
          <a:xfrm>
            <a:off x="895350" y="3790950"/>
            <a:ext cx="4838700" cy="438150"/>
          </a:xfrm>
          <a:prstGeom prst="roundRect">
            <a:avLst>
              <a:gd name="adj" fmla="val 17391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89" name="TextBox 16"/>
          <p:cNvSpPr txBox="1"/>
          <p:nvPr/>
        </p:nvSpPr>
        <p:spPr>
          <a:xfrm>
            <a:off x="1047750" y="389572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S3 证据取证与逐点判定</a:t>
            </a:r>
            <a:endParaRPr/>
          </a:p>
        </p:txBody>
      </p:sp>
      <p:sp>
        <p:nvSpPr>
          <p:cNvPr id="90" name="Rounded Rectangle 17"/>
          <p:cNvSpPr/>
          <p:nvPr/>
        </p:nvSpPr>
        <p:spPr>
          <a:xfrm>
            <a:off x="895350" y="4286250"/>
            <a:ext cx="4838700" cy="438150"/>
          </a:xfrm>
          <a:prstGeom prst="roundRect">
            <a:avLst>
              <a:gd name="adj" fmla="val 17391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91" name="TextBox 18"/>
          <p:cNvSpPr txBox="1"/>
          <p:nvPr/>
        </p:nvSpPr>
        <p:spPr>
          <a:xfrm>
            <a:off x="1047750" y="439102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S4 总分计算</a:t>
            </a:r>
            <a:endParaRPr/>
          </a:p>
        </p:txBody>
      </p:sp>
      <p:sp>
        <p:nvSpPr>
          <p:cNvPr id="92" name="Rounded Rectangle 19"/>
          <p:cNvSpPr/>
          <p:nvPr/>
        </p:nvSpPr>
        <p:spPr>
          <a:xfrm>
            <a:off x="895350" y="4781550"/>
            <a:ext cx="4838700" cy="438150"/>
          </a:xfrm>
          <a:prstGeom prst="roundRect">
            <a:avLst>
              <a:gd name="adj" fmla="val 17391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93" name="TextBox 20"/>
          <p:cNvSpPr txBox="1"/>
          <p:nvPr/>
        </p:nvSpPr>
        <p:spPr>
          <a:xfrm>
            <a:off x="1047750" y="488632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S5 结构装配与自检</a:t>
            </a:r>
            <a:endParaRPr/>
          </a:p>
        </p:txBody>
      </p:sp>
      <p:sp>
        <p:nvSpPr>
          <p:cNvPr id="94" name="Rounded Rectangle 21"/>
          <p:cNvSpPr/>
          <p:nvPr/>
        </p:nvSpPr>
        <p:spPr>
          <a:xfrm>
            <a:off x="895350" y="5276850"/>
            <a:ext cx="4838700" cy="438150"/>
          </a:xfrm>
          <a:prstGeom prst="roundRect">
            <a:avLst>
              <a:gd name="adj" fmla="val 17391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95" name="TextBox 22"/>
          <p:cNvSpPr txBox="1"/>
          <p:nvPr/>
        </p:nvSpPr>
        <p:spPr>
          <a:xfrm>
            <a:off x="1047750" y="538162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S6 评语生成</a:t>
            </a:r>
            <a:endParaRPr/>
          </a:p>
        </p:txBody>
      </p:sp>
      <p:sp>
        <p:nvSpPr>
          <p:cNvPr id="96" name="Rounded Rectangle 23"/>
          <p:cNvSpPr/>
          <p:nvPr/>
        </p:nvSpPr>
        <p:spPr>
          <a:xfrm>
            <a:off x="895350" y="5772150"/>
            <a:ext cx="4838700" cy="438150"/>
          </a:xfrm>
          <a:prstGeom prst="roundRect">
            <a:avLst>
              <a:gd name="adj" fmla="val 17391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97" name="TextBox 24"/>
          <p:cNvSpPr txBox="1"/>
          <p:nvPr/>
        </p:nvSpPr>
        <p:spPr>
          <a:xfrm>
            <a:off x="1047750" y="587692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S7 复核与解释</a:t>
            </a:r>
            <a:endParaRPr/>
          </a:p>
        </p:txBody>
      </p:sp>
      <p:sp>
        <p:nvSpPr>
          <p:cNvPr id="98" name="Rounded Rectangle 25"/>
          <p:cNvSpPr/>
          <p:nvPr/>
        </p:nvSpPr>
        <p:spPr>
          <a:xfrm>
            <a:off x="6248400" y="1447800"/>
            <a:ext cx="5257800" cy="4838700"/>
          </a:xfrm>
          <a:prstGeom prst="roundRect">
            <a:avLst>
              <a:gd name="adj" fmla="val 2755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99" name="TextBox 26"/>
          <p:cNvSpPr txBox="1"/>
          <p:nvPr/>
        </p:nvSpPr>
        <p:spPr>
          <a:xfrm>
            <a:off x="6457950" y="1638300"/>
            <a:ext cx="4838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6 件 Tool</a:t>
            </a:r>
            <a:endParaRPr/>
          </a:p>
        </p:txBody>
      </p:sp>
      <p:sp>
        <p:nvSpPr>
          <p:cNvPr id="100" name="TextBox 27"/>
          <p:cNvSpPr txBox="1"/>
          <p:nvPr/>
        </p:nvSpPr>
        <p:spPr>
          <a:xfrm>
            <a:off x="6457950" y="1981200"/>
            <a:ext cx="4838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确定性可执行脚本，可被第三方复算</a:t>
            </a:r>
            <a:endParaRPr/>
          </a:p>
        </p:txBody>
      </p:sp>
      <p:sp>
        <p:nvSpPr>
          <p:cNvPr id="101" name="Rounded Rectangle 28"/>
          <p:cNvSpPr/>
          <p:nvPr/>
        </p:nvSpPr>
        <p:spPr>
          <a:xfrm>
            <a:off x="6457950" y="2305050"/>
            <a:ext cx="4838700" cy="273050"/>
          </a:xfrm>
          <a:prstGeom prst="roundRect">
            <a:avLst>
              <a:gd name="adj" fmla="val 27906"/>
            </a:avLst>
          </a:prstGeom>
          <a:solidFill>
            <a:srgbClr val="18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02" name="TextBox 29"/>
          <p:cNvSpPr txBox="1"/>
          <p:nvPr/>
        </p:nvSpPr>
        <p:spPr>
          <a:xfrm>
            <a:off x="6610350" y="232727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T1 文档解析器</a:t>
            </a:r>
            <a:endParaRPr/>
          </a:p>
        </p:txBody>
      </p:sp>
      <p:sp>
        <p:nvSpPr>
          <p:cNvPr id="103" name="Rounded Rectangle 30"/>
          <p:cNvSpPr/>
          <p:nvPr/>
        </p:nvSpPr>
        <p:spPr>
          <a:xfrm>
            <a:off x="6457950" y="2635250"/>
            <a:ext cx="4838700" cy="273050"/>
          </a:xfrm>
          <a:prstGeom prst="roundRect">
            <a:avLst>
              <a:gd name="adj" fmla="val 27906"/>
            </a:avLst>
          </a:prstGeom>
          <a:solidFill>
            <a:srgbClr val="18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04" name="TextBox 31"/>
          <p:cNvSpPr txBox="1"/>
          <p:nvPr/>
        </p:nvSpPr>
        <p:spPr>
          <a:xfrm>
            <a:off x="6610350" y="265747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T2 客观核查器</a:t>
            </a:r>
            <a:endParaRPr/>
          </a:p>
        </p:txBody>
      </p:sp>
      <p:sp>
        <p:nvSpPr>
          <p:cNvPr id="105" name="Rounded Rectangle 32"/>
          <p:cNvSpPr/>
          <p:nvPr/>
        </p:nvSpPr>
        <p:spPr>
          <a:xfrm>
            <a:off x="6457950" y="2965450"/>
            <a:ext cx="4838700" cy="273050"/>
          </a:xfrm>
          <a:prstGeom prst="roundRect">
            <a:avLst>
              <a:gd name="adj" fmla="val 27906"/>
            </a:avLst>
          </a:prstGeom>
          <a:solidFill>
            <a:srgbClr val="18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06" name="TextBox 33"/>
          <p:cNvSpPr txBox="1"/>
          <p:nvPr/>
        </p:nvSpPr>
        <p:spPr>
          <a:xfrm>
            <a:off x="6610350" y="298767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T3 引用解析器</a:t>
            </a:r>
            <a:endParaRPr/>
          </a:p>
        </p:txBody>
      </p:sp>
      <p:sp>
        <p:nvSpPr>
          <p:cNvPr id="107" name="Rounded Rectangle 34"/>
          <p:cNvSpPr/>
          <p:nvPr/>
        </p:nvSpPr>
        <p:spPr>
          <a:xfrm>
            <a:off x="6457950" y="3295650"/>
            <a:ext cx="4838700" cy="273050"/>
          </a:xfrm>
          <a:prstGeom prst="roundRect">
            <a:avLst>
              <a:gd name="adj" fmla="val 27906"/>
            </a:avLst>
          </a:prstGeom>
          <a:solidFill>
            <a:srgbClr val="18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08" name="TextBox 35"/>
          <p:cNvSpPr txBox="1"/>
          <p:nvPr/>
        </p:nvSpPr>
        <p:spPr>
          <a:xfrm>
            <a:off x="6610350" y="331787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T4 确定性计算器</a:t>
            </a:r>
            <a:endParaRPr/>
          </a:p>
        </p:txBody>
      </p:sp>
      <p:sp>
        <p:nvSpPr>
          <p:cNvPr id="109" name="Rounded Rectangle 36"/>
          <p:cNvSpPr/>
          <p:nvPr/>
        </p:nvSpPr>
        <p:spPr>
          <a:xfrm>
            <a:off x="6457950" y="3625850"/>
            <a:ext cx="4838700" cy="273050"/>
          </a:xfrm>
          <a:prstGeom prst="roundRect">
            <a:avLst>
              <a:gd name="adj" fmla="val 27906"/>
            </a:avLst>
          </a:prstGeom>
          <a:solidFill>
            <a:srgbClr val="18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10" name="TextBox 37"/>
          <p:cNvSpPr txBox="1"/>
          <p:nvPr/>
        </p:nvSpPr>
        <p:spPr>
          <a:xfrm>
            <a:off x="6610350" y="364807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T5 契约校验器</a:t>
            </a:r>
            <a:endParaRPr/>
          </a:p>
        </p:txBody>
      </p:sp>
      <p:sp>
        <p:nvSpPr>
          <p:cNvPr id="111" name="Rounded Rectangle 38"/>
          <p:cNvSpPr/>
          <p:nvPr/>
        </p:nvSpPr>
        <p:spPr>
          <a:xfrm>
            <a:off x="6457950" y="3956050"/>
            <a:ext cx="4838700" cy="273050"/>
          </a:xfrm>
          <a:prstGeom prst="roundRect">
            <a:avLst>
              <a:gd name="adj" fmla="val 27906"/>
            </a:avLst>
          </a:prstGeom>
          <a:solidFill>
            <a:srgbClr val="18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12" name="TextBox 39"/>
          <p:cNvSpPr txBox="1"/>
          <p:nvPr/>
        </p:nvSpPr>
        <p:spPr>
          <a:xfrm>
            <a:off x="6610350" y="397827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T6 资产库</a:t>
            </a:r>
            <a:endParaRPr/>
          </a:p>
        </p:txBody>
      </p:sp>
      <p:sp>
        <p:nvSpPr>
          <p:cNvPr id="113" name="Rectangle 40"/>
          <p:cNvSpPr/>
          <p:nvPr/>
        </p:nvSpPr>
        <p:spPr>
          <a:xfrm>
            <a:off x="6457950" y="4305300"/>
            <a:ext cx="4838700" cy="9525"/>
          </a:xfrm>
          <a:prstGeom prst="rect">
            <a:avLst/>
          </a:prstGeom>
          <a:solidFill>
            <a:srgbClr val="1A4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14" name="TextBox 41"/>
          <p:cNvSpPr txBox="1"/>
          <p:nvPr/>
        </p:nvSpPr>
        <p:spPr>
          <a:xfrm>
            <a:off x="6457950" y="4457700"/>
            <a:ext cx="4838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判定什么才算 Tool</a:t>
            </a:r>
            <a:endParaRPr/>
          </a:p>
        </p:txBody>
      </p:sp>
      <p:sp>
        <p:nvSpPr>
          <p:cNvPr id="115" name="TextBox 42"/>
          <p:cNvSpPr txBox="1"/>
          <p:nvPr/>
        </p:nvSpPr>
        <p:spPr>
          <a:xfrm>
            <a:off x="6457950" y="4781550"/>
            <a:ext cx="4838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→ 同输入必得同输出</a:t>
            </a:r>
            <a:endParaRPr/>
          </a:p>
        </p:txBody>
      </p:sp>
      <p:sp>
        <p:nvSpPr>
          <p:cNvPr id="116" name="TextBox 43"/>
          <p:cNvSpPr txBox="1"/>
          <p:nvPr/>
        </p:nvSpPr>
        <p:spPr>
          <a:xfrm>
            <a:off x="6457950" y="5067300"/>
            <a:ext cx="4838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→ 可被第三方复算</a:t>
            </a:r>
            <a:endParaRPr/>
          </a:p>
        </p:txBody>
      </p:sp>
      <p:sp>
        <p:nvSpPr>
          <p:cNvPr id="117" name="TextBox 44"/>
          <p:cNvSpPr txBox="1"/>
          <p:nvPr/>
        </p:nvSpPr>
        <p:spPr>
          <a:xfrm>
            <a:off x="6457950" y="5353050"/>
            <a:ext cx="4838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→ 输出里不出现形容词</a:t>
            </a:r>
            <a:endParaRPr/>
          </a:p>
        </p:txBody>
      </p:sp>
      <p:sp>
        <p:nvSpPr>
          <p:cNvPr id="118" name="TextBox 45"/>
          <p:cNvSpPr txBox="1"/>
          <p:nvPr/>
        </p:nvSpPr>
        <p:spPr>
          <a:xfrm>
            <a:off x="6457950" y="5695950"/>
            <a:ext cx="48387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888F97"/>
                </a:solidFill>
                <a:latin typeface="微软雅黑"/>
                <a:ea typeface="微软雅黑"/>
                <a:cs typeface="微软雅黑"/>
              </a:rPr>
              <a:t>三条全中才算 Tool；只满足部分则留作 Skill，不做成脚本。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2186 次工具调用之后</a:t>
            </a:r>
            <a:endParaRPr/>
          </a:p>
        </p:txBody>
      </p:sp>
      <p:sp>
        <p:nvSpPr>
          <p:cNvPr id="121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22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23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124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13 / 19</a:t>
            </a:r>
            <a:endParaRPr/>
          </a:p>
        </p:txBody>
      </p:sp>
      <p:sp>
        <p:nvSpPr>
          <p:cNvPr id="125" name="TextBox 6"/>
          <p:cNvSpPr txBox="1"/>
          <p:nvPr/>
        </p:nvSpPr>
        <p:spPr>
          <a:xfrm>
            <a:off x="685800" y="1733550"/>
            <a:ext cx="66675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2186</a:t>
            </a:r>
            <a:endParaRPr/>
          </a:p>
        </p:txBody>
      </p:sp>
      <p:sp>
        <p:nvSpPr>
          <p:cNvPr id="126" name="TextBox 7"/>
          <p:cNvSpPr txBox="1"/>
          <p:nvPr/>
        </p:nvSpPr>
        <p:spPr>
          <a:xfrm>
            <a:off x="685800" y="3181350"/>
            <a:ext cx="6667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A4AAB0"/>
                </a:solidFill>
                <a:latin typeface="微软雅黑"/>
                <a:ea typeface="微软雅黑"/>
                <a:cs typeface="微软雅黑"/>
              </a:rPr>
              <a:t>次工具调用 · 研发全程留痕</a:t>
            </a:r>
            <a:endParaRPr/>
          </a:p>
        </p:txBody>
      </p:sp>
      <p:sp>
        <p:nvSpPr>
          <p:cNvPr id="127" name="Rounded Rectangle 8"/>
          <p:cNvSpPr/>
          <p:nvPr/>
        </p:nvSpPr>
        <p:spPr>
          <a:xfrm>
            <a:off x="7353300" y="1447800"/>
            <a:ext cx="4152900" cy="1123950"/>
          </a:xfrm>
          <a:prstGeom prst="roundRect">
            <a:avLst>
              <a:gd name="adj" fmla="val 847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28" name="TextBox 9"/>
          <p:cNvSpPr txBox="1"/>
          <p:nvPr/>
        </p:nvSpPr>
        <p:spPr>
          <a:xfrm>
            <a:off x="7543800" y="1562100"/>
            <a:ext cx="104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39</a:t>
            </a:r>
            <a:endParaRPr/>
          </a:p>
        </p:txBody>
      </p:sp>
      <p:sp>
        <p:nvSpPr>
          <p:cNvPr id="129" name="TextBox 10"/>
          <p:cNvSpPr txBox="1"/>
          <p:nvPr/>
        </p:nvSpPr>
        <p:spPr>
          <a:xfrm>
            <a:off x="8686800" y="1581150"/>
            <a:ext cx="2628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轮对话</a:t>
            </a:r>
            <a:endParaRPr/>
          </a:p>
        </p:txBody>
      </p:sp>
      <p:sp>
        <p:nvSpPr>
          <p:cNvPr id="130" name="TextBox 11"/>
          <p:cNvSpPr txBox="1"/>
          <p:nvPr/>
        </p:nvSpPr>
        <p:spPr>
          <a:xfrm>
            <a:off x="8686800" y="184785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C-000 – C-038，连续无缺号</a:t>
            </a:r>
            <a:endParaRPr/>
          </a:p>
        </p:txBody>
      </p:sp>
      <p:sp>
        <p:nvSpPr>
          <p:cNvPr id="131" name="Rounded Rectangle 12"/>
          <p:cNvSpPr/>
          <p:nvPr/>
        </p:nvSpPr>
        <p:spPr>
          <a:xfrm>
            <a:off x="7353300" y="2686050"/>
            <a:ext cx="4152900" cy="1123950"/>
          </a:xfrm>
          <a:prstGeom prst="roundRect">
            <a:avLst>
              <a:gd name="adj" fmla="val 847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32" name="TextBox 13"/>
          <p:cNvSpPr txBox="1"/>
          <p:nvPr/>
        </p:nvSpPr>
        <p:spPr>
          <a:xfrm>
            <a:off x="7543800" y="2800350"/>
            <a:ext cx="104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9</a:t>
            </a:r>
            <a:endParaRPr/>
          </a:p>
        </p:txBody>
      </p:sp>
      <p:sp>
        <p:nvSpPr>
          <p:cNvPr id="133" name="TextBox 14"/>
          <p:cNvSpPr txBox="1"/>
          <p:nvPr/>
        </p:nvSpPr>
        <p:spPr>
          <a:xfrm>
            <a:off x="8686800" y="2819400"/>
            <a:ext cx="2628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份逐字转录</a:t>
            </a:r>
            <a:endParaRPr/>
          </a:p>
        </p:txBody>
      </p:sp>
      <p:sp>
        <p:nvSpPr>
          <p:cNvPr id="134" name="TextBox 15"/>
          <p:cNvSpPr txBox="1"/>
          <p:nvPr/>
        </p:nvSpPr>
        <p:spPr>
          <a:xfrm>
            <a:off x="8686800" y="308610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用户与助手文本一字未改</a:t>
            </a:r>
            <a:endParaRPr/>
          </a:p>
        </p:txBody>
      </p:sp>
      <p:sp>
        <p:nvSpPr>
          <p:cNvPr id="135" name="Rounded Rectangle 16"/>
          <p:cNvSpPr/>
          <p:nvPr/>
        </p:nvSpPr>
        <p:spPr>
          <a:xfrm>
            <a:off x="7353300" y="3924300"/>
            <a:ext cx="4152900" cy="1123950"/>
          </a:xfrm>
          <a:prstGeom prst="roundRect">
            <a:avLst>
              <a:gd name="adj" fmla="val 847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36" name="TextBox 17"/>
          <p:cNvSpPr txBox="1"/>
          <p:nvPr/>
        </p:nvSpPr>
        <p:spPr>
          <a:xfrm>
            <a:off x="7543800" y="4038600"/>
            <a:ext cx="104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112</a:t>
            </a:r>
            <a:endParaRPr/>
          </a:p>
        </p:txBody>
      </p:sp>
      <p:sp>
        <p:nvSpPr>
          <p:cNvPr id="137" name="TextBox 18"/>
          <p:cNvSpPr txBox="1"/>
          <p:nvPr/>
        </p:nvSpPr>
        <p:spPr>
          <a:xfrm>
            <a:off x="8686800" y="4057650"/>
            <a:ext cx="2628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次用户输入</a:t>
            </a:r>
            <a:endParaRPr/>
          </a:p>
        </p:txBody>
      </p:sp>
      <p:sp>
        <p:nvSpPr>
          <p:cNvPr id="138" name="TextBox 19"/>
          <p:cNvSpPr txBox="1"/>
          <p:nvPr/>
        </p:nvSpPr>
        <p:spPr>
          <a:xfrm>
            <a:off x="8686800" y="432435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人的决策与多轮迭代</a:t>
            </a:r>
            <a:endParaRPr/>
          </a:p>
        </p:txBody>
      </p:sp>
      <p:sp>
        <p:nvSpPr>
          <p:cNvPr id="139" name="Rounded Rectangle 20"/>
          <p:cNvSpPr/>
          <p:nvPr/>
        </p:nvSpPr>
        <p:spPr>
          <a:xfrm>
            <a:off x="7353300" y="5162550"/>
            <a:ext cx="4152900" cy="1123950"/>
          </a:xfrm>
          <a:prstGeom prst="roundRect">
            <a:avLst>
              <a:gd name="adj" fmla="val 847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40" name="TextBox 21"/>
          <p:cNvSpPr txBox="1"/>
          <p:nvPr/>
        </p:nvSpPr>
        <p:spPr>
          <a:xfrm>
            <a:off x="7543800" y="5276850"/>
            <a:ext cx="104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812</a:t>
            </a:r>
            <a:endParaRPr/>
          </a:p>
        </p:txBody>
      </p:sp>
      <p:sp>
        <p:nvSpPr>
          <p:cNvPr id="141" name="TextBox 22"/>
          <p:cNvSpPr txBox="1"/>
          <p:nvPr/>
        </p:nvSpPr>
        <p:spPr>
          <a:xfrm>
            <a:off x="8686800" y="5295900"/>
            <a:ext cx="2628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次助手回复</a:t>
            </a:r>
            <a:endParaRPr/>
          </a:p>
        </p:txBody>
      </p:sp>
      <p:sp>
        <p:nvSpPr>
          <p:cNvPr id="142" name="TextBox 23"/>
          <p:cNvSpPr txBox="1"/>
          <p:nvPr/>
        </p:nvSpPr>
        <p:spPr>
          <a:xfrm>
            <a:off x="8686800" y="556260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含中间产物与校验结论</a:t>
            </a:r>
            <a:endParaRPr/>
          </a:p>
        </p:txBody>
      </p:sp>
      <p:sp>
        <p:nvSpPr>
          <p:cNvPr id="143" name="TextBox 24"/>
          <p:cNvSpPr txBox="1"/>
          <p:nvPr/>
        </p:nvSpPr>
        <p:spPr>
          <a:xfrm>
            <a:off x="685800" y="382905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E949A"/>
                </a:solidFill>
                <a:latin typeface="微软雅黑"/>
                <a:ea typeface="微软雅黑"/>
                <a:cs typeface="微软雅黑"/>
              </a:rPr>
              <a:t>原始记录 33 MB / 7501 行 → 归档 11 份 / 874 KB（约 1/38）</a:t>
            </a:r>
            <a:endParaRPr/>
          </a:p>
        </p:txBody>
      </p:sp>
      <p:sp>
        <p:nvSpPr>
          <p:cNvPr id="144" name="Rectangle 25"/>
          <p:cNvSpPr/>
          <p:nvPr/>
        </p:nvSpPr>
        <p:spPr>
          <a:xfrm>
            <a:off x="685800" y="4229100"/>
            <a:ext cx="66675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45" name="TextBox 26"/>
          <p:cNvSpPr txBox="1"/>
          <p:nvPr/>
        </p:nvSpPr>
        <p:spPr>
          <a:xfrm>
            <a:off x="685800" y="44196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加工口径（如实声明）</a:t>
            </a:r>
            <a:endParaRPr/>
          </a:p>
        </p:txBody>
      </p:sp>
      <p:sp>
        <p:nvSpPr>
          <p:cNvPr id="146" name="TextBox 27"/>
          <p:cNvSpPr txBox="1"/>
          <p:nvPr/>
        </p:nvSpPr>
        <p:spPr>
          <a:xfrm>
            <a:off x="685800" y="4743450"/>
            <a:ext cx="6667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92989E"/>
                </a:solidFill>
                <a:latin typeface="微软雅黑"/>
                <a:ea typeface="微软雅黑"/>
                <a:cs typeface="微软雅黑"/>
              </a:rPr>
              <a:t>凡属「谁说了什么」的，一字未改；凡属「机器跑了什么」的，压成一行。含 2 轮被中断、无结论的会话，未做美化删除。导出脚本带完整性断言 —— 磁盘上每个会话记录都必须被登记，否则中止导出，不存在「挑好看的几轮放进来」的可能。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过不了门禁，就出不了产物</a:t>
            </a:r>
            <a:endParaRPr/>
          </a:p>
        </p:txBody>
      </p:sp>
      <p:sp>
        <p:nvSpPr>
          <p:cNvPr id="149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50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51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152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14 / 19</a:t>
            </a:r>
            <a:endParaRPr/>
          </a:p>
        </p:txBody>
      </p:sp>
      <p:sp>
        <p:nvSpPr>
          <p:cNvPr id="153" name="Rounded Rectangle 6"/>
          <p:cNvSpPr/>
          <p:nvPr/>
        </p:nvSpPr>
        <p:spPr>
          <a:xfrm>
            <a:off x="685800" y="1447800"/>
            <a:ext cx="3390900" cy="4838700"/>
          </a:xfrm>
          <a:prstGeom prst="roundRect">
            <a:avLst>
              <a:gd name="adj" fmla="val 393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54" name="TextBox 7"/>
          <p:cNvSpPr txBox="1"/>
          <p:nvPr/>
        </p:nvSpPr>
        <p:spPr>
          <a:xfrm>
            <a:off x="933450" y="1714500"/>
            <a:ext cx="2895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构建期门禁</a:t>
            </a:r>
            <a:endParaRPr/>
          </a:p>
        </p:txBody>
      </p:sp>
      <p:sp>
        <p:nvSpPr>
          <p:cNvPr id="155" name="TextBox 8"/>
          <p:cNvSpPr txBox="1"/>
          <p:nvPr/>
        </p:nvSpPr>
        <p:spPr>
          <a:xfrm>
            <a:off x="933450" y="2114550"/>
            <a:ext cx="2895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3</a:t>
            </a:r>
            <a:endParaRPr/>
          </a:p>
        </p:txBody>
      </p:sp>
      <p:sp>
        <p:nvSpPr>
          <p:cNvPr id="156" name="TextBox 9"/>
          <p:cNvSpPr txBox="1"/>
          <p:nvPr/>
        </p:nvSpPr>
        <p:spPr>
          <a:xfrm>
            <a:off x="933450" y="3086100"/>
            <a:ext cx="28956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75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任一道不过就不出产物。构建失败先于评审失败 —— 不合格的产物根本没有机会被展示。</a:t>
            </a:r>
            <a:endParaRPr/>
          </a:p>
        </p:txBody>
      </p:sp>
      <p:sp>
        <p:nvSpPr>
          <p:cNvPr id="157" name="Rectangle 10"/>
          <p:cNvSpPr/>
          <p:nvPr/>
        </p:nvSpPr>
        <p:spPr>
          <a:xfrm>
            <a:off x="933450" y="3962400"/>
            <a:ext cx="2895600" cy="9525"/>
          </a:xfrm>
          <a:prstGeom prst="rect">
            <a:avLst/>
          </a:prstGeom>
          <a:solidFill>
            <a:srgbClr val="1A4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58" name="TextBox 11"/>
          <p:cNvSpPr txBox="1"/>
          <p:nvPr/>
        </p:nvSpPr>
        <p:spPr>
          <a:xfrm>
            <a:off x="933450" y="4191000"/>
            <a:ext cx="1238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61</a:t>
            </a:r>
            <a:endParaRPr/>
          </a:p>
        </p:txBody>
      </p:sp>
      <p:sp>
        <p:nvSpPr>
          <p:cNvPr id="159" name="TextBox 12"/>
          <p:cNvSpPr txBox="1"/>
          <p:nvPr/>
        </p:nvSpPr>
        <p:spPr>
          <a:xfrm>
            <a:off x="2209800" y="4267200"/>
            <a:ext cx="1581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项工具自测断言</a:t>
            </a:r>
            <a:endParaRPr/>
          </a:p>
        </p:txBody>
      </p:sp>
      <p:sp>
        <p:nvSpPr>
          <p:cNvPr id="160" name="TextBox 13"/>
          <p:cNvSpPr txBox="1"/>
          <p:nvPr/>
        </p:nvSpPr>
        <p:spPr>
          <a:xfrm>
            <a:off x="933450" y="4781550"/>
            <a:ext cx="1238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12/12</a:t>
            </a:r>
            <a:endParaRPr/>
          </a:p>
        </p:txBody>
      </p:sp>
      <p:sp>
        <p:nvSpPr>
          <p:cNvPr id="161" name="TextBox 14"/>
          <p:cNvSpPr txBox="1"/>
          <p:nvPr/>
        </p:nvSpPr>
        <p:spPr>
          <a:xfrm>
            <a:off x="2209800" y="4857750"/>
            <a:ext cx="1581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跨端对拍结论一致</a:t>
            </a:r>
            <a:endParaRPr/>
          </a:p>
        </p:txBody>
      </p:sp>
      <p:sp>
        <p:nvSpPr>
          <p:cNvPr id="162" name="TextBox 15"/>
          <p:cNvSpPr txBox="1"/>
          <p:nvPr/>
        </p:nvSpPr>
        <p:spPr>
          <a:xfrm>
            <a:off x="933450" y="5372100"/>
            <a:ext cx="1238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21/21</a:t>
            </a:r>
            <a:endParaRPr/>
          </a:p>
        </p:txBody>
      </p:sp>
      <p:sp>
        <p:nvSpPr>
          <p:cNvPr id="163" name="TextBox 16"/>
          <p:cNvSpPr txBox="1"/>
          <p:nvPr/>
        </p:nvSpPr>
        <p:spPr>
          <a:xfrm>
            <a:off x="2209800" y="5448300"/>
            <a:ext cx="1581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静态页生成</a:t>
            </a:r>
            <a:endParaRPr/>
          </a:p>
        </p:txBody>
      </p:sp>
      <p:sp>
        <p:nvSpPr>
          <p:cNvPr id="164" name="Rounded Rectangle 17"/>
          <p:cNvSpPr/>
          <p:nvPr/>
        </p:nvSpPr>
        <p:spPr>
          <a:xfrm>
            <a:off x="4457700" y="1447800"/>
            <a:ext cx="7048500" cy="1409700"/>
          </a:xfrm>
          <a:prstGeom prst="roundRect">
            <a:avLst>
              <a:gd name="adj" fmla="val 8108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65" name="Rectangle 18"/>
          <p:cNvSpPr/>
          <p:nvPr/>
        </p:nvSpPr>
        <p:spPr>
          <a:xfrm>
            <a:off x="4457700" y="1447800"/>
            <a:ext cx="28575" cy="14097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66" name="TextBox 19"/>
          <p:cNvSpPr txBox="1"/>
          <p:nvPr/>
        </p:nvSpPr>
        <p:spPr>
          <a:xfrm>
            <a:off x="4667250" y="1638300"/>
            <a:ext cx="66294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门禁一 · 资产同步</a:t>
            </a:r>
            <a:endParaRPr/>
          </a:p>
        </p:txBody>
      </p:sp>
      <p:sp>
        <p:nvSpPr>
          <p:cNvPr id="167" name="TextBox 20"/>
          <p:cNvSpPr txBox="1"/>
          <p:nvPr/>
        </p:nvSpPr>
        <p:spPr>
          <a:xfrm>
            <a:off x="4667250" y="1981200"/>
            <a:ext cx="6629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把随包资产同步进站点，使交付物自包含：站点不依赖任何后端服务，克隆下来即可运行。</a:t>
            </a:r>
            <a:endParaRPr/>
          </a:p>
        </p:txBody>
      </p:sp>
      <p:sp>
        <p:nvSpPr>
          <p:cNvPr id="168" name="Rounded Rectangle 21"/>
          <p:cNvSpPr/>
          <p:nvPr/>
        </p:nvSpPr>
        <p:spPr>
          <a:xfrm>
            <a:off x="4457700" y="3009900"/>
            <a:ext cx="7048500" cy="1409700"/>
          </a:xfrm>
          <a:prstGeom prst="roundRect">
            <a:avLst>
              <a:gd name="adj" fmla="val 8108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69" name="Rectangle 22"/>
          <p:cNvSpPr/>
          <p:nvPr/>
        </p:nvSpPr>
        <p:spPr>
          <a:xfrm>
            <a:off x="4457700" y="3009900"/>
            <a:ext cx="28575" cy="14097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70" name="TextBox 23"/>
          <p:cNvSpPr txBox="1"/>
          <p:nvPr/>
        </p:nvSpPr>
        <p:spPr>
          <a:xfrm>
            <a:off x="4667250" y="3200400"/>
            <a:ext cx="66294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门禁二 · 契约一致性</a:t>
            </a:r>
            <a:endParaRPr/>
          </a:p>
        </p:txBody>
      </p:sp>
      <p:sp>
        <p:nvSpPr>
          <p:cNvPr id="171" name="TextBox 24"/>
          <p:cNvSpPr txBox="1"/>
          <p:nvPr/>
        </p:nvSpPr>
        <p:spPr>
          <a:xfrm>
            <a:off x="4667250" y="3543300"/>
            <a:ext cx="6629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比对前端类型契约与机器可读 schema 的对象层与字段差异，实测 23 个对象层、132 字段零差异。</a:t>
            </a:r>
            <a:endParaRPr/>
          </a:p>
        </p:txBody>
      </p:sp>
      <p:sp>
        <p:nvSpPr>
          <p:cNvPr id="172" name="Rounded Rectangle 25"/>
          <p:cNvSpPr/>
          <p:nvPr/>
        </p:nvSpPr>
        <p:spPr>
          <a:xfrm>
            <a:off x="4457700" y="4572000"/>
            <a:ext cx="7048500" cy="1409700"/>
          </a:xfrm>
          <a:prstGeom prst="roundRect">
            <a:avLst>
              <a:gd name="adj" fmla="val 8108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73" name="Rectangle 26"/>
          <p:cNvSpPr/>
          <p:nvPr/>
        </p:nvSpPr>
        <p:spPr>
          <a:xfrm>
            <a:off x="4457700" y="4572000"/>
            <a:ext cx="28575" cy="14097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74" name="TextBox 27"/>
          <p:cNvSpPr txBox="1"/>
          <p:nvPr/>
        </p:nvSpPr>
        <p:spPr>
          <a:xfrm>
            <a:off x="4667250" y="4762500"/>
            <a:ext cx="66294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门禁三 · 字体码位覆盖</a:t>
            </a:r>
            <a:endParaRPr/>
          </a:p>
        </p:txBody>
      </p:sp>
      <p:sp>
        <p:nvSpPr>
          <p:cNvPr id="175" name="TextBox 28"/>
          <p:cNvSpPr txBox="1"/>
          <p:nvPr/>
        </p:nvSpPr>
        <p:spPr>
          <a:xfrm>
            <a:off x="4667250" y="5105400"/>
            <a:ext cx="6629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检查中文字体子集是否覆盖源码里实际用到的全部码位，防止真机出现豆腐块。</a:t>
            </a:r>
            <a:endParaRPr/>
          </a:p>
        </p:txBody>
      </p:sp>
      <p:sp>
        <p:nvSpPr>
          <p:cNvPr id="176" name="TextBox 29"/>
          <p:cNvSpPr txBox="1"/>
          <p:nvPr/>
        </p:nvSpPr>
        <p:spPr>
          <a:xfrm>
            <a:off x="4457700" y="6134100"/>
            <a:ext cx="704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E949A"/>
                </a:solidFill>
                <a:latin typeface="微软雅黑"/>
                <a:ea typeface="微软雅黑"/>
                <a:cs typeface="微软雅黑"/>
              </a:rPr>
              <a:t>另有类型检查 0 错、渲染核验 38/38 —— 这些数字都写在仓库里，可以被逐条复跑。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AI 到底准不准</a:t>
            </a:r>
            <a:endParaRPr/>
          </a:p>
        </p:txBody>
      </p:sp>
      <p:sp>
        <p:nvSpPr>
          <p:cNvPr id="179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80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81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182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15 / 19</a:t>
            </a:r>
            <a:endParaRPr/>
          </a:p>
        </p:txBody>
      </p:sp>
      <p:sp>
        <p:nvSpPr>
          <p:cNvPr id="183" name="Rounded Rectangle 6"/>
          <p:cNvSpPr/>
          <p:nvPr/>
        </p:nvSpPr>
        <p:spPr>
          <a:xfrm>
            <a:off x="685800" y="1447800"/>
            <a:ext cx="3505200" cy="1676400"/>
          </a:xfrm>
          <a:prstGeom prst="roundRect">
            <a:avLst>
              <a:gd name="adj" fmla="val 795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84" name="TextBox 7"/>
          <p:cNvSpPr txBox="1"/>
          <p:nvPr/>
        </p:nvSpPr>
        <p:spPr>
          <a:xfrm>
            <a:off x="876300" y="1619250"/>
            <a:ext cx="3124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MAE</a:t>
            </a:r>
            <a:endParaRPr/>
          </a:p>
        </p:txBody>
      </p:sp>
      <p:sp>
        <p:nvSpPr>
          <p:cNvPr id="185" name="TextBox 8"/>
          <p:cNvSpPr txBox="1"/>
          <p:nvPr/>
        </p:nvSpPr>
        <p:spPr>
          <a:xfrm>
            <a:off x="876300" y="1885950"/>
            <a:ext cx="31242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3.05</a:t>
            </a:r>
            <a:endParaRPr/>
          </a:p>
        </p:txBody>
      </p:sp>
      <p:sp>
        <p:nvSpPr>
          <p:cNvPr id="186" name="TextBox 9"/>
          <p:cNvSpPr txBox="1"/>
          <p:nvPr/>
        </p:nvSpPr>
        <p:spPr>
          <a:xfrm>
            <a:off x="876300" y="2705100"/>
            <a:ext cx="3124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总分平均绝对误差 / 12 份</a:t>
            </a:r>
            <a:endParaRPr/>
          </a:p>
        </p:txBody>
      </p:sp>
      <p:sp>
        <p:nvSpPr>
          <p:cNvPr id="187" name="Rounded Rectangle 10"/>
          <p:cNvSpPr/>
          <p:nvPr/>
        </p:nvSpPr>
        <p:spPr>
          <a:xfrm>
            <a:off x="4343400" y="1447800"/>
            <a:ext cx="3505200" cy="1676400"/>
          </a:xfrm>
          <a:prstGeom prst="roundRect">
            <a:avLst>
              <a:gd name="adj" fmla="val 795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88" name="TextBox 11"/>
          <p:cNvSpPr txBox="1"/>
          <p:nvPr/>
        </p:nvSpPr>
        <p:spPr>
          <a:xfrm>
            <a:off x="4533900" y="1619250"/>
            <a:ext cx="3124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一致率</a:t>
            </a:r>
            <a:endParaRPr/>
          </a:p>
        </p:txBody>
      </p:sp>
      <p:sp>
        <p:nvSpPr>
          <p:cNvPr id="189" name="TextBox 12"/>
          <p:cNvSpPr txBox="1"/>
          <p:nvPr/>
        </p:nvSpPr>
        <p:spPr>
          <a:xfrm>
            <a:off x="4533900" y="1885950"/>
            <a:ext cx="31242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0.74</a:t>
            </a:r>
            <a:endParaRPr/>
          </a:p>
        </p:txBody>
      </p:sp>
      <p:sp>
        <p:nvSpPr>
          <p:cNvPr id="190" name="TextBox 13"/>
          <p:cNvSpPr txBox="1"/>
          <p:nvPr/>
        </p:nvSpPr>
        <p:spPr>
          <a:xfrm>
            <a:off x="4533900" y="2705100"/>
            <a:ext cx="3124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档位一致 106 / 144</a:t>
            </a:r>
            <a:endParaRPr/>
          </a:p>
        </p:txBody>
      </p:sp>
      <p:sp>
        <p:nvSpPr>
          <p:cNvPr id="191" name="Rounded Rectangle 14"/>
          <p:cNvSpPr/>
          <p:nvPr/>
        </p:nvSpPr>
        <p:spPr>
          <a:xfrm>
            <a:off x="8001000" y="1447800"/>
            <a:ext cx="3505200" cy="1676400"/>
          </a:xfrm>
          <a:prstGeom prst="roundRect">
            <a:avLst>
              <a:gd name="adj" fmla="val 795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92" name="TextBox 15"/>
          <p:cNvSpPr txBox="1"/>
          <p:nvPr/>
        </p:nvSpPr>
        <p:spPr>
          <a:xfrm>
            <a:off x="8191500" y="1619250"/>
            <a:ext cx="3124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299A1"/>
                </a:solidFill>
                <a:latin typeface="微软雅黑"/>
                <a:ea typeface="微软雅黑"/>
                <a:cs typeface="微软雅黑"/>
              </a:rPr>
              <a:t>ECE</a:t>
            </a:r>
            <a:endParaRPr/>
          </a:p>
        </p:txBody>
      </p:sp>
      <p:sp>
        <p:nvSpPr>
          <p:cNvPr id="193" name="TextBox 16"/>
          <p:cNvSpPr txBox="1"/>
          <p:nvPr/>
        </p:nvSpPr>
        <p:spPr>
          <a:xfrm>
            <a:off x="8191500" y="1885950"/>
            <a:ext cx="31242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0.12</a:t>
            </a:r>
            <a:endParaRPr/>
          </a:p>
        </p:txBody>
      </p:sp>
      <p:sp>
        <p:nvSpPr>
          <p:cNvPr id="194" name="TextBox 17"/>
          <p:cNvSpPr txBox="1"/>
          <p:nvPr/>
        </p:nvSpPr>
        <p:spPr>
          <a:xfrm>
            <a:off x="8191500" y="2705100"/>
            <a:ext cx="3124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置信度校准误差</a:t>
            </a:r>
            <a:endParaRPr/>
          </a:p>
        </p:txBody>
      </p:sp>
      <p:sp>
        <p:nvSpPr>
          <p:cNvPr id="195" name="Rounded Rectangle 18"/>
          <p:cNvSpPr/>
          <p:nvPr/>
        </p:nvSpPr>
        <p:spPr>
          <a:xfrm>
            <a:off x="685800" y="3352800"/>
            <a:ext cx="10820400" cy="2933700"/>
          </a:xfrm>
          <a:prstGeom prst="roundRect">
            <a:avLst>
              <a:gd name="adj" fmla="val 4545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96" name="TextBox 19"/>
          <p:cNvSpPr txBox="1"/>
          <p:nvPr/>
        </p:nvSpPr>
        <p:spPr>
          <a:xfrm>
            <a:off x="914400" y="3524250"/>
            <a:ext cx="571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按档位分组：总体 MAE 与差档 MAE</a:t>
            </a:r>
            <a:endParaRPr/>
          </a:p>
        </p:txBody>
      </p:sp>
      <p:sp>
        <p:nvSpPr>
          <p:cNvPr id="197" name="Rectangle 20"/>
          <p:cNvSpPr/>
          <p:nvPr/>
        </p:nvSpPr>
        <p:spPr>
          <a:xfrm>
            <a:off x="1066800" y="5474494"/>
            <a:ext cx="1047750" cy="278606"/>
          </a:xfrm>
          <a:prstGeom prst="rect">
            <a:avLst/>
          </a:prstGeom>
          <a:solidFill>
            <a:srgbClr val="20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198" name="TextBox 21"/>
          <p:cNvSpPr txBox="1"/>
          <p:nvPr/>
        </p:nvSpPr>
        <p:spPr>
          <a:xfrm>
            <a:off x="1066800" y="5188744"/>
            <a:ext cx="1047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 i="0">
                <a:solidFill>
                  <a:srgbClr val="206F6B"/>
                </a:solidFill>
                <a:latin typeface="Consolas"/>
                <a:ea typeface="Consolas"/>
                <a:cs typeface="Consolas"/>
              </a:rPr>
              <a:t>1.8</a:t>
            </a:r>
            <a:endParaRPr/>
          </a:p>
        </p:txBody>
      </p:sp>
      <p:sp>
        <p:nvSpPr>
          <p:cNvPr id="199" name="Rectangle 22"/>
          <p:cNvSpPr/>
          <p:nvPr/>
        </p:nvSpPr>
        <p:spPr>
          <a:xfrm>
            <a:off x="2819400" y="5381625"/>
            <a:ext cx="1047750" cy="371475"/>
          </a:xfrm>
          <a:prstGeom prst="rect">
            <a:avLst/>
          </a:prstGeom>
          <a:solidFill>
            <a:srgbClr val="20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00" name="TextBox 23"/>
          <p:cNvSpPr txBox="1"/>
          <p:nvPr/>
        </p:nvSpPr>
        <p:spPr>
          <a:xfrm>
            <a:off x="2819400" y="5095875"/>
            <a:ext cx="1047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 i="0">
                <a:solidFill>
                  <a:srgbClr val="206F6B"/>
                </a:solidFill>
                <a:latin typeface="Consolas"/>
                <a:ea typeface="Consolas"/>
                <a:cs typeface="Consolas"/>
              </a:rPr>
              <a:t>2.4</a:t>
            </a:r>
            <a:endParaRPr/>
          </a:p>
        </p:txBody>
      </p:sp>
      <p:sp>
        <p:nvSpPr>
          <p:cNvPr id="201" name="Rectangle 24"/>
          <p:cNvSpPr/>
          <p:nvPr/>
        </p:nvSpPr>
        <p:spPr>
          <a:xfrm>
            <a:off x="4572000" y="5195888"/>
            <a:ext cx="1047750" cy="557212"/>
          </a:xfrm>
          <a:prstGeom prst="rect">
            <a:avLst/>
          </a:prstGeom>
          <a:solidFill>
            <a:srgbClr val="20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02" name="TextBox 25"/>
          <p:cNvSpPr txBox="1"/>
          <p:nvPr/>
        </p:nvSpPr>
        <p:spPr>
          <a:xfrm>
            <a:off x="4572000" y="4910138"/>
            <a:ext cx="1047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 i="0">
                <a:solidFill>
                  <a:srgbClr val="206F6B"/>
                </a:solidFill>
                <a:latin typeface="Consolas"/>
                <a:ea typeface="Consolas"/>
                <a:cs typeface="Consolas"/>
              </a:rPr>
              <a:t>3.6</a:t>
            </a:r>
            <a:endParaRPr/>
          </a:p>
        </p:txBody>
      </p:sp>
      <p:sp>
        <p:nvSpPr>
          <p:cNvPr id="203" name="Rectangle 26"/>
          <p:cNvSpPr/>
          <p:nvPr/>
        </p:nvSpPr>
        <p:spPr>
          <a:xfrm>
            <a:off x="6324600" y="4514850"/>
            <a:ext cx="1047750" cy="12382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04" name="TextBox 27"/>
          <p:cNvSpPr txBox="1"/>
          <p:nvPr/>
        </p:nvSpPr>
        <p:spPr>
          <a:xfrm>
            <a:off x="6324600" y="4229100"/>
            <a:ext cx="1047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8.0</a:t>
            </a:r>
            <a:endParaRPr/>
          </a:p>
        </p:txBody>
      </p:sp>
      <p:sp>
        <p:nvSpPr>
          <p:cNvPr id="205" name="Rectangle 28"/>
          <p:cNvSpPr/>
          <p:nvPr/>
        </p:nvSpPr>
        <p:spPr>
          <a:xfrm>
            <a:off x="971550" y="5753100"/>
            <a:ext cx="7010400" cy="9525"/>
          </a:xfrm>
          <a:prstGeom prst="rect">
            <a:avLst/>
          </a:prstGeom>
          <a:solidFill>
            <a:srgbClr val="1C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06" name="TextBox 29"/>
          <p:cNvSpPr txBox="1"/>
          <p:nvPr/>
        </p:nvSpPr>
        <p:spPr>
          <a:xfrm>
            <a:off x="2971800" y="352425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差档 MAE 8.0 明显高于总体，我们把它单独画出来 —— 不是藏起来。</a:t>
            </a:r>
            <a:endParaRPr/>
          </a:p>
        </p:txBody>
      </p:sp>
      <p:sp>
        <p:nvSpPr>
          <p:cNvPr id="207" name="TextBox 30"/>
          <p:cNvSpPr txBox="1"/>
          <p:nvPr/>
        </p:nvSpPr>
        <p:spPr>
          <a:xfrm>
            <a:off x="914400" y="5905500"/>
            <a:ext cx="6667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E959D"/>
                </a:solidFill>
                <a:latin typeface="微软雅黑"/>
                <a:ea typeface="微软雅黑"/>
                <a:cs typeface="微软雅黑"/>
              </a:rPr>
              <a:t>前三项与此前公布值逐值一致，属独立复现而非照抄；所有指标都可由页面上的原始数据手工复算。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我们自己先说不好在哪</a:t>
            </a:r>
            <a:endParaRPr/>
          </a:p>
        </p:txBody>
      </p:sp>
      <p:sp>
        <p:nvSpPr>
          <p:cNvPr id="210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11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12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213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16 / 19</a:t>
            </a:r>
            <a:endParaRPr/>
          </a:p>
        </p:txBody>
      </p:sp>
      <p:sp>
        <p:nvSpPr>
          <p:cNvPr id="214" name="Rounded Rectangle 6"/>
          <p:cNvSpPr/>
          <p:nvPr/>
        </p:nvSpPr>
        <p:spPr>
          <a:xfrm>
            <a:off x="685800" y="1447800"/>
            <a:ext cx="3390900" cy="4838700"/>
          </a:xfrm>
          <a:prstGeom prst="roundRect">
            <a:avLst>
              <a:gd name="adj" fmla="val 393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15" name="TextBox 7"/>
          <p:cNvSpPr txBox="1"/>
          <p:nvPr/>
        </p:nvSpPr>
        <p:spPr>
          <a:xfrm>
            <a:off x="933450" y="1714500"/>
            <a:ext cx="2895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已公开的短板</a:t>
            </a:r>
            <a:endParaRPr/>
          </a:p>
        </p:txBody>
      </p:sp>
      <p:sp>
        <p:nvSpPr>
          <p:cNvPr id="216" name="TextBox 8"/>
          <p:cNvSpPr txBox="1"/>
          <p:nvPr/>
        </p:nvSpPr>
        <p:spPr>
          <a:xfrm>
            <a:off x="933450" y="2076450"/>
            <a:ext cx="28956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8.0</a:t>
            </a:r>
            <a:endParaRPr/>
          </a:p>
        </p:txBody>
      </p:sp>
      <p:sp>
        <p:nvSpPr>
          <p:cNvPr id="217" name="TextBox 9"/>
          <p:cNvSpPr txBox="1"/>
          <p:nvPr/>
        </p:nvSpPr>
        <p:spPr>
          <a:xfrm>
            <a:off x="933450" y="2952750"/>
            <a:ext cx="2895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差档 MAE（总体 3.05）</a:t>
            </a:r>
            <a:endParaRPr/>
          </a:p>
        </p:txBody>
      </p:sp>
      <p:sp>
        <p:nvSpPr>
          <p:cNvPr id="218" name="Rectangle 10"/>
          <p:cNvSpPr/>
          <p:nvPr/>
        </p:nvSpPr>
        <p:spPr>
          <a:xfrm>
            <a:off x="933450" y="3352800"/>
            <a:ext cx="2895600" cy="9525"/>
          </a:xfrm>
          <a:prstGeom prst="rect">
            <a:avLst/>
          </a:prstGeom>
          <a:solidFill>
            <a:srgbClr val="1A4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19" name="TextBox 11"/>
          <p:cNvSpPr txBox="1"/>
          <p:nvPr/>
        </p:nvSpPr>
        <p:spPr>
          <a:xfrm>
            <a:off x="933450" y="3562350"/>
            <a:ext cx="28956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75" b="0" i="0">
                <a:solidFill>
                  <a:srgbClr val="979EA5"/>
                </a:solidFill>
                <a:latin typeface="微软雅黑"/>
                <a:ea typeface="微软雅黑"/>
                <a:cs typeface="微软雅黑"/>
              </a:rPr>
              <a:t>我们在评测里主动加了「按档位分组」的视图，就是为了让这条短板一眼可见 —— 只报总体好看的数字，等于把问题留给下一个人。</a:t>
            </a:r>
            <a:endParaRPr/>
          </a:p>
        </p:txBody>
      </p:sp>
      <p:sp>
        <p:nvSpPr>
          <p:cNvPr id="220" name="TextBox 12"/>
          <p:cNvSpPr txBox="1"/>
          <p:nvPr/>
        </p:nvSpPr>
        <p:spPr>
          <a:xfrm>
            <a:off x="933450" y="4724400"/>
            <a:ext cx="2895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88F97"/>
                </a:solidFill>
                <a:latin typeface="微软雅黑"/>
                <a:ea typeface="微软雅黑"/>
                <a:cs typeface="微软雅黑"/>
              </a:rPr>
              <a:t>评测不是自吹，是把「AI 靠不靠谱」变成一页可复算的数据结论。</a:t>
            </a:r>
            <a:endParaRPr/>
          </a:p>
        </p:txBody>
      </p:sp>
      <p:sp>
        <p:nvSpPr>
          <p:cNvPr id="221" name="Rounded Rectangle 13"/>
          <p:cNvSpPr/>
          <p:nvPr/>
        </p:nvSpPr>
        <p:spPr>
          <a:xfrm>
            <a:off x="4457700" y="1447800"/>
            <a:ext cx="7048500" cy="938212"/>
          </a:xfrm>
          <a:prstGeom prst="roundRect">
            <a:avLst>
              <a:gd name="adj" fmla="val 1015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22" name="TextBox 14"/>
          <p:cNvSpPr txBox="1"/>
          <p:nvPr/>
        </p:nvSpPr>
        <p:spPr>
          <a:xfrm>
            <a:off x="4629150" y="1543050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7E848C"/>
                </a:solidFill>
                <a:latin typeface="Consolas"/>
                <a:ea typeface="Consolas"/>
                <a:cs typeface="Consolas"/>
              </a:rPr>
              <a:t>未闭合项 01</a:t>
            </a:r>
            <a:endParaRPr/>
          </a:p>
        </p:txBody>
      </p:sp>
      <p:sp>
        <p:nvSpPr>
          <p:cNvPr id="223" name="TextBox 15"/>
          <p:cNvSpPr txBox="1"/>
          <p:nvPr/>
        </p:nvSpPr>
        <p:spPr>
          <a:xfrm>
            <a:off x="5886450" y="1543050"/>
            <a:ext cx="5429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专家头像待补</a:t>
            </a:r>
            <a:endParaRPr/>
          </a:p>
        </p:txBody>
      </p:sp>
      <p:sp>
        <p:nvSpPr>
          <p:cNvPr id="224" name="TextBox 16"/>
          <p:cNvSpPr txBox="1"/>
          <p:nvPr/>
        </p:nvSpPr>
        <p:spPr>
          <a:xfrm>
            <a:off x="4629150" y="1828800"/>
            <a:ext cx="6705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官方校验器对本项只告警不报错，因此专家包仍然有效可用。</a:t>
            </a:r>
            <a:endParaRPr/>
          </a:p>
        </p:txBody>
      </p:sp>
      <p:sp>
        <p:nvSpPr>
          <p:cNvPr id="225" name="Rounded Rectangle 17"/>
          <p:cNvSpPr/>
          <p:nvPr/>
        </p:nvSpPr>
        <p:spPr>
          <a:xfrm>
            <a:off x="4457700" y="2481262"/>
            <a:ext cx="7048500" cy="938212"/>
          </a:xfrm>
          <a:prstGeom prst="roundRect">
            <a:avLst>
              <a:gd name="adj" fmla="val 1015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26" name="TextBox 18"/>
          <p:cNvSpPr txBox="1"/>
          <p:nvPr/>
        </p:nvSpPr>
        <p:spPr>
          <a:xfrm>
            <a:off x="4629150" y="2576512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7E848C"/>
                </a:solidFill>
                <a:latin typeface="Consolas"/>
                <a:ea typeface="Consolas"/>
                <a:cs typeface="Consolas"/>
              </a:rPr>
              <a:t>未闭合项 02</a:t>
            </a:r>
            <a:endParaRPr/>
          </a:p>
        </p:txBody>
      </p:sp>
      <p:sp>
        <p:nvSpPr>
          <p:cNvPr id="227" name="TextBox 19"/>
          <p:cNvSpPr txBox="1"/>
          <p:nvPr/>
        </p:nvSpPr>
        <p:spPr>
          <a:xfrm>
            <a:off x="5886450" y="2576512"/>
            <a:ext cx="5429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线上链接状态</a:t>
            </a:r>
            <a:endParaRPr/>
          </a:p>
        </p:txBody>
      </p:sp>
      <p:sp>
        <p:nvSpPr>
          <p:cNvPr id="228" name="TextBox 20"/>
          <p:cNvSpPr txBox="1"/>
          <p:nvPr/>
        </p:nvSpPr>
        <p:spPr>
          <a:xfrm>
            <a:off x="4629150" y="2862262"/>
            <a:ext cx="6705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线上链接已发布：mendai1307.github.io/AutoGrader，部署工作流自动同步。</a:t>
            </a:r>
            <a:endParaRPr/>
          </a:p>
        </p:txBody>
      </p:sp>
      <p:sp>
        <p:nvSpPr>
          <p:cNvPr id="229" name="Rounded Rectangle 21"/>
          <p:cNvSpPr/>
          <p:nvPr/>
        </p:nvSpPr>
        <p:spPr>
          <a:xfrm>
            <a:off x="4457700" y="3514725"/>
            <a:ext cx="7048500" cy="938212"/>
          </a:xfrm>
          <a:prstGeom prst="roundRect">
            <a:avLst>
              <a:gd name="adj" fmla="val 1015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30" name="TextBox 22"/>
          <p:cNvSpPr txBox="1"/>
          <p:nvPr/>
        </p:nvSpPr>
        <p:spPr>
          <a:xfrm>
            <a:off x="4629150" y="3609975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7E848C"/>
                </a:solidFill>
                <a:latin typeface="Consolas"/>
                <a:ea typeface="Consolas"/>
                <a:cs typeface="Consolas"/>
              </a:rPr>
              <a:t>未闭合项 03</a:t>
            </a:r>
            <a:endParaRPr/>
          </a:p>
        </p:txBody>
      </p:sp>
      <p:sp>
        <p:nvSpPr>
          <p:cNvPr id="231" name="TextBox 23"/>
          <p:cNvSpPr txBox="1"/>
          <p:nvPr/>
        </p:nvSpPr>
        <p:spPr>
          <a:xfrm>
            <a:off x="5886450" y="3609975"/>
            <a:ext cx="5429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3 分钟 Demo 视频</a:t>
            </a:r>
            <a:endParaRPr/>
          </a:p>
        </p:txBody>
      </p:sp>
      <p:sp>
        <p:nvSpPr>
          <p:cNvPr id="232" name="TextBox 24"/>
          <p:cNvSpPr txBox="1"/>
          <p:nvPr/>
        </p:nvSpPr>
        <p:spPr>
          <a:xfrm>
            <a:off x="4629150" y="3895725"/>
            <a:ext cx="6705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台本、逐秒字幕与全部素材已就绪，成片随作品一并提交。</a:t>
            </a:r>
            <a:endParaRPr/>
          </a:p>
        </p:txBody>
      </p:sp>
      <p:sp>
        <p:nvSpPr>
          <p:cNvPr id="233" name="Rounded Rectangle 25"/>
          <p:cNvSpPr/>
          <p:nvPr/>
        </p:nvSpPr>
        <p:spPr>
          <a:xfrm>
            <a:off x="4457700" y="4548188"/>
            <a:ext cx="7048500" cy="938212"/>
          </a:xfrm>
          <a:prstGeom prst="roundRect">
            <a:avLst>
              <a:gd name="adj" fmla="val 1015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34" name="TextBox 26"/>
          <p:cNvSpPr txBox="1"/>
          <p:nvPr/>
        </p:nvSpPr>
        <p:spPr>
          <a:xfrm>
            <a:off x="4629150" y="4643438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7E848C"/>
                </a:solidFill>
                <a:latin typeface="Consolas"/>
                <a:ea typeface="Consolas"/>
                <a:cs typeface="Consolas"/>
              </a:rPr>
              <a:t>未闭合项 04</a:t>
            </a:r>
            <a:endParaRPr/>
          </a:p>
        </p:txBody>
      </p:sp>
      <p:sp>
        <p:nvSpPr>
          <p:cNvPr id="235" name="TextBox 27"/>
          <p:cNvSpPr txBox="1"/>
          <p:nvPr/>
        </p:nvSpPr>
        <p:spPr>
          <a:xfrm>
            <a:off x="5886450" y="4643438"/>
            <a:ext cx="5429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部分技能模式</a:t>
            </a:r>
            <a:endParaRPr/>
          </a:p>
        </p:txBody>
      </p:sp>
      <p:sp>
        <p:nvSpPr>
          <p:cNvPr id="236" name="TextBox 28"/>
          <p:cNvSpPr txBox="1"/>
          <p:nvPr/>
        </p:nvSpPr>
        <p:spPr>
          <a:xfrm>
            <a:off x="4629150" y="4929188"/>
            <a:ext cx="6705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模式一建标待路由扩展，模式二评阅待批量参数支持。</a:t>
            </a:r>
            <a:endParaRPr/>
          </a:p>
        </p:txBody>
      </p:sp>
      <p:sp>
        <p:nvSpPr>
          <p:cNvPr id="237" name="Rounded Rectangle 29"/>
          <p:cNvSpPr/>
          <p:nvPr/>
        </p:nvSpPr>
        <p:spPr>
          <a:xfrm>
            <a:off x="4457700" y="5581650"/>
            <a:ext cx="7048500" cy="704850"/>
          </a:xfrm>
          <a:prstGeom prst="roundRect">
            <a:avLst>
              <a:gd name="adj" fmla="val 13513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38" name="Rectangle 30"/>
          <p:cNvSpPr/>
          <p:nvPr/>
        </p:nvSpPr>
        <p:spPr>
          <a:xfrm>
            <a:off x="4457700" y="5581650"/>
            <a:ext cx="28575" cy="7048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39" name="TextBox 31"/>
          <p:cNvSpPr txBox="1"/>
          <p:nvPr/>
        </p:nvSpPr>
        <p:spPr>
          <a:xfrm>
            <a:off x="4648200" y="5695950"/>
            <a:ext cx="6667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 i="0">
                <a:solidFill>
                  <a:srgbClr val="A7AEB6"/>
                </a:solidFill>
                <a:latin typeface="微软雅黑"/>
                <a:ea typeface="微软雅黑"/>
                <a:cs typeface="微软雅黑"/>
              </a:rPr>
              <a:t>深链唤起智能体定位为增强项：依赖客户端自定义协议，属操作系统级的用户主动唤起，不是 API 调用、不绕过授权、不自动执行，并配三层降级。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 txBox="1"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600" b="1">
                <a:solidFill>
                  <a:srgbClr val="080A08"/>
                </a:solidFill>
              </a:rPr>
              <a:t>产品实景 · 线上站点实测截图</a:t>
            </a:r>
            <a:endParaRPr/>
          </a:p>
        </p:txBody>
      </p:sp>
      <p:sp>
        <p:nvSpPr>
          <p:cNvPr id="242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>
                <a:solidFill>
                  <a:srgbClr val="77756D"/>
                </a:solidFill>
              </a:rPr>
              <a:t>7 路由静态站 · 1920×1080 实测 · mendai1307.github.io/AutoGrader（评委可直接访问复核）</a:t>
            </a:r>
            <a:endParaRPr/>
          </a:p>
        </p:txBody>
      </p:sp>
      <p:pic>
        <p:nvPicPr>
          <p:cNvPr id="243" name="Picture 3" descr="01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669280" cy="2788920"/>
          </a:xfrm>
          <a:prstGeom prst="rect">
            <a:avLst/>
          </a:prstGeom>
        </p:spPr>
      </p:pic>
      <p:sp>
        <p:nvSpPr>
          <p:cNvPr id="244" name="TextBox 4"/>
          <p:cNvSpPr txBox="1"/>
          <p:nvPr/>
        </p:nvSpPr>
        <p:spPr>
          <a:xfrm>
            <a:off x="365760" y="393192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77756D"/>
                </a:solidFill>
              </a:rPr>
              <a:t>首页 · Compile-time AI 范式</a:t>
            </a:r>
            <a:endParaRPr/>
          </a:p>
        </p:txBody>
      </p:sp>
      <p:pic>
        <p:nvPicPr>
          <p:cNvPr id="245" name="Picture 5" descr="04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669280" cy="2788920"/>
          </a:xfrm>
          <a:prstGeom prst="rect">
            <a:avLst/>
          </a:prstGeom>
        </p:spPr>
      </p:pic>
      <p:sp>
        <p:nvSpPr>
          <p:cNvPr id="246" name="TextBox 6"/>
          <p:cNvSpPr txBox="1"/>
          <p:nvPr/>
        </p:nvSpPr>
        <p:spPr>
          <a:xfrm>
            <a:off x="6263640" y="393192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77756D"/>
                </a:solidFill>
              </a:rPr>
              <a:t>评阅详情 · 指纹复算与口径面板</a:t>
            </a:r>
            <a:endParaRPr/>
          </a:p>
        </p:txBody>
      </p:sp>
      <p:pic>
        <p:nvPicPr>
          <p:cNvPr id="247" name="Picture 7" descr="06-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0520"/>
            <a:ext cx="5669280" cy="2788920"/>
          </a:xfrm>
          <a:prstGeom prst="rect">
            <a:avLst/>
          </a:prstGeom>
        </p:spPr>
      </p:pic>
      <p:sp>
        <p:nvSpPr>
          <p:cNvPr id="248" name="TextBox 8"/>
          <p:cNvSpPr txBox="1"/>
          <p:nvPr/>
        </p:nvSpPr>
        <p:spPr>
          <a:xfrm>
            <a:off x="365760" y="694944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77756D"/>
                </a:solidFill>
              </a:rPr>
              <a:t>一致性评测 · 四项指标浏览器端现算</a:t>
            </a:r>
            <a:endParaRPr/>
          </a:p>
        </p:txBody>
      </p:sp>
      <p:pic>
        <p:nvPicPr>
          <p:cNvPr id="249" name="Picture 9" descr="02-ag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160520"/>
            <a:ext cx="5669280" cy="2788920"/>
          </a:xfrm>
          <a:prstGeom prst="rect">
            <a:avLst/>
          </a:prstGeom>
        </p:spPr>
      </p:pic>
      <p:sp>
        <p:nvSpPr>
          <p:cNvPr id="250" name="TextBox 10"/>
          <p:cNvSpPr txBox="1"/>
          <p:nvPr/>
        </p:nvSpPr>
        <p:spPr>
          <a:xfrm>
            <a:off x="6263640" y="694944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77756D"/>
                </a:solidFill>
              </a:rPr>
              <a:t>智能体构成 · 五件套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1"/>
          <p:cNvSpPr txBox="1"/>
          <p:nvPr/>
        </p:nvSpPr>
        <p:spPr>
          <a:xfrm>
            <a:off x="685800" y="762000"/>
            <a:ext cx="10820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评委的 3 分钟</a:t>
            </a:r>
            <a:endParaRPr/>
          </a:p>
        </p:txBody>
      </p:sp>
      <p:sp>
        <p:nvSpPr>
          <p:cNvPr id="253" name="Rectangle 2"/>
          <p:cNvSpPr/>
          <p:nvPr/>
        </p:nvSpPr>
        <p:spPr>
          <a:xfrm>
            <a:off x="685800" y="1171575"/>
            <a:ext cx="10820400" cy="9525"/>
          </a:xfrm>
          <a:prstGeom prst="rect">
            <a:avLst/>
          </a:prstGeom>
          <a:solidFill>
            <a:srgbClr val="1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54" name="Rounded Rectangle 3"/>
          <p:cNvSpPr/>
          <p:nvPr/>
        </p:nvSpPr>
        <p:spPr>
          <a:xfrm>
            <a:off x="685800" y="6515100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55" name="TextBox 4"/>
          <p:cNvSpPr txBox="1"/>
          <p:nvPr/>
        </p:nvSpPr>
        <p:spPr>
          <a:xfrm>
            <a:off x="914400" y="6496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787E84"/>
                </a:solidFill>
                <a:latin typeface="Consolas"/>
                <a:ea typeface="Consolas"/>
                <a:cs typeface="Consolas"/>
              </a:rPr>
              <a:t>AUTOGRADER</a:t>
            </a:r>
            <a:endParaRPr/>
          </a:p>
        </p:txBody>
      </p:sp>
      <p:sp>
        <p:nvSpPr>
          <p:cNvPr id="256" name="TextBox 5"/>
          <p:cNvSpPr txBox="1"/>
          <p:nvPr/>
        </p:nvSpPr>
        <p:spPr>
          <a:xfrm>
            <a:off x="10363200" y="64960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050" b="0" i="0">
                <a:solidFill>
                  <a:srgbClr val="6D7278"/>
                </a:solidFill>
                <a:latin typeface="Consolas"/>
                <a:ea typeface="Consolas"/>
                <a:cs typeface="Consolas"/>
              </a:rPr>
              <a:t>18 / 19</a:t>
            </a:r>
            <a:endParaRPr/>
          </a:p>
        </p:txBody>
      </p:sp>
      <p:sp>
        <p:nvSpPr>
          <p:cNvPr id="257" name="Rounded Rectangle 6"/>
          <p:cNvSpPr/>
          <p:nvPr/>
        </p:nvSpPr>
        <p:spPr>
          <a:xfrm>
            <a:off x="685800" y="1447800"/>
            <a:ext cx="5715000" cy="4838700"/>
          </a:xfrm>
          <a:prstGeom prst="roundRect">
            <a:avLst>
              <a:gd name="adj" fmla="val 2755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58" name="TextBox 7"/>
          <p:cNvSpPr txBox="1"/>
          <p:nvPr/>
        </p:nvSpPr>
        <p:spPr>
          <a:xfrm>
            <a:off x="914400" y="1638300"/>
            <a:ext cx="52578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7 个路由，一条推荐路径</a:t>
            </a:r>
            <a:endParaRPr/>
          </a:p>
        </p:txBody>
      </p:sp>
      <p:sp>
        <p:nvSpPr>
          <p:cNvPr id="259" name="Rounded Rectangle 8"/>
          <p:cNvSpPr/>
          <p:nvPr/>
        </p:nvSpPr>
        <p:spPr>
          <a:xfrm>
            <a:off x="914400" y="2038350"/>
            <a:ext cx="5257800" cy="342900"/>
          </a:xfrm>
          <a:prstGeom prst="roundRect">
            <a:avLst>
              <a:gd name="adj" fmla="val 22222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60" name="TextBox 9"/>
          <p:cNvSpPr txBox="1"/>
          <p:nvPr/>
        </p:nvSpPr>
        <p:spPr>
          <a:xfrm>
            <a:off x="1047750" y="21050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 首页 —— 三句话讲清范式</a:t>
            </a:r>
            <a:endParaRPr/>
          </a:p>
        </p:txBody>
      </p:sp>
      <p:sp>
        <p:nvSpPr>
          <p:cNvPr id="261" name="Rounded Rectangle 10"/>
          <p:cNvSpPr/>
          <p:nvPr/>
        </p:nvSpPr>
        <p:spPr>
          <a:xfrm>
            <a:off x="914400" y="2419350"/>
            <a:ext cx="5257800" cy="342900"/>
          </a:xfrm>
          <a:prstGeom prst="roundRect">
            <a:avLst>
              <a:gd name="adj" fmla="val 22222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62" name="TextBox 11"/>
          <p:cNvSpPr txBox="1"/>
          <p:nvPr/>
        </p:nvSpPr>
        <p:spPr>
          <a:xfrm>
            <a:off x="1047750" y="24860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/agents 智能体构成 · 五件套</a:t>
            </a:r>
            <a:endParaRPr/>
          </a:p>
        </p:txBody>
      </p:sp>
      <p:sp>
        <p:nvSpPr>
          <p:cNvPr id="263" name="Rounded Rectangle 12"/>
          <p:cNvSpPr/>
          <p:nvPr/>
        </p:nvSpPr>
        <p:spPr>
          <a:xfrm>
            <a:off x="914400" y="2800350"/>
            <a:ext cx="5257800" cy="342900"/>
          </a:xfrm>
          <a:prstGeom prst="roundRect">
            <a:avLst>
              <a:gd name="adj" fmla="val 22222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64" name="TextBox 13"/>
          <p:cNvSpPr txBox="1"/>
          <p:nvPr/>
        </p:nvSpPr>
        <p:spPr>
          <a:xfrm>
            <a:off x="1047750" y="28670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/grade 评阅工作台 · 12 份结果</a:t>
            </a:r>
            <a:endParaRPr/>
          </a:p>
        </p:txBody>
      </p:sp>
      <p:sp>
        <p:nvSpPr>
          <p:cNvPr id="265" name="Rounded Rectangle 14"/>
          <p:cNvSpPr/>
          <p:nvPr/>
        </p:nvSpPr>
        <p:spPr>
          <a:xfrm>
            <a:off x="914400" y="3181350"/>
            <a:ext cx="5257800" cy="342900"/>
          </a:xfrm>
          <a:prstGeom prst="roundRect">
            <a:avLst>
              <a:gd name="adj" fmla="val 22222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66" name="TextBox 15"/>
          <p:cNvSpPr txBox="1"/>
          <p:nvPr/>
        </p:nvSpPr>
        <p:spPr>
          <a:xfrm>
            <a:off x="1047750" y="32480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/report/[id] 结果详情 · 指纹现场复算</a:t>
            </a:r>
            <a:endParaRPr/>
          </a:p>
        </p:txBody>
      </p:sp>
      <p:sp>
        <p:nvSpPr>
          <p:cNvPr id="267" name="Rounded Rectangle 16"/>
          <p:cNvSpPr/>
          <p:nvPr/>
        </p:nvSpPr>
        <p:spPr>
          <a:xfrm>
            <a:off x="914400" y="3562350"/>
            <a:ext cx="5257800" cy="342900"/>
          </a:xfrm>
          <a:prstGeom prst="roundRect">
            <a:avLst>
              <a:gd name="adj" fmla="val 22222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68" name="TextBox 17"/>
          <p:cNvSpPr txBox="1"/>
          <p:nvPr/>
        </p:nvSpPr>
        <p:spPr>
          <a:xfrm>
            <a:off x="1047750" y="36290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/upload 上传核查 · 浏览器端解析 docx</a:t>
            </a:r>
            <a:endParaRPr/>
          </a:p>
        </p:txBody>
      </p:sp>
      <p:sp>
        <p:nvSpPr>
          <p:cNvPr id="269" name="Rounded Rectangle 18"/>
          <p:cNvSpPr/>
          <p:nvPr/>
        </p:nvSpPr>
        <p:spPr>
          <a:xfrm>
            <a:off x="914400" y="3943350"/>
            <a:ext cx="5257800" cy="342900"/>
          </a:xfrm>
          <a:prstGeom prst="roundRect">
            <a:avLst>
              <a:gd name="adj" fmla="val 22222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70" name="TextBox 19"/>
          <p:cNvSpPr txBox="1"/>
          <p:nvPr/>
        </p:nvSpPr>
        <p:spPr>
          <a:xfrm>
            <a:off x="1047750" y="40100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/eval 一致性评测 · 浏览器端现算</a:t>
            </a:r>
            <a:endParaRPr/>
          </a:p>
        </p:txBody>
      </p:sp>
      <p:sp>
        <p:nvSpPr>
          <p:cNvPr id="271" name="Rounded Rectangle 20"/>
          <p:cNvSpPr/>
          <p:nvPr/>
        </p:nvSpPr>
        <p:spPr>
          <a:xfrm>
            <a:off x="914400" y="4324350"/>
            <a:ext cx="5257800" cy="342900"/>
          </a:xfrm>
          <a:prstGeom prst="roundRect">
            <a:avLst>
              <a:gd name="adj" fmla="val 22222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72" name="TextBox 21"/>
          <p:cNvSpPr txBox="1"/>
          <p:nvPr/>
        </p:nvSpPr>
        <p:spPr>
          <a:xfrm>
            <a:off x="1047750" y="439102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/trace 工作流溯源 · 五 Agent 逐环</a:t>
            </a:r>
            <a:endParaRPr/>
          </a:p>
        </p:txBody>
      </p:sp>
      <p:sp>
        <p:nvSpPr>
          <p:cNvPr id="273" name="TextBox 22"/>
          <p:cNvSpPr txBox="1"/>
          <p:nvPr/>
        </p:nvSpPr>
        <p:spPr>
          <a:xfrm>
            <a:off x="914400" y="4743450"/>
            <a:ext cx="5257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E959D"/>
                </a:solidFill>
                <a:latin typeface="微软雅黑"/>
                <a:ea typeface="微软雅黑"/>
                <a:cs typeface="微软雅黑"/>
              </a:rPr>
              <a:t>核心路径（首页 → 工作台 → 结果详情 → 溯源）零死链、无空白页。</a:t>
            </a:r>
            <a:endParaRPr/>
          </a:p>
        </p:txBody>
      </p:sp>
      <p:sp>
        <p:nvSpPr>
          <p:cNvPr id="274" name="Rounded Rectangle 23"/>
          <p:cNvSpPr/>
          <p:nvPr/>
        </p:nvSpPr>
        <p:spPr>
          <a:xfrm>
            <a:off x="6781800" y="1447800"/>
            <a:ext cx="4724400" cy="4838700"/>
          </a:xfrm>
          <a:prstGeom prst="roundRect">
            <a:avLst>
              <a:gd name="adj" fmla="val 2822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75" name="TextBox 24"/>
          <p:cNvSpPr txBox="1"/>
          <p:nvPr/>
        </p:nvSpPr>
        <p:spPr>
          <a:xfrm>
            <a:off x="6991350" y="1657350"/>
            <a:ext cx="4305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推荐动线</a:t>
            </a:r>
            <a:endParaRPr/>
          </a:p>
        </p:txBody>
      </p:sp>
      <p:sp>
        <p:nvSpPr>
          <p:cNvPr id="276" name="Rounded Rectangle 25"/>
          <p:cNvSpPr/>
          <p:nvPr/>
        </p:nvSpPr>
        <p:spPr>
          <a:xfrm>
            <a:off x="6991350" y="2076450"/>
            <a:ext cx="4305300" cy="895350"/>
          </a:xfrm>
          <a:prstGeom prst="roundRect">
            <a:avLst>
              <a:gd name="adj" fmla="val 10638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77" name="TextBox 26"/>
          <p:cNvSpPr txBox="1"/>
          <p:nvPr/>
        </p:nvSpPr>
        <p:spPr>
          <a:xfrm>
            <a:off x="7162800" y="2190750"/>
            <a:ext cx="76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30 秒</a:t>
            </a:r>
            <a:endParaRPr/>
          </a:p>
        </p:txBody>
      </p:sp>
      <p:sp>
        <p:nvSpPr>
          <p:cNvPr id="278" name="TextBox 27"/>
          <p:cNvSpPr txBox="1"/>
          <p:nvPr/>
        </p:nvSpPr>
        <p:spPr>
          <a:xfrm>
            <a:off x="7162800" y="2476500"/>
            <a:ext cx="3962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首页看懂主张</a:t>
            </a:r>
            <a:endParaRPr/>
          </a:p>
        </p:txBody>
      </p:sp>
      <p:sp>
        <p:nvSpPr>
          <p:cNvPr id="279" name="TextBox 28"/>
          <p:cNvSpPr txBox="1"/>
          <p:nvPr/>
        </p:nvSpPr>
        <p:spPr>
          <a:xfrm>
            <a:off x="7162800" y="2724150"/>
            <a:ext cx="396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BA2A9"/>
                </a:solidFill>
                <a:latin typeface="微软雅黑"/>
                <a:ea typeface="微软雅黑"/>
                <a:cs typeface="微软雅黑"/>
              </a:rPr>
              <a:t>推理在对话侧、Web 只做确定性渲染、每个结论可回溯。</a:t>
            </a:r>
            <a:endParaRPr/>
          </a:p>
        </p:txBody>
      </p:sp>
      <p:sp>
        <p:nvSpPr>
          <p:cNvPr id="280" name="Rounded Rectangle 29"/>
          <p:cNvSpPr/>
          <p:nvPr/>
        </p:nvSpPr>
        <p:spPr>
          <a:xfrm>
            <a:off x="6991350" y="3086100"/>
            <a:ext cx="4305300" cy="895350"/>
          </a:xfrm>
          <a:prstGeom prst="roundRect">
            <a:avLst>
              <a:gd name="adj" fmla="val 10638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81" name="TextBox 30"/>
          <p:cNvSpPr txBox="1"/>
          <p:nvPr/>
        </p:nvSpPr>
        <p:spPr>
          <a:xfrm>
            <a:off x="7162800" y="3200400"/>
            <a:ext cx="76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60 秒</a:t>
            </a:r>
            <a:endParaRPr/>
          </a:p>
        </p:txBody>
      </p:sp>
      <p:sp>
        <p:nvSpPr>
          <p:cNvPr id="282" name="TextBox 31"/>
          <p:cNvSpPr txBox="1"/>
          <p:nvPr/>
        </p:nvSpPr>
        <p:spPr>
          <a:xfrm>
            <a:off x="7162800" y="3486150"/>
            <a:ext cx="3962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打开一份结果</a:t>
            </a:r>
            <a:endParaRPr/>
          </a:p>
        </p:txBody>
      </p:sp>
      <p:sp>
        <p:nvSpPr>
          <p:cNvPr id="283" name="TextBox 32"/>
          <p:cNvSpPr txBox="1"/>
          <p:nvPr/>
        </p:nvSpPr>
        <p:spPr>
          <a:xfrm>
            <a:off x="7162800" y="3733800"/>
            <a:ext cx="396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BA2A9"/>
                </a:solidFill>
                <a:latin typeface="微软雅黑"/>
                <a:ea typeface="微软雅黑"/>
                <a:cs typeface="微软雅黑"/>
              </a:rPr>
              <a:t>工作台列出 12 份评阅结果，任选一份进入详情。</a:t>
            </a:r>
            <a:endParaRPr/>
          </a:p>
        </p:txBody>
      </p:sp>
      <p:sp>
        <p:nvSpPr>
          <p:cNvPr id="284" name="Rounded Rectangle 33"/>
          <p:cNvSpPr/>
          <p:nvPr/>
        </p:nvSpPr>
        <p:spPr>
          <a:xfrm>
            <a:off x="6991350" y="4095750"/>
            <a:ext cx="4305300" cy="895350"/>
          </a:xfrm>
          <a:prstGeom prst="roundRect">
            <a:avLst>
              <a:gd name="adj" fmla="val 10638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85" name="TextBox 34"/>
          <p:cNvSpPr txBox="1"/>
          <p:nvPr/>
        </p:nvSpPr>
        <p:spPr>
          <a:xfrm>
            <a:off x="7162800" y="4210050"/>
            <a:ext cx="76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60 秒</a:t>
            </a:r>
            <a:endParaRPr/>
          </a:p>
        </p:txBody>
      </p:sp>
      <p:sp>
        <p:nvSpPr>
          <p:cNvPr id="286" name="TextBox 35"/>
          <p:cNvSpPr txBox="1"/>
          <p:nvPr/>
        </p:nvSpPr>
        <p:spPr>
          <a:xfrm>
            <a:off x="7162800" y="4495800"/>
            <a:ext cx="3962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确认指纹一致</a:t>
            </a:r>
            <a:endParaRPr/>
          </a:p>
        </p:txBody>
      </p:sp>
      <p:sp>
        <p:nvSpPr>
          <p:cNvPr id="287" name="TextBox 36"/>
          <p:cNvSpPr txBox="1"/>
          <p:nvPr/>
        </p:nvSpPr>
        <p:spPr>
          <a:xfrm>
            <a:off x="7162800" y="4743450"/>
            <a:ext cx="396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BA2A9"/>
                </a:solidFill>
                <a:latin typeface="微软雅黑"/>
                <a:ea typeface="微软雅黑"/>
                <a:cs typeface="微软雅黑"/>
              </a:rPr>
              <a:t>详情页现场复算结果指纹，显示「复算一致」与复算值。</a:t>
            </a:r>
            <a:endParaRPr/>
          </a:p>
        </p:txBody>
      </p:sp>
      <p:sp>
        <p:nvSpPr>
          <p:cNvPr id="288" name="Rounded Rectangle 37"/>
          <p:cNvSpPr/>
          <p:nvPr/>
        </p:nvSpPr>
        <p:spPr>
          <a:xfrm>
            <a:off x="6991350" y="5105400"/>
            <a:ext cx="4305300" cy="895350"/>
          </a:xfrm>
          <a:prstGeom prst="roundRect">
            <a:avLst>
              <a:gd name="adj" fmla="val 10638"/>
            </a:avLst>
          </a:prstGeom>
          <a:solidFill>
            <a:srgbClr val="17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89" name="TextBox 38"/>
          <p:cNvSpPr txBox="1"/>
          <p:nvPr/>
        </p:nvSpPr>
        <p:spPr>
          <a:xfrm>
            <a:off x="7162800" y="5219700"/>
            <a:ext cx="76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30 秒</a:t>
            </a:r>
            <a:endParaRPr/>
          </a:p>
        </p:txBody>
      </p:sp>
      <p:sp>
        <p:nvSpPr>
          <p:cNvPr id="290" name="TextBox 39"/>
          <p:cNvSpPr txBox="1"/>
          <p:nvPr/>
        </p:nvSpPr>
        <p:spPr>
          <a:xfrm>
            <a:off x="7162800" y="5505450"/>
            <a:ext cx="3962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看量化结论</a:t>
            </a:r>
            <a:endParaRPr/>
          </a:p>
        </p:txBody>
      </p:sp>
      <p:sp>
        <p:nvSpPr>
          <p:cNvPr id="291" name="TextBox 40"/>
          <p:cNvSpPr txBox="1"/>
          <p:nvPr/>
        </p:nvSpPr>
        <p:spPr>
          <a:xfrm>
            <a:off x="7162800" y="5753100"/>
            <a:ext cx="396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9BA2A9"/>
                </a:solidFill>
                <a:latin typeface="微软雅黑"/>
                <a:ea typeface="微软雅黑"/>
                <a:cs typeface="微软雅黑"/>
              </a:rPr>
              <a:t>评测页在浏览器端现算 MAE、一致率与置信度校准。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A0E14"/>
        </a:solidFill>
        <a:effectLst/>
      </p:bgPr>
    </p:bg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94" name="Rectangle 2"/>
          <p:cNvSpPr/>
          <p:nvPr/>
        </p:nvSpPr>
        <p:spPr>
          <a:xfrm>
            <a:off x="6667500" y="381000"/>
            <a:ext cx="5524500" cy="6096000"/>
          </a:xfrm>
          <a:prstGeom prst="rect">
            <a:avLst/>
          </a:prstGeom>
          <a:solidFill>
            <a:srgbClr val="0C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95" name="Rounded Rectangle 3"/>
          <p:cNvSpPr/>
          <p:nvPr/>
        </p:nvSpPr>
        <p:spPr>
          <a:xfrm>
            <a:off x="1143000" y="8001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96" name="TextBox 4"/>
          <p:cNvSpPr txBox="1"/>
          <p:nvPr/>
        </p:nvSpPr>
        <p:spPr>
          <a:xfrm>
            <a:off x="1333500" y="752475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92989E"/>
                </a:solidFill>
                <a:latin typeface="微软雅黑"/>
                <a:ea typeface="微软雅黑"/>
                <a:cs typeface="微软雅黑"/>
              </a:rPr>
              <a:t>团队 · 跨专业组队</a:t>
            </a:r>
            <a:endParaRPr/>
          </a:p>
        </p:txBody>
      </p:sp>
      <p:sp>
        <p:nvSpPr>
          <p:cNvPr id="297" name="TextBox 5"/>
          <p:cNvSpPr txBox="1"/>
          <p:nvPr/>
        </p:nvSpPr>
        <p:spPr>
          <a:xfrm>
            <a:off x="1143000" y="1238250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两个专业，一块交付</a:t>
            </a:r>
            <a:endParaRPr/>
          </a:p>
        </p:txBody>
      </p:sp>
      <p:sp>
        <p:nvSpPr>
          <p:cNvPr id="298" name="Rounded Rectangle 6"/>
          <p:cNvSpPr/>
          <p:nvPr/>
        </p:nvSpPr>
        <p:spPr>
          <a:xfrm>
            <a:off x="1143000" y="2133600"/>
            <a:ext cx="4381500" cy="1066800"/>
          </a:xfrm>
          <a:prstGeom prst="roundRect">
            <a:avLst>
              <a:gd name="adj" fmla="val 1071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299" name="Rectangle 7"/>
          <p:cNvSpPr/>
          <p:nvPr/>
        </p:nvSpPr>
        <p:spPr>
          <a:xfrm>
            <a:off x="1143000" y="2133600"/>
            <a:ext cx="28575" cy="1066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00" name="TextBox 8"/>
          <p:cNvSpPr txBox="1"/>
          <p:nvPr/>
        </p:nvSpPr>
        <p:spPr>
          <a:xfrm>
            <a:off x="1371600" y="2324100"/>
            <a:ext cx="4000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2DD4B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软件工程</a:t>
            </a:r>
            <a:endParaRPr/>
          </a:p>
          <a:p>
            <a:pPr/>
            <a:r>
              <a:rPr sz="1400">
                <a:solidFill>
                  <a:srgbClr val="9B7247">
                    <a:alpha val="100000"/>
                  </a:srgbClr>
                </a:solidFill>
              </a:rPr>
              <a:t>成员：邬梓晴（</a:t>
            </a:r>
            <a:r>
              <a:rPr sz="1400">
                <a:solidFill>
                  <a:srgbClr val="9B7247">
                    <a:alpha val="100000"/>
                  </a:srgbClr>
                </a:solidFill>
              </a:rPr>
              <a:t>Ziqing-Wu1</a:t>
            </a:r>
            <a:r>
              <a:rPr sz="1400">
                <a:solidFill>
                  <a:srgbClr val="9B7247">
                    <a:alpha val="100000"/>
                  </a:srgbClr>
                </a:solidFill>
              </a:rPr>
              <a:t>）</a:t>
            </a:r>
            <a:endParaRPr/>
          </a:p>
        </p:txBody>
      </p:sp>
      <p:sp>
        <p:nvSpPr>
          <p:cNvPr id="301" name="TextBox 9"/>
          <p:cNvSpPr txBox="1"/>
          <p:nvPr/>
        </p:nvSpPr>
        <p:spPr>
          <a:xfrm rot="0" flipH="0" flipV="0">
            <a:off x="1371600" y="2952750"/>
            <a:ext cx="4000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负责工程实现：专家智能体包、打包链路与产品化界面。</a:t>
            </a:r>
            <a:endParaRPr/>
          </a:p>
        </p:txBody>
      </p:sp>
      <p:sp>
        <p:nvSpPr>
          <p:cNvPr id="302" name="Rounded Rectangle 10"/>
          <p:cNvSpPr/>
          <p:nvPr/>
        </p:nvSpPr>
        <p:spPr>
          <a:xfrm>
            <a:off x="1143000" y="3352800"/>
            <a:ext cx="4381500" cy="1066800"/>
          </a:xfrm>
          <a:prstGeom prst="roundRect">
            <a:avLst>
              <a:gd name="adj" fmla="val 10714"/>
            </a:avLst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03" name="Rectangle 11"/>
          <p:cNvSpPr/>
          <p:nvPr/>
        </p:nvSpPr>
        <p:spPr>
          <a:xfrm>
            <a:off x="1143000" y="3352800"/>
            <a:ext cx="28575" cy="1066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04" name="TextBox 12"/>
          <p:cNvSpPr txBox="1"/>
          <p:nvPr/>
        </p:nvSpPr>
        <p:spPr>
          <a:xfrm>
            <a:off x="1371600" y="3543300"/>
            <a:ext cx="4000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2DD4BF"/>
                </a:solidFill>
                <a:latin typeface="微软雅黑"/>
                <a:ea typeface="微软雅黑"/>
                <a:cs typeface="微软雅黑"/>
              </a:rPr>
              <a:t>计算机科学与技术</a:t>
            </a:r>
            <a:endParaRPr/>
          </a:p>
          <a:p>
            <a:pPr/>
            <a:r>
              <a:rPr sz="1400">
                <a:solidFill>
                  <a:srgbClr val="9B7247"/>
                </a:solidFill>
              </a:rPr>
              <a:t>成员：何厚朴（Mendai1307）</a:t>
            </a:r>
            <a:endParaRPr/>
          </a:p>
        </p:txBody>
      </p:sp>
      <p:sp>
        <p:nvSpPr>
          <p:cNvPr id="305" name="TextBox 13"/>
          <p:cNvSpPr txBox="1"/>
          <p:nvPr/>
        </p:nvSpPr>
        <p:spPr>
          <a:xfrm rot="0" flipH="0" flipV="0">
            <a:off x="1371600" y="4191000"/>
            <a:ext cx="4000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FA6AD"/>
                </a:solidFill>
                <a:latin typeface="微软雅黑"/>
                <a:ea typeface="微软雅黑"/>
                <a:cs typeface="微软雅黑"/>
              </a:rPr>
              <a:t>负责方法设计：契约、评测口径与数据处理。</a:t>
            </a:r>
            <a:endParaRPr/>
          </a:p>
        </p:txBody>
      </p:sp>
      <p:sp>
        <p:nvSpPr>
          <p:cNvPr id="306" name="TextBox 14"/>
          <p:cNvSpPr txBox="1"/>
          <p:nvPr/>
        </p:nvSpPr>
        <p:spPr>
          <a:xfrm>
            <a:off x="1143000" y="4610100"/>
            <a:ext cx="5334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2989E"/>
                </a:solidFill>
                <a:latin typeface="微软雅黑"/>
                <a:ea typeface="微软雅黑"/>
                <a:cs typeface="微软雅黑"/>
              </a:rPr>
              <a:t>团队成员来自 2 个不同专业，满足「跨专业组队」加分条件。</a:t>
            </a:r>
            <a:endParaRPr/>
          </a:p>
        </p:txBody>
      </p:sp>
      <p:sp>
        <p:nvSpPr>
          <p:cNvPr id="307" name="TextBox 15"/>
          <p:cNvSpPr txBox="1"/>
          <p:nvPr/>
        </p:nvSpPr>
        <p:spPr>
          <a:xfrm>
            <a:off x="6667500" y="2095500"/>
            <a:ext cx="457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8E949A"/>
                </a:solidFill>
                <a:latin typeface="微软雅黑"/>
                <a:ea typeface="微软雅黑"/>
                <a:cs typeface="微软雅黑"/>
              </a:rPr>
              <a:t>在线体验</a:t>
            </a:r>
            <a:endParaRPr/>
          </a:p>
        </p:txBody>
      </p:sp>
      <p:sp>
        <p:nvSpPr>
          <p:cNvPr id="308" name="TextBox 16"/>
          <p:cNvSpPr txBox="1"/>
          <p:nvPr/>
        </p:nvSpPr>
        <p:spPr>
          <a:xfrm>
            <a:off x="6667500" y="241935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https://mendai1307.github.io/AutoGrader/</a:t>
            </a:r>
            <a:endParaRPr/>
          </a:p>
        </p:txBody>
      </p:sp>
      <p:sp>
        <p:nvSpPr>
          <p:cNvPr id="309" name="Rectangle 17"/>
          <p:cNvSpPr/>
          <p:nvPr/>
        </p:nvSpPr>
        <p:spPr>
          <a:xfrm>
            <a:off x="6667500" y="2952750"/>
            <a:ext cx="4572000" cy="9525"/>
          </a:xfrm>
          <a:prstGeom prst="rect">
            <a:avLst/>
          </a:prstGeom>
          <a:solidFill>
            <a:srgbClr val="123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endParaRPr/>
          </a:p>
        </p:txBody>
      </p:sp>
      <p:sp>
        <p:nvSpPr>
          <p:cNvPr id="310" name="TextBox 18"/>
          <p:cNvSpPr txBox="1"/>
          <p:nvPr/>
        </p:nvSpPr>
        <p:spPr>
          <a:xfrm>
            <a:off x="6667500" y="3181350"/>
            <a:ext cx="4572000" cy="1619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A4AAB0"/>
                </a:solidFill>
                <a:latin typeface="微软雅黑"/>
                <a:ea typeface="微软雅黑"/>
                <a:cs typeface="微软雅黑"/>
              </a:rPr>
              <a:t>四个评分维度其实在问同一件事：</a:t>
            </a:r>
            <a:endParaRPr/>
          </a:p>
          <a:p>
            <a:pPr algn="l">
              <a:lnSpc>
                <a:spcPct val="150000"/>
              </a:lnSpc>
            </a:pPr>
            <a:r>
              <a:rPr sz="1950" b="1" i="0">
                <a:solidFill>
                  <a:srgbClr val="E6EDF3"/>
                </a:solidFill>
                <a:latin typeface="微软雅黑"/>
                <a:ea typeface="微软雅黑"/>
                <a:cs typeface="微软雅黑"/>
              </a:rPr>
              <a:t>你说的每一句话，能不能被验证。</a:t>
            </a:r>
            <a:endParaRPr/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8E949A"/>
                </a:solidFill>
                <a:latin typeface="微软雅黑"/>
                <a:ea typeface="微软雅黑"/>
                <a:cs typeface="微软雅黑"/>
              </a:rPr>
              <a:t>技术创新问过程能不能被看见；工程完整问结果能不能被复算；AI 工具使用问对话能不能被追溯；用户体验问评委能不能自己上手。</a:t>
            </a:r>
            <a:endParaRPr/>
          </a:p>
        </p:txBody>
      </p:sp>
      <p:sp>
        <p:nvSpPr>
          <p:cNvPr id="311" name="TextBox 19"/>
          <p:cNvSpPr txBox="1"/>
          <p:nvPr/>
        </p:nvSpPr>
        <p:spPr>
          <a:xfrm>
            <a:off x="1143000" y="59055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666C72"/>
                </a:solidFill>
                <a:latin typeface="Consolas"/>
                <a:ea typeface="Consolas"/>
                <a:cs typeface="Consolas"/>
              </a:rPr>
              <a:t>AUTOGRADER · 作品介绍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2026-09-26T22:32:36Z</dcterms:created>
  <dcterms:modified xsi:type="dcterms:W3CDTF">2026-09-26T22:32:36Z</dcterms:modified>
</cp:coreProperties>
</file>