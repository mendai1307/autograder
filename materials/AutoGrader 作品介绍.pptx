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429000" y="0"/>
            <a:ext cx="8572500" cy="5715000"/>
          </a:xfrm>
          <a:prstGeom prst="rect">
            <a:avLst/>
          </a:prstGeom>
          <a:solidFill>
            <a:srgbClr val="0C1C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7429500" y="2857500"/>
            <a:ext cx="4000500" cy="4000500"/>
          </a:xfrm>
          <a:prstGeom prst="rect">
            <a:avLst/>
          </a:prstGeom>
          <a:solidFill>
            <a:srgbClr val="0C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85800" y="533400"/>
            <a:ext cx="76200" cy="76200"/>
          </a:xfrm>
          <a:prstGeom prst="roundRect">
            <a:avLst>
              <a:gd name="adj" fmla="val 25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76300" y="485775"/>
            <a:ext cx="857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 i="0">
                <a:solidFill>
                  <a:srgbClr val="92989E"/>
                </a:solidFill>
                <a:latin typeface="微软雅黑"/>
                <a:ea typeface="微软雅黑"/>
                <a:cs typeface="微软雅黑"/>
              </a:rPr>
              <a:t>粤港澳大湾区 AI Coding 创新大赛 · 方向一「AI + 教学管理助手」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09700"/>
            <a:ext cx="95250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300" b="1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AutoGrader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514600"/>
            <a:ext cx="6667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 i="0">
                <a:solidFill>
                  <a:srgbClr val="2DD4BF"/>
                </a:solidFill>
                <a:latin typeface="微软雅黑"/>
                <a:ea typeface="微软雅黑"/>
                <a:cs typeface="微软雅黑"/>
              </a:rPr>
              <a:t>计算机专业实验报告 · 智能评阅系统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96200" y="25908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050" b="0" i="0">
                <a:solidFill>
                  <a:srgbClr val="666C72"/>
                </a:solidFill>
                <a:latin typeface="Consolas"/>
                <a:ea typeface="Consolas"/>
                <a:cs typeface="Consolas"/>
              </a:rPr>
              <a:t>2 人 · 软件工程 + 计算机科学与技术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7050"/>
            <a:ext cx="10287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950" b="0" i="0">
                <a:solidFill>
                  <a:srgbClr val="E6EDF3"/>
                </a:solidFill>
                <a:latin typeface="微软雅黑"/>
                <a:ea typeface="微软雅黑"/>
                <a:cs typeface="微软雅黑"/>
              </a:rPr>
              <a:t>由 LearnBuddy 专家智能体真实驱动的评阅系统。</a:t>
            </a:r>
          </a:p>
          <a:p>
            <a:pPr algn="l">
              <a:lnSpc>
                <a:spcPct val="160000"/>
              </a:lnSpc>
            </a:pPr>
            <a:r>
              <a:rPr sz="1950" b="0" i="0">
                <a:solidFill>
                  <a:srgbClr val="D4DBE1"/>
                </a:solidFill>
                <a:latin typeface="微软雅黑"/>
                <a:ea typeface="微软雅黑"/>
                <a:cs typeface="微软雅黑"/>
              </a:rPr>
              <a:t>教师用自然语言定义评分点，智能体完成解析 → 逐项取证 → 二次复核 → 成绩与评语。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4600"/>
            <a:ext cx="323850" cy="533400"/>
          </a:xfrm>
          <a:prstGeom prst="rect">
            <a:avLst/>
          </a:prstGeom>
          <a:solidFill>
            <a:srgbClr val="1136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400175" y="6172200"/>
            <a:ext cx="323850" cy="685800"/>
          </a:xfrm>
          <a:prstGeom prst="rect">
            <a:avLst/>
          </a:prstGeom>
          <a:solidFill>
            <a:srgbClr val="134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2114550" y="6229350"/>
            <a:ext cx="323850" cy="628650"/>
          </a:xfrm>
          <a:prstGeom prst="rect">
            <a:avLst/>
          </a:prstGeom>
          <a:solidFill>
            <a:srgbClr val="144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2828925" y="5981700"/>
            <a:ext cx="323850" cy="876300"/>
          </a:xfrm>
          <a:prstGeom prst="rect">
            <a:avLst/>
          </a:prstGeom>
          <a:solidFill>
            <a:srgbClr val="1653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3543300" y="5848350"/>
            <a:ext cx="323850" cy="1009650"/>
          </a:xfrm>
          <a:prstGeom prst="rect">
            <a:avLst/>
          </a:prstGeom>
          <a:solidFill>
            <a:srgbClr val="185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4257675" y="5924550"/>
            <a:ext cx="323850" cy="933450"/>
          </a:xfrm>
          <a:prstGeom prst="rect">
            <a:avLst/>
          </a:prstGeom>
          <a:solidFill>
            <a:srgbClr val="1A6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4972050" y="5638800"/>
            <a:ext cx="323850" cy="1219200"/>
          </a:xfrm>
          <a:prstGeom prst="rect">
            <a:avLst/>
          </a:prstGeom>
          <a:solidFill>
            <a:srgbClr val="1C7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86425" y="5505450"/>
            <a:ext cx="323850" cy="1352550"/>
          </a:xfrm>
          <a:prstGeom prst="rect">
            <a:avLst/>
          </a:prstGeom>
          <a:solidFill>
            <a:srgbClr val="1D7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400800" y="5581650"/>
            <a:ext cx="323850" cy="1276350"/>
          </a:xfrm>
          <a:prstGeom prst="rect">
            <a:avLst/>
          </a:prstGeom>
          <a:solidFill>
            <a:srgbClr val="1F85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115175" y="5276850"/>
            <a:ext cx="323850" cy="1581150"/>
          </a:xfrm>
          <a:prstGeom prst="rect">
            <a:avLst/>
          </a:prstGeom>
          <a:solidFill>
            <a:srgbClr val="21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7829550" y="5124450"/>
            <a:ext cx="323850" cy="1733550"/>
          </a:xfrm>
          <a:prstGeom prst="rect">
            <a:avLst/>
          </a:prstGeom>
          <a:solidFill>
            <a:srgbClr val="229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8543925" y="5219700"/>
            <a:ext cx="323850" cy="1638300"/>
          </a:xfrm>
          <a:prstGeom prst="rect">
            <a:avLst/>
          </a:prstGeom>
          <a:solidFill>
            <a:srgbClr val="24A2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9258300" y="4933950"/>
            <a:ext cx="323850" cy="1924050"/>
          </a:xfrm>
          <a:prstGeom prst="rect">
            <a:avLst/>
          </a:prstGeom>
          <a:solidFill>
            <a:srgbClr val="26AC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9972675" y="4743450"/>
            <a:ext cx="323850" cy="2114550"/>
          </a:xfrm>
          <a:prstGeom prst="rect">
            <a:avLst/>
          </a:prstGeom>
          <a:solidFill>
            <a:srgbClr val="28B6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10687050" y="4838700"/>
            <a:ext cx="323850" cy="2019300"/>
          </a:xfrm>
          <a:prstGeom prst="rect">
            <a:avLst/>
          </a:prstGeom>
          <a:solidFill>
            <a:srgbClr val="29C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11401425" y="4495800"/>
            <a:ext cx="323850" cy="2362200"/>
          </a:xfrm>
          <a:prstGeom prst="rect">
            <a:avLst/>
          </a:prstGeom>
          <a:solidFill>
            <a:srgbClr val="2BCA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685800" y="6848475"/>
            <a:ext cx="10820400" cy="9525"/>
          </a:xfrm>
          <a:prstGeom prst="rect">
            <a:avLst/>
          </a:prstGeom>
          <a:solidFill>
            <a:srgbClr val="144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762000"/>
            <a:ext cx="108204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1" i="0">
                <a:solidFill>
                  <a:srgbClr val="E6EDF3"/>
                </a:solidFill>
                <a:latin typeface="微软雅黑"/>
                <a:ea typeface="微软雅黑"/>
                <a:cs typeface="微软雅黑"/>
              </a:rPr>
              <a:t>三件事正在消耗教师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71575"/>
            <a:ext cx="10820400" cy="9525"/>
          </a:xfrm>
          <a:prstGeom prst="rect">
            <a:avLst/>
          </a:prstGeom>
          <a:solidFill>
            <a:srgbClr val="12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85800" y="6515100"/>
            <a:ext cx="133350" cy="133350"/>
          </a:xfrm>
          <a:prstGeom prst="roundRect">
            <a:avLst>
              <a:gd name="adj" fmla="val 21428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14400" y="649605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0" i="0">
                <a:solidFill>
                  <a:srgbClr val="787E84"/>
                </a:solidFill>
                <a:latin typeface="Consolas"/>
                <a:ea typeface="Consolas"/>
                <a:cs typeface="Consolas"/>
              </a:rPr>
              <a:t>AUTOGRADER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63200" y="6496050"/>
            <a:ext cx="1143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050" b="0" i="0">
                <a:solidFill>
                  <a:srgbClr val="6D7278"/>
                </a:solidFill>
                <a:latin typeface="Consolas"/>
                <a:ea typeface="Consolas"/>
                <a:cs typeface="Consolas"/>
              </a:rPr>
              <a:t>02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47800"/>
            <a:ext cx="3390900" cy="4838700"/>
          </a:xfrm>
          <a:prstGeom prst="roundRect">
            <a:avLst>
              <a:gd name="adj" fmla="val 3932"/>
            </a:avLst>
          </a:prstGeom>
          <a:solidFill>
            <a:srgbClr val="151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52500" y="1714500"/>
            <a:ext cx="28575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979EA5"/>
                </a:solidFill>
                <a:latin typeface="微软雅黑"/>
                <a:ea typeface="微软雅黑"/>
                <a:cs typeface="微软雅黑"/>
              </a:rPr>
              <a:t>评阅的真正瓶颈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171700"/>
            <a:ext cx="2857500" cy="781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 i="0">
                <a:solidFill>
                  <a:srgbClr val="2DD4BF"/>
                </a:solidFill>
                <a:latin typeface="Consolas"/>
                <a:ea typeface="Consolas"/>
                <a:cs typeface="Consolas"/>
              </a:rPr>
              <a:t>10–20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3028950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 i="0">
                <a:solidFill>
                  <a:srgbClr val="979EA5"/>
                </a:solidFill>
                <a:latin typeface="微软雅黑"/>
                <a:ea typeface="微软雅黑"/>
                <a:cs typeface="微软雅黑"/>
              </a:rPr>
              <a:t>小时 / 一个教学班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52500" y="3409950"/>
            <a:ext cx="2857500" cy="9525"/>
          </a:xfrm>
          <a:prstGeom prst="rect">
            <a:avLst/>
          </a:prstGeom>
          <a:solidFill>
            <a:srgbClr val="1A44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2500" y="3562350"/>
            <a:ext cx="2857500" cy="647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650" b="1" i="0">
                <a:solidFill>
                  <a:srgbClr val="E6EDF3"/>
                </a:solidFill>
                <a:latin typeface="微软雅黑"/>
                <a:ea typeface="微软雅黑"/>
                <a:cs typeface="微软雅黑"/>
              </a:rPr>
              <a:t>不在「打分」，在「逐点找证据」。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4286250"/>
            <a:ext cx="28575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350" b="0" i="0">
                <a:solidFill>
                  <a:srgbClr val="888F97"/>
                </a:solidFill>
                <a:latin typeface="微软雅黑"/>
                <a:ea typeface="微软雅黑"/>
                <a:cs typeface="微软雅黑"/>
              </a:rPr>
              <a:t>批改的时间几乎都花在翻报告、定位依据、回忆标准上，而不是教学判断本身。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5219700"/>
            <a:ext cx="28575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75" b="0" i="0">
                <a:solidFill>
                  <a:srgbClr val="2BC2B0"/>
                </a:solidFill>
                <a:latin typeface="微软雅黑"/>
                <a:ea typeface="微软雅黑"/>
                <a:cs typeface="微软雅黑"/>
              </a:rPr>
              <a:t>→ 逐点定位到报告原文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5505450"/>
            <a:ext cx="28575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75" b="0" i="0">
                <a:solidFill>
                  <a:srgbClr val="2BC2B0"/>
                </a:solidFill>
                <a:latin typeface="微软雅黑"/>
                <a:ea typeface="微软雅黑"/>
                <a:cs typeface="微软雅黑"/>
              </a:rPr>
              <a:t>→ 判定可被第三方复算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5791200"/>
            <a:ext cx="28575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75" b="0" i="0">
                <a:solidFill>
                  <a:srgbClr val="2BC2B0"/>
                </a:solidFill>
                <a:latin typeface="微软雅黑"/>
                <a:ea typeface="微软雅黑"/>
                <a:cs typeface="微软雅黑"/>
              </a:rPr>
              <a:t>→ 复核痕迹完整保留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57700" y="1447800"/>
            <a:ext cx="7048500" cy="1524000"/>
          </a:xfrm>
          <a:prstGeom prst="roundRect">
            <a:avLst>
              <a:gd name="adj" fmla="val 8750"/>
            </a:avLst>
          </a:prstGeom>
          <a:solidFill>
            <a:srgbClr val="151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4648200" y="1638300"/>
            <a:ext cx="419100" cy="419100"/>
          </a:xfrm>
          <a:prstGeom prst="roundRect">
            <a:avLst>
              <a:gd name="adj" fmla="val 27272"/>
            </a:avLst>
          </a:prstGeom>
          <a:solidFill>
            <a:srgbClr val="1D5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257800" y="1619250"/>
            <a:ext cx="60579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50" b="1" i="0">
                <a:solidFill>
                  <a:srgbClr val="E6EDF3"/>
                </a:solidFill>
                <a:latin typeface="微软雅黑"/>
                <a:ea typeface="微软雅黑"/>
                <a:cs typeface="微软雅黑"/>
              </a:rPr>
              <a:t>量大且高度重复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1962150"/>
            <a:ext cx="60579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 i="0">
                <a:solidFill>
                  <a:srgbClr val="979EA5"/>
                </a:solidFill>
                <a:latin typeface="微软雅黑"/>
                <a:ea typeface="微软雅黑"/>
                <a:cs typeface="微软雅黑"/>
              </a:rPr>
              <a:t>一个班四十份实验报告，教师要逐份比对代码实现、运行截图与结论表述。动作高度雷同，注意力却被反复切碎，越批到后面越容易松。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57700" y="3105150"/>
            <a:ext cx="7048500" cy="1524000"/>
          </a:xfrm>
          <a:prstGeom prst="roundRect">
            <a:avLst>
              <a:gd name="adj" fmla="val 8750"/>
            </a:avLst>
          </a:prstGeom>
          <a:solidFill>
            <a:srgbClr val="151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4648200" y="3295650"/>
            <a:ext cx="419100" cy="419100"/>
          </a:xfrm>
          <a:prstGeom prst="roundRect">
            <a:avLst>
              <a:gd name="adj" fmla="val 27272"/>
            </a:avLst>
          </a:prstGeom>
          <a:solidFill>
            <a:srgbClr val="1D5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257800" y="3276600"/>
            <a:ext cx="60579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50" b="1" i="0">
                <a:solidFill>
                  <a:srgbClr val="E6EDF3"/>
                </a:solidFill>
                <a:latin typeface="微软雅黑"/>
                <a:ea typeface="微软雅黑"/>
                <a:cs typeface="微软雅黑"/>
              </a:rPr>
              <a:t>标准会悄悄漂移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57800" y="3619500"/>
            <a:ext cx="60579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 i="0">
                <a:solidFill>
                  <a:srgbClr val="979EA5"/>
                </a:solidFill>
                <a:latin typeface="微软雅黑"/>
                <a:ea typeface="微软雅黑"/>
                <a:cs typeface="微软雅黑"/>
              </a:rPr>
              <a:t>评分点条目多、执行靠临场记忆。同一份报告隔两周再批，判定未必一致；学生申诉时，教师也很难说清「当时为什么给这个分」。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57700" y="4762500"/>
            <a:ext cx="7048500" cy="1524000"/>
          </a:xfrm>
          <a:prstGeom prst="roundRect">
            <a:avLst>
              <a:gd name="adj" fmla="val 8750"/>
            </a:avLst>
          </a:prstGeom>
          <a:solidFill>
            <a:srgbClr val="151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4648200" y="4953000"/>
            <a:ext cx="419100" cy="419100"/>
          </a:xfrm>
          <a:prstGeom prst="roundRect">
            <a:avLst>
              <a:gd name="adj" fmla="val 27272"/>
            </a:avLst>
          </a:prstGeom>
          <a:solidFill>
            <a:srgbClr val="1D5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257800" y="4933950"/>
            <a:ext cx="60579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50" b="1" i="0">
                <a:solidFill>
                  <a:srgbClr val="E6EDF3"/>
                </a:solidFill>
                <a:latin typeface="微软雅黑"/>
                <a:ea typeface="微软雅黑"/>
                <a:cs typeface="微软雅黑"/>
              </a:rPr>
              <a:t>反馈落不到下一步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5276850"/>
            <a:ext cx="60579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 i="0">
                <a:solidFill>
                  <a:srgbClr val="979EA5"/>
                </a:solidFill>
                <a:latin typeface="微软雅黑"/>
                <a:ea typeface="微软雅黑"/>
                <a:cs typeface="微软雅黑"/>
              </a:rPr>
              <a:t>学生收到的往往只有分数和一句「注意规范」，不知道哪一处被扣、依据在报告哪一行、下次该怎么改。评语回不到证据，也就传不出方法。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762000"/>
            <a:ext cx="108204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1" i="0">
                <a:solidFill>
                  <a:srgbClr val="E6EDF3"/>
                </a:solidFill>
                <a:latin typeface="微软雅黑"/>
                <a:ea typeface="微软雅黑"/>
                <a:cs typeface="微软雅黑"/>
              </a:rPr>
              <a:t>赛题的三句定语，就是三条必答题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71575"/>
            <a:ext cx="10820400" cy="9525"/>
          </a:xfrm>
          <a:prstGeom prst="rect">
            <a:avLst/>
          </a:prstGeom>
          <a:solidFill>
            <a:srgbClr val="12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85800" y="6515100"/>
            <a:ext cx="133350" cy="133350"/>
          </a:xfrm>
          <a:prstGeom prst="roundRect">
            <a:avLst>
              <a:gd name="adj" fmla="val 21428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14400" y="649605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0" i="0">
                <a:solidFill>
                  <a:srgbClr val="787E84"/>
                </a:solidFill>
                <a:latin typeface="Consolas"/>
                <a:ea typeface="Consolas"/>
                <a:cs typeface="Consolas"/>
              </a:rPr>
              <a:t>AUTOGRADER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63200" y="6496050"/>
            <a:ext cx="1143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050" b="0" i="0">
                <a:solidFill>
                  <a:srgbClr val="6D7278"/>
                </a:solidFill>
                <a:latin typeface="Consolas"/>
                <a:ea typeface="Consolas"/>
                <a:cs typeface="Consolas"/>
              </a:rPr>
              <a:t>03 / 18</a:t>
            </a:r>
          </a:p>
        </p:txBody>
      </p:sp>
      <p:sp>
        <p:nvSpPr>
          <p:cNvPr id="7" name="Rectangle 6"/>
          <p:cNvSpPr/>
          <p:nvPr/>
        </p:nvSpPr>
        <p:spPr>
          <a:xfrm>
            <a:off x="7239000" y="1143000"/>
            <a:ext cx="4953000" cy="4000500"/>
          </a:xfrm>
          <a:prstGeom prst="rect">
            <a:avLst/>
          </a:prstGeom>
          <a:solidFill>
            <a:srgbClr val="0C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685800" y="1447800"/>
            <a:ext cx="57150" cy="57150"/>
          </a:xfrm>
          <a:prstGeom prst="roundRect">
            <a:avLst>
              <a:gd name="adj" fmla="val 33333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38200" y="14097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75" b="0" i="0">
                <a:solidFill>
                  <a:srgbClr val="83898F"/>
                </a:solidFill>
                <a:latin typeface="微软雅黑"/>
                <a:ea typeface="微软雅黑"/>
                <a:cs typeface="微软雅黑"/>
              </a:rPr>
              <a:t>方向一 · 参赛小项原文（60%）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86650" y="1447800"/>
            <a:ext cx="57150" cy="57150"/>
          </a:xfrm>
          <a:prstGeom prst="roundRect">
            <a:avLst>
              <a:gd name="adj" fmla="val 33333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39050" y="14097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75" b="0" i="0">
                <a:solidFill>
                  <a:srgbClr val="83898F"/>
                </a:solidFill>
                <a:latin typeface="微软雅黑"/>
                <a:ea typeface="微软雅黑"/>
                <a:cs typeface="微软雅黑"/>
              </a:rPr>
              <a:t>落到产品上的回答（40%）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1828800"/>
            <a:ext cx="6496050" cy="1397000"/>
          </a:xfrm>
          <a:prstGeom prst="roundRect">
            <a:avLst>
              <a:gd name="adj" fmla="val 8181"/>
            </a:avLst>
          </a:prstGeom>
          <a:solidFill>
            <a:srgbClr val="151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76300" y="2076450"/>
            <a:ext cx="381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1" i="0">
                <a:solidFill>
                  <a:srgbClr val="2DD4BF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9700" y="2019300"/>
            <a:ext cx="55816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950" b="1" i="0">
                <a:solidFill>
                  <a:srgbClr val="E6EDF3"/>
                </a:solidFill>
                <a:latin typeface="微软雅黑"/>
                <a:ea typeface="微软雅黑"/>
                <a:cs typeface="微软雅黑"/>
              </a:rPr>
              <a:t>实验报告自动解析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9700" y="2419350"/>
            <a:ext cx="55816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 i="0">
                <a:solidFill>
                  <a:srgbClr val="9299A1"/>
                </a:solidFill>
                <a:latin typeface="微软雅黑"/>
                <a:ea typeface="微软雅黑"/>
                <a:cs typeface="微软雅黑"/>
              </a:rPr>
              <a:t>报告里的文字、代码、截图，你能不能真的读懂？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86650" y="1828800"/>
            <a:ext cx="4019550" cy="1397000"/>
          </a:xfrm>
          <a:prstGeom prst="roundRect">
            <a:avLst>
              <a:gd name="adj" fmla="val 8181"/>
            </a:avLst>
          </a:prstGeom>
          <a:solidFill>
            <a:srgbClr val="151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7486650" y="1828800"/>
            <a:ext cx="28575" cy="1397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658100" y="2019300"/>
            <a:ext cx="36766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i="0">
                <a:solidFill>
                  <a:srgbClr val="E6EDF3"/>
                </a:solidFill>
                <a:latin typeface="微软雅黑"/>
                <a:ea typeface="微软雅黑"/>
                <a:cs typeface="微软雅黑"/>
              </a:rPr>
              <a:t>多模态解析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58100" y="2343150"/>
            <a:ext cx="36766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75" b="0" i="0">
                <a:solidFill>
                  <a:srgbClr val="A3AAB1"/>
                </a:solidFill>
                <a:latin typeface="微软雅黑"/>
                <a:ea typeface="微软雅黑"/>
                <a:cs typeface="微软雅黑"/>
              </a:rPr>
              <a:t>章节结构树 + 代码块识别 + 图表定位，先把报告拆成可核查的结构。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3359150"/>
            <a:ext cx="6496050" cy="1397000"/>
          </a:xfrm>
          <a:prstGeom prst="roundRect">
            <a:avLst>
              <a:gd name="adj" fmla="val 8181"/>
            </a:avLst>
          </a:prstGeom>
          <a:solidFill>
            <a:srgbClr val="151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76300" y="3606800"/>
            <a:ext cx="381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1" i="0">
                <a:solidFill>
                  <a:srgbClr val="2DD4BF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3549650"/>
            <a:ext cx="55816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950" b="1" i="0">
                <a:solidFill>
                  <a:srgbClr val="E6EDF3"/>
                </a:solidFill>
                <a:latin typeface="微软雅黑"/>
                <a:ea typeface="微软雅黑"/>
                <a:cs typeface="微软雅黑"/>
              </a:rPr>
              <a:t>评分点逐项核查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09700" y="3949700"/>
            <a:ext cx="55816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 i="0">
                <a:solidFill>
                  <a:srgbClr val="9299A1"/>
                </a:solidFill>
                <a:latin typeface="微软雅黑"/>
                <a:ea typeface="微软雅黑"/>
                <a:cs typeface="微软雅黑"/>
              </a:rPr>
              <a:t>你是不是逐个评分点去找证据、再给判定？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86650" y="3359150"/>
            <a:ext cx="4019550" cy="1397000"/>
          </a:xfrm>
          <a:prstGeom prst="roundRect">
            <a:avLst>
              <a:gd name="adj" fmla="val 8181"/>
            </a:avLst>
          </a:prstGeom>
          <a:solidFill>
            <a:srgbClr val="151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7486650" y="3359150"/>
            <a:ext cx="28575" cy="1397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658100" y="3549650"/>
            <a:ext cx="36766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i="0">
                <a:solidFill>
                  <a:srgbClr val="E6EDF3"/>
                </a:solidFill>
                <a:latin typeface="微软雅黑"/>
                <a:ea typeface="微软雅黑"/>
                <a:cs typeface="微软雅黑"/>
              </a:rPr>
              <a:t>逐项四元组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58100" y="3873500"/>
            <a:ext cx="36766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75" b="0" i="0">
                <a:solidFill>
                  <a:srgbClr val="A3AAB1"/>
                </a:solidFill>
                <a:latin typeface="微软雅黑"/>
                <a:ea typeface="微软雅黑"/>
                <a:cs typeface="微软雅黑"/>
              </a:rPr>
              <a:t>Rubric 驱动的「评分点—证据—判定—理由」，逐点留痕、逐点给依据。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5800" y="4889500"/>
            <a:ext cx="6496050" cy="1397000"/>
          </a:xfrm>
          <a:prstGeom prst="roundRect">
            <a:avLst>
              <a:gd name="adj" fmla="val 8181"/>
            </a:avLst>
          </a:prstGeom>
          <a:solidFill>
            <a:srgbClr val="151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76300" y="5137150"/>
            <a:ext cx="381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1" i="0">
                <a:solidFill>
                  <a:srgbClr val="2DD4BF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09700" y="5080000"/>
            <a:ext cx="55816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950" b="1" i="0">
                <a:solidFill>
                  <a:srgbClr val="E6EDF3"/>
                </a:solidFill>
                <a:latin typeface="微软雅黑"/>
                <a:ea typeface="微软雅黑"/>
                <a:cs typeface="微软雅黑"/>
              </a:rPr>
              <a:t>成绩评语智能生成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09700" y="5480050"/>
            <a:ext cx="55816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 i="0">
                <a:solidFill>
                  <a:srgbClr val="9299A1"/>
                </a:solidFill>
                <a:latin typeface="微软雅黑"/>
                <a:ea typeface="微软雅黑"/>
                <a:cs typeface="微软雅黑"/>
              </a:rPr>
              <a:t>除了分数，有没有给学生一句可执行的话？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86650" y="4889500"/>
            <a:ext cx="4019550" cy="1397000"/>
          </a:xfrm>
          <a:prstGeom prst="roundRect">
            <a:avLst>
              <a:gd name="adj" fmla="val 8181"/>
            </a:avLst>
          </a:prstGeom>
          <a:solidFill>
            <a:srgbClr val="151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7486650" y="4889500"/>
            <a:ext cx="28575" cy="1397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658100" y="5080000"/>
            <a:ext cx="36766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i="0">
                <a:solidFill>
                  <a:srgbClr val="E6EDF3"/>
                </a:solidFill>
                <a:latin typeface="微软雅黑"/>
                <a:ea typeface="微软雅黑"/>
                <a:cs typeface="微软雅黑"/>
              </a:rPr>
              <a:t>可追溯的评语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58100" y="5403850"/>
            <a:ext cx="36766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75" b="0" i="0">
                <a:solidFill>
                  <a:srgbClr val="A3AAB1"/>
                </a:solidFill>
                <a:latin typeface="微软雅黑"/>
                <a:ea typeface="微软雅黑"/>
                <a:cs typeface="微软雅黑"/>
              </a:rPr>
              <a:t>个性化、非模板化，每一句都指回报告里的具体位置。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286000" y="571500"/>
            <a:ext cx="7620000" cy="5715000"/>
          </a:xfrm>
          <a:prstGeom prst="rect">
            <a:avLst/>
          </a:prstGeom>
          <a:solidFill>
            <a:srgbClr val="0C1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6096000"/>
            <a:ext cx="12192000" cy="9525"/>
          </a:xfrm>
          <a:prstGeom prst="rect">
            <a:avLst/>
          </a:prstGeom>
          <a:solidFill>
            <a:srgbClr val="123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143000" y="1257300"/>
            <a:ext cx="1905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1" i="0">
                <a:solidFill>
                  <a:srgbClr val="2AC0AE"/>
                </a:solidFill>
                <a:latin typeface="微软雅黑"/>
                <a:ea typeface="微软雅黑"/>
                <a:cs typeface="微软雅黑"/>
              </a:rPr>
              <a:t>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362200"/>
            <a:ext cx="9906000" cy="133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3300" b="1" i="0">
                <a:solidFill>
                  <a:srgbClr val="E6EDF3"/>
                </a:solidFill>
                <a:latin typeface="微软雅黑"/>
                <a:ea typeface="微软雅黑"/>
                <a:cs typeface="微软雅黑"/>
              </a:rPr>
              <a:t>AI 跑在 LearnBuddy 里，产品放在浏览器里，</a:t>
            </a:r>
          </a:p>
          <a:p>
            <a:pPr algn="l">
              <a:lnSpc>
                <a:spcPct val="145000"/>
              </a:lnSpc>
            </a:pPr>
            <a:r>
              <a:rPr sz="3300" b="1" i="0">
                <a:solidFill>
                  <a:srgbClr val="E6EDF3"/>
                </a:solidFill>
                <a:latin typeface="微软雅黑"/>
                <a:ea typeface="微软雅黑"/>
                <a:cs typeface="微软雅黑"/>
              </a:rPr>
              <a:t>证据留在仓库和对话记录里。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3829050"/>
            <a:ext cx="9906000" cy="9525"/>
          </a:xfrm>
          <a:prstGeom prst="rect">
            <a:avLst/>
          </a:prstGeom>
          <a:solidFill>
            <a:srgbClr val="144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143000" y="4076700"/>
            <a:ext cx="381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1" i="0">
                <a:solidFill>
                  <a:srgbClr val="2DD4BF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7350" y="4076700"/>
            <a:ext cx="94297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5" b="0" i="0">
                <a:solidFill>
                  <a:srgbClr val="9BA1A7"/>
                </a:solidFill>
                <a:latin typeface="微软雅黑"/>
                <a:ea typeface="微软雅黑"/>
                <a:cs typeface="微软雅黑"/>
              </a:rPr>
              <a:t>推理在对话侧 —— AI 能力由 LearnBuddy 专家智能体承载，不在浏览器里发起任何模型调用。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495800"/>
            <a:ext cx="381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1" i="0">
                <a:solidFill>
                  <a:srgbClr val="2DD4BF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57350" y="4495800"/>
            <a:ext cx="94297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5" b="0" i="0">
                <a:solidFill>
                  <a:srgbClr val="9BA1A7"/>
                </a:solidFill>
                <a:latin typeface="微软雅黑"/>
                <a:ea typeface="微软雅黑"/>
                <a:cs typeface="微软雅黑"/>
              </a:rPr>
              <a:t>产品在浏览器里 —— Web 端运行时零 AI 调用、零后端，只做确定性渲染与纯前端规则核查。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914900"/>
            <a:ext cx="381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1" i="0">
                <a:solidFill>
                  <a:srgbClr val="2DD4BF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7350" y="4914900"/>
            <a:ext cx="94297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5" b="0" i="0">
                <a:solidFill>
                  <a:srgbClr val="9BA1A7"/>
                </a:solidFill>
                <a:latin typeface="微软雅黑"/>
                <a:ea typeface="微软雅黑"/>
                <a:cs typeface="微软雅黑"/>
              </a:rPr>
              <a:t>证据在仓库里 —— 每个分数都能追到评分点、证据引用与报告原文的逐字位置。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56197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i="0">
                <a:solidFill>
                  <a:srgbClr val="666C72"/>
                </a:solidFill>
                <a:latin typeface="Consolas"/>
                <a:ea typeface="Consolas"/>
                <a:cs typeface="Consolas"/>
              </a:rPr>
              <a:t>02 · COMPILE-TIME AI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762000"/>
            <a:ext cx="108204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1" i="0">
                <a:solidFill>
                  <a:srgbClr val="E6EDF3"/>
                </a:solidFill>
                <a:latin typeface="微软雅黑"/>
                <a:ea typeface="微软雅黑"/>
                <a:cs typeface="微软雅黑"/>
              </a:rPr>
              <a:t>同一个能力，两种放法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71575"/>
            <a:ext cx="10820400" cy="9525"/>
          </a:xfrm>
          <a:prstGeom prst="rect">
            <a:avLst/>
          </a:prstGeom>
          <a:solidFill>
            <a:srgbClr val="12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85800" y="6515100"/>
            <a:ext cx="133350" cy="133350"/>
          </a:xfrm>
          <a:prstGeom prst="roundRect">
            <a:avLst>
              <a:gd name="adj" fmla="val 21428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14400" y="649605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0" i="0">
                <a:solidFill>
                  <a:srgbClr val="787E84"/>
                </a:solidFill>
                <a:latin typeface="Consolas"/>
                <a:ea typeface="Consolas"/>
                <a:cs typeface="Consolas"/>
              </a:rPr>
              <a:t>AUTOGRADER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63200" y="6496050"/>
            <a:ext cx="1143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050" b="0" i="0">
                <a:solidFill>
                  <a:srgbClr val="6D7278"/>
                </a:solidFill>
                <a:latin typeface="Consolas"/>
                <a:ea typeface="Consolas"/>
                <a:cs typeface="Consolas"/>
              </a:rPr>
              <a:t>05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47800"/>
            <a:ext cx="10820400" cy="2095500"/>
          </a:xfrm>
          <a:prstGeom prst="roundRect">
            <a:avLst>
              <a:gd name="adj" fmla="val 6363"/>
            </a:avLst>
          </a:prstGeom>
          <a:solidFill>
            <a:srgbClr val="1218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95350" y="1619250"/>
            <a:ext cx="3810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i="0">
                <a:solidFill>
                  <a:srgbClr val="BCC3CA"/>
                </a:solidFill>
                <a:latin typeface="微软雅黑"/>
                <a:ea typeface="微软雅黑"/>
                <a:cs typeface="微软雅黑"/>
              </a:rPr>
              <a:t>常规做法 · Runtime AI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29700" y="1619250"/>
            <a:ext cx="2266950" cy="285750"/>
          </a:xfrm>
          <a:prstGeom prst="roundRect">
            <a:avLst>
              <a:gd name="adj" fmla="val 20000"/>
            </a:avLst>
          </a:prstGeom>
          <a:solidFill>
            <a:srgbClr val="2A3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144000" y="1676400"/>
            <a:ext cx="2095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5" b="0" i="0">
                <a:solidFill>
                  <a:srgbClr val="A7AEB6"/>
                </a:solidFill>
                <a:latin typeface="微软雅黑"/>
                <a:ea typeface="微软雅黑"/>
                <a:cs typeface="微软雅黑"/>
              </a:rPr>
              <a:t>与「平台唯一」约束冲突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5350" y="2038350"/>
            <a:ext cx="819150" cy="438150"/>
          </a:xfrm>
          <a:prstGeom prst="roundRect">
            <a:avLst>
              <a:gd name="adj" fmla="val 17391"/>
            </a:avLst>
          </a:prstGeom>
          <a:solidFill>
            <a:srgbClr val="172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95350" y="2143125"/>
            <a:ext cx="819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75" b="0" i="0">
                <a:solidFill>
                  <a:srgbClr val="BCC3CA"/>
                </a:solidFill>
                <a:latin typeface="微软雅黑"/>
                <a:ea typeface="微软雅黑"/>
                <a:cs typeface="微软雅黑"/>
              </a:rPr>
              <a:t>用户上传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1752600" y="2171700"/>
            <a:ext cx="171450" cy="171450"/>
          </a:xfrm>
          <a:prstGeom prst="rightArrow">
            <a:avLst/>
          </a:prstGeom>
          <a:solidFill>
            <a:srgbClr val="238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1962150" y="2038350"/>
            <a:ext cx="666750" cy="438150"/>
          </a:xfrm>
          <a:prstGeom prst="roundRect">
            <a:avLst>
              <a:gd name="adj" fmla="val 17391"/>
            </a:avLst>
          </a:prstGeom>
          <a:solidFill>
            <a:srgbClr val="172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962150" y="2143125"/>
            <a:ext cx="6667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75" b="0" i="0">
                <a:solidFill>
                  <a:srgbClr val="BCC3CA"/>
                </a:solidFill>
                <a:latin typeface="微软雅黑"/>
                <a:ea typeface="微软雅黑"/>
                <a:cs typeface="微软雅黑"/>
              </a:rPr>
              <a:t>浏览器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2667000" y="2171700"/>
            <a:ext cx="171450" cy="171450"/>
          </a:xfrm>
          <a:prstGeom prst="rightArrow">
            <a:avLst/>
          </a:prstGeom>
          <a:solidFill>
            <a:srgbClr val="238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2876550" y="2038350"/>
            <a:ext cx="800100" cy="438150"/>
          </a:xfrm>
          <a:prstGeom prst="roundRect">
            <a:avLst>
              <a:gd name="adj" fmla="val 17391"/>
            </a:avLst>
          </a:prstGeom>
          <a:solidFill>
            <a:srgbClr val="172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876550" y="2143125"/>
            <a:ext cx="800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75" b="0" i="0">
                <a:solidFill>
                  <a:srgbClr val="BCC3CA"/>
                </a:solidFill>
                <a:latin typeface="微软雅黑"/>
                <a:ea typeface="微软雅黑"/>
                <a:cs typeface="微软雅黑"/>
              </a:rPr>
              <a:t>自建后端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3714750" y="2171700"/>
            <a:ext cx="171450" cy="171450"/>
          </a:xfrm>
          <a:prstGeom prst="rightArrow">
            <a:avLst/>
          </a:prstGeom>
          <a:solidFill>
            <a:srgbClr val="238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3924300" y="2038350"/>
            <a:ext cx="990600" cy="438150"/>
          </a:xfrm>
          <a:prstGeom prst="roundRect">
            <a:avLst>
              <a:gd name="adj" fmla="val 17391"/>
            </a:avLst>
          </a:prstGeom>
          <a:solidFill>
            <a:srgbClr val="2E3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3924300" y="2143125"/>
            <a:ext cx="990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75" b="0" i="0">
                <a:solidFill>
                  <a:srgbClr val="9299A1"/>
                </a:solidFill>
                <a:latin typeface="微软雅黑"/>
                <a:ea typeface="微软雅黑"/>
                <a:cs typeface="微软雅黑"/>
              </a:rPr>
              <a:t>第三方 LLM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953000" y="2171700"/>
            <a:ext cx="171450" cy="171450"/>
          </a:xfrm>
          <a:prstGeom prst="rightArrow">
            <a:avLst/>
          </a:prstGeom>
          <a:solidFill>
            <a:srgbClr val="238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5162550" y="2038350"/>
            <a:ext cx="666750" cy="438150"/>
          </a:xfrm>
          <a:prstGeom prst="roundRect">
            <a:avLst>
              <a:gd name="adj" fmla="val 17391"/>
            </a:avLst>
          </a:prstGeom>
          <a:solidFill>
            <a:srgbClr val="172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162550" y="2143125"/>
            <a:ext cx="6667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75" b="0" i="0">
                <a:solidFill>
                  <a:srgbClr val="BCC3CA"/>
                </a:solidFill>
                <a:latin typeface="微软雅黑"/>
                <a:ea typeface="微软雅黑"/>
                <a:cs typeface="微软雅黑"/>
              </a:rPr>
              <a:t>数据库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5350" y="2609850"/>
            <a:ext cx="10401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275" b="0" i="0">
                <a:solidFill>
                  <a:srgbClr val="8E959D"/>
                </a:solidFill>
                <a:latin typeface="微软雅黑"/>
                <a:ea typeface="微软雅黑"/>
                <a:cs typeface="微软雅黑"/>
              </a:rPr>
              <a:t>这条路能把产品跑起来，代价是：AI 调用发生在平台之外，与赛题「以 LearnBuddy 为唯一指定平台」直接冲突；而且模型每次回答都可能不同，同一个分数无法被第三方复算。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3695700"/>
            <a:ext cx="10820400" cy="2590800"/>
          </a:xfrm>
          <a:prstGeom prst="roundRect">
            <a:avLst>
              <a:gd name="adj" fmla="val 5147"/>
            </a:avLst>
          </a:prstGeom>
          <a:solidFill>
            <a:srgbClr val="151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685800" y="3695700"/>
            <a:ext cx="28575" cy="25908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95350" y="3867150"/>
            <a:ext cx="3810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i="0">
                <a:solidFill>
                  <a:srgbClr val="2DD4BF"/>
                </a:solidFill>
                <a:latin typeface="微软雅黑"/>
                <a:ea typeface="微软雅黑"/>
                <a:cs typeface="微软雅黑"/>
              </a:rPr>
              <a:t>本项目 · Compile-time AI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505950" y="3867150"/>
            <a:ext cx="1790700" cy="285750"/>
          </a:xfrm>
          <a:prstGeom prst="roundRect">
            <a:avLst>
              <a:gd name="adj" fmla="val 20000"/>
            </a:avLst>
          </a:prstGeom>
          <a:solidFill>
            <a:srgbClr val="183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620250" y="3924300"/>
            <a:ext cx="1619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5" b="0" i="0">
                <a:solidFill>
                  <a:srgbClr val="2DD4BF"/>
                </a:solidFill>
                <a:latin typeface="微软雅黑"/>
                <a:ea typeface="微软雅黑"/>
                <a:cs typeface="微软雅黑"/>
              </a:rPr>
              <a:t>零 AI 调用 · 零后端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5350" y="440055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5" b="0" i="0">
                <a:solidFill>
                  <a:srgbClr val="2DD4BF"/>
                </a:solidFill>
                <a:latin typeface="Consolas"/>
                <a:ea typeface="Consolas"/>
                <a:cs typeface="Consolas"/>
              </a:rPr>
              <a:t>开发时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562100" y="4286250"/>
            <a:ext cx="2209800" cy="419100"/>
          </a:xfrm>
          <a:prstGeom prst="roundRect">
            <a:avLst>
              <a:gd name="adj" fmla="val 18181"/>
            </a:avLst>
          </a:prstGeom>
          <a:solidFill>
            <a:srgbClr val="172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562100" y="4410075"/>
            <a:ext cx="22098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5" b="0" i="0">
                <a:solidFill>
                  <a:srgbClr val="C7CED4"/>
                </a:solidFill>
                <a:latin typeface="微软雅黑"/>
                <a:ea typeface="微软雅黑"/>
                <a:cs typeface="微软雅黑"/>
              </a:rPr>
              <a:t>LearnBuddy 对话中上传报告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3848100" y="4419600"/>
            <a:ext cx="152400" cy="152400"/>
          </a:xfrm>
          <a:prstGeom prst="rightArrow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ounded Rectangle 34"/>
          <p:cNvSpPr/>
          <p:nvPr/>
        </p:nvSpPr>
        <p:spPr>
          <a:xfrm>
            <a:off x="4076700" y="4286250"/>
            <a:ext cx="1771650" cy="419100"/>
          </a:xfrm>
          <a:prstGeom prst="roundRect">
            <a:avLst>
              <a:gd name="adj" fmla="val 18181"/>
            </a:avLst>
          </a:prstGeom>
          <a:solidFill>
            <a:srgbClr val="172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4076700" y="4410075"/>
            <a:ext cx="17716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5" b="0" i="0">
                <a:solidFill>
                  <a:srgbClr val="C7CED4"/>
                </a:solidFill>
                <a:latin typeface="微软雅黑"/>
                <a:ea typeface="微软雅黑"/>
                <a:cs typeface="微软雅黑"/>
              </a:rPr>
              <a:t>五 Agent 流水线推理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5924550" y="4419600"/>
            <a:ext cx="152400" cy="152400"/>
          </a:xfrm>
          <a:prstGeom prst="rightArrow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ounded Rectangle 37"/>
          <p:cNvSpPr/>
          <p:nvPr/>
        </p:nvSpPr>
        <p:spPr>
          <a:xfrm>
            <a:off x="6153150" y="4286250"/>
            <a:ext cx="1600200" cy="419100"/>
          </a:xfrm>
          <a:prstGeom prst="roundRect">
            <a:avLst>
              <a:gd name="adj" fmla="val 18181"/>
            </a:avLst>
          </a:prstGeom>
          <a:solidFill>
            <a:srgbClr val="172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153150" y="4410075"/>
            <a:ext cx="16002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5" b="0" i="0">
                <a:solidFill>
                  <a:srgbClr val="C7CED4"/>
                </a:solidFill>
                <a:latin typeface="微软雅黑"/>
                <a:ea typeface="微软雅黑"/>
                <a:cs typeface="微软雅黑"/>
              </a:rPr>
              <a:t>ReviewResult JSON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5350" y="493395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5" b="0" i="0">
                <a:solidFill>
                  <a:srgbClr val="2DD4BF"/>
                </a:solidFill>
                <a:latin typeface="Consolas"/>
                <a:ea typeface="Consolas"/>
                <a:cs typeface="Consolas"/>
              </a:rPr>
              <a:t>运行时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562100" y="4819650"/>
            <a:ext cx="1866900" cy="419100"/>
          </a:xfrm>
          <a:prstGeom prst="roundRect">
            <a:avLst>
              <a:gd name="adj" fmla="val 18181"/>
            </a:avLst>
          </a:prstGeom>
          <a:solidFill>
            <a:srgbClr val="172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1562100" y="4943475"/>
            <a:ext cx="18669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5" b="0" i="0">
                <a:solidFill>
                  <a:srgbClr val="C7CED4"/>
                </a:solidFill>
                <a:latin typeface="微软雅黑"/>
                <a:ea typeface="微软雅黑"/>
                <a:cs typeface="微软雅黑"/>
              </a:rPr>
              <a:t>浏览器读仓库内 JSON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3505200" y="4953000"/>
            <a:ext cx="152400" cy="152400"/>
          </a:xfrm>
          <a:prstGeom prst="rightArrow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ounded Rectangle 43"/>
          <p:cNvSpPr/>
          <p:nvPr/>
        </p:nvSpPr>
        <p:spPr>
          <a:xfrm>
            <a:off x="3733800" y="4819650"/>
            <a:ext cx="1066800" cy="419100"/>
          </a:xfrm>
          <a:prstGeom prst="roundRect">
            <a:avLst>
              <a:gd name="adj" fmla="val 18181"/>
            </a:avLst>
          </a:prstGeom>
          <a:solidFill>
            <a:srgbClr val="172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3733800" y="4943475"/>
            <a:ext cx="10668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5" b="0" i="0">
                <a:solidFill>
                  <a:srgbClr val="C7CED4"/>
                </a:solidFill>
                <a:latin typeface="微软雅黑"/>
                <a:ea typeface="微软雅黑"/>
                <a:cs typeface="微软雅黑"/>
              </a:rPr>
              <a:t>确定性渲染</a:t>
            </a:r>
          </a:p>
        </p:txBody>
      </p:sp>
      <p:sp>
        <p:nvSpPr>
          <p:cNvPr id="46" name="Right Arrow 45"/>
          <p:cNvSpPr/>
          <p:nvPr/>
        </p:nvSpPr>
        <p:spPr>
          <a:xfrm>
            <a:off x="4876800" y="4953000"/>
            <a:ext cx="152400" cy="152400"/>
          </a:xfrm>
          <a:prstGeom prst="rightArrow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ounded Rectangle 46"/>
          <p:cNvSpPr/>
          <p:nvPr/>
        </p:nvSpPr>
        <p:spPr>
          <a:xfrm>
            <a:off x="5105400" y="4819650"/>
            <a:ext cx="1428750" cy="419100"/>
          </a:xfrm>
          <a:prstGeom prst="roundRect">
            <a:avLst>
              <a:gd name="adj" fmla="val 18181"/>
            </a:avLst>
          </a:prstGeom>
          <a:solidFill>
            <a:srgbClr val="172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5105400" y="4943475"/>
            <a:ext cx="14287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5" b="0" i="0">
                <a:solidFill>
                  <a:srgbClr val="C7CED4"/>
                </a:solidFill>
                <a:latin typeface="微软雅黑"/>
                <a:ea typeface="微软雅黑"/>
                <a:cs typeface="微软雅黑"/>
              </a:rPr>
              <a:t>纯前端规则核查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95350" y="5467350"/>
            <a:ext cx="104013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275" b="0" i="0">
                <a:solidFill>
                  <a:srgbClr val="9FA6AD"/>
                </a:solidFill>
                <a:latin typeface="微软雅黑"/>
                <a:ea typeface="微软雅黑"/>
                <a:cs typeface="微软雅黑"/>
              </a:rPr>
              <a:t>推理前移到开发时：对话侧跑完流水线，产出结构化 JSON 提交进仓库。换来三件事 —— 结果可复现（分数由纯算术得出）、过程可审计（逐字定位）、质量可评测（可独立复算）。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762000"/>
            <a:ext cx="108204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1" i="0">
                <a:solidFill>
                  <a:srgbClr val="E6EDF3"/>
                </a:solidFill>
                <a:latin typeface="微软雅黑"/>
                <a:ea typeface="微软雅黑"/>
                <a:cs typeface="微软雅黑"/>
              </a:rPr>
              <a:t>三件交付物，互为佐证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71575"/>
            <a:ext cx="10820400" cy="9525"/>
          </a:xfrm>
          <a:prstGeom prst="rect">
            <a:avLst/>
          </a:prstGeom>
          <a:solidFill>
            <a:srgbClr val="12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85800" y="6515100"/>
            <a:ext cx="133350" cy="133350"/>
          </a:xfrm>
          <a:prstGeom prst="roundRect">
            <a:avLst>
              <a:gd name="adj" fmla="val 21428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14400" y="649605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0" i="0">
                <a:solidFill>
                  <a:srgbClr val="787E84"/>
                </a:solidFill>
                <a:latin typeface="Consolas"/>
                <a:ea typeface="Consolas"/>
                <a:cs typeface="Consolas"/>
              </a:rPr>
              <a:t>AUTOGRADER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63200" y="6496050"/>
            <a:ext cx="1143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050" b="0" i="0">
                <a:solidFill>
                  <a:srgbClr val="6D7278"/>
                </a:solidFill>
                <a:latin typeface="Consolas"/>
                <a:ea typeface="Consolas"/>
                <a:cs typeface="Consolas"/>
              </a:rPr>
              <a:t>06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43100"/>
            <a:ext cx="5715000" cy="1066800"/>
          </a:xfrm>
          <a:prstGeom prst="roundRect">
            <a:avLst>
              <a:gd name="adj" fmla="val 10714"/>
            </a:avLst>
          </a:prstGeom>
          <a:solidFill>
            <a:srgbClr val="151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685800" y="1943100"/>
            <a:ext cx="28575" cy="10668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76300" y="2247900"/>
            <a:ext cx="438150" cy="438150"/>
          </a:xfrm>
          <a:prstGeom prst="roundRect">
            <a:avLst>
              <a:gd name="adj" fmla="val 26086"/>
            </a:avLst>
          </a:prstGeom>
          <a:solidFill>
            <a:srgbClr val="1D5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485900" y="2228850"/>
            <a:ext cx="47244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1" i="0">
                <a:solidFill>
                  <a:srgbClr val="E6EDF3"/>
                </a:solidFill>
                <a:latin typeface="微软雅黑"/>
                <a:ea typeface="微软雅黑"/>
                <a:cs typeface="微软雅黑"/>
              </a:rPr>
              <a:t>专家智能体包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5900" y="2571750"/>
            <a:ext cx="472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75" b="0" i="0">
                <a:solidFill>
                  <a:srgbClr val="9299A1"/>
                </a:solidFill>
                <a:latin typeface="微软雅黑"/>
                <a:ea typeface="微软雅黑"/>
                <a:cs typeface="微软雅黑"/>
              </a:rPr>
              <a:t>能力本体 · AI 在这里跑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33775" y="3009900"/>
            <a:ext cx="19050" cy="323850"/>
          </a:xfrm>
          <a:prstGeom prst="rect">
            <a:avLst/>
          </a:prstGeom>
          <a:solidFill>
            <a:srgbClr val="1653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85800" y="3333750"/>
            <a:ext cx="5715000" cy="1066800"/>
          </a:xfrm>
          <a:prstGeom prst="roundRect">
            <a:avLst>
              <a:gd name="adj" fmla="val 10714"/>
            </a:avLst>
          </a:prstGeom>
          <a:solidFill>
            <a:srgbClr val="151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85800" y="3333750"/>
            <a:ext cx="28575" cy="10668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876300" y="3638550"/>
            <a:ext cx="438150" cy="438150"/>
          </a:xfrm>
          <a:prstGeom prst="roundRect">
            <a:avLst>
              <a:gd name="adj" fmla="val 26086"/>
            </a:avLst>
          </a:prstGeom>
          <a:solidFill>
            <a:srgbClr val="1D5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485900" y="3619500"/>
            <a:ext cx="47244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1" i="0">
                <a:solidFill>
                  <a:srgbClr val="E6EDF3"/>
                </a:solidFill>
                <a:latin typeface="微软雅黑"/>
                <a:ea typeface="微软雅黑"/>
                <a:cs typeface="微软雅黑"/>
              </a:rPr>
              <a:t>Web Demo 产品展示页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85900" y="3962400"/>
            <a:ext cx="472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75" b="0" i="0">
                <a:solidFill>
                  <a:srgbClr val="9299A1"/>
                </a:solidFill>
                <a:latin typeface="微软雅黑"/>
                <a:ea typeface="微软雅黑"/>
                <a:cs typeface="微软雅黑"/>
              </a:rPr>
              <a:t>产品形态 · 在线链接 + 源码仓库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33775" y="4400550"/>
            <a:ext cx="19050" cy="323850"/>
          </a:xfrm>
          <a:prstGeom prst="rect">
            <a:avLst/>
          </a:prstGeom>
          <a:solidFill>
            <a:srgbClr val="1653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685800" y="4724400"/>
            <a:ext cx="5715000" cy="1066800"/>
          </a:xfrm>
          <a:prstGeom prst="roundRect">
            <a:avLst>
              <a:gd name="adj" fmla="val 10714"/>
            </a:avLst>
          </a:prstGeom>
          <a:solidFill>
            <a:srgbClr val="151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685800" y="4724400"/>
            <a:ext cx="28575" cy="10668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76300" y="5029200"/>
            <a:ext cx="438150" cy="438150"/>
          </a:xfrm>
          <a:prstGeom prst="roundRect">
            <a:avLst>
              <a:gd name="adj" fmla="val 26086"/>
            </a:avLst>
          </a:prstGeom>
          <a:solidFill>
            <a:srgbClr val="1D5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485900" y="5010150"/>
            <a:ext cx="47244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1" i="0">
                <a:solidFill>
                  <a:srgbClr val="E6EDF3"/>
                </a:solidFill>
                <a:latin typeface="微软雅黑"/>
                <a:ea typeface="微软雅黑"/>
                <a:cs typeface="微软雅黑"/>
              </a:rPr>
              <a:t>评审材料包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85900" y="5353050"/>
            <a:ext cx="472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75" b="0" i="0">
                <a:solidFill>
                  <a:srgbClr val="9299A1"/>
                </a:solidFill>
                <a:latin typeface="微软雅黑"/>
                <a:ea typeface="微软雅黑"/>
                <a:cs typeface="微软雅黑"/>
              </a:rPr>
              <a:t>佐证链 · PPT / 视频 / 对话归档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81800" y="1447800"/>
            <a:ext cx="4724400" cy="1536700"/>
          </a:xfrm>
          <a:prstGeom prst="roundRect">
            <a:avLst>
              <a:gd name="adj" fmla="val 7438"/>
            </a:avLst>
          </a:prstGeom>
          <a:solidFill>
            <a:srgbClr val="151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953250" y="1600200"/>
            <a:ext cx="438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i="0">
                <a:solidFill>
                  <a:srgbClr val="E6EDF3"/>
                </a:solidFill>
                <a:latin typeface="微软雅黑"/>
                <a:ea typeface="微软雅黑"/>
                <a:cs typeface="微软雅黑"/>
              </a:rPr>
              <a:t>一 · 专家智能体包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53250" y="1905000"/>
            <a:ext cx="4381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5" b="0" i="0">
                <a:solidFill>
                  <a:srgbClr val="2DD4BF"/>
                </a:solidFill>
                <a:latin typeface="微软雅黑"/>
                <a:ea typeface="微软雅黑"/>
                <a:cs typeface="微软雅黑"/>
              </a:rPr>
              <a:t>✅ 已落地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53250" y="2171700"/>
            <a:ext cx="43815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A3AAB1"/>
                </a:solidFill>
                <a:latin typeface="微软雅黑"/>
                <a:ea typeface="微软雅黑"/>
                <a:cs typeface="微软雅黑"/>
              </a:rPr>
              <a:t>Prompt + Skills + Tools + Workflow + Evaluation 五件套齐备，六件工具自测 61 项通过，已通过官方校验并注册到专家市场。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81800" y="3098800"/>
            <a:ext cx="4724400" cy="1536700"/>
          </a:xfrm>
          <a:prstGeom prst="roundRect">
            <a:avLst>
              <a:gd name="adj" fmla="val 7438"/>
            </a:avLst>
          </a:prstGeom>
          <a:solidFill>
            <a:srgbClr val="151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953250" y="3251200"/>
            <a:ext cx="438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i="0">
                <a:solidFill>
                  <a:srgbClr val="E6EDF3"/>
                </a:solidFill>
                <a:latin typeface="微软雅黑"/>
                <a:ea typeface="微软雅黑"/>
                <a:cs typeface="微软雅黑"/>
              </a:rPr>
              <a:t>二 · Web Demo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53250" y="3556000"/>
            <a:ext cx="4381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5" b="0" i="0">
                <a:solidFill>
                  <a:srgbClr val="2DD4BF"/>
                </a:solidFill>
                <a:latin typeface="微软雅黑"/>
                <a:ea typeface="微软雅黑"/>
                <a:cs typeface="微软雅黑"/>
              </a:rPr>
              <a:t>✅ 7 路由实测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53250" y="3822700"/>
            <a:ext cx="43815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A3AAB1"/>
                </a:solidFill>
                <a:latin typeface="微软雅黑"/>
                <a:ea typeface="微软雅黑"/>
                <a:cs typeface="微软雅黑"/>
              </a:rPr>
              <a:t>首页 / 智能体构成 / 评阅工作台 / 结果详情 / 上传核查 / 一致性评测 / 工作流溯源，类型检查 0 错、静态页 21/21。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781800" y="4749800"/>
            <a:ext cx="4724400" cy="1536700"/>
          </a:xfrm>
          <a:prstGeom prst="roundRect">
            <a:avLst>
              <a:gd name="adj" fmla="val 7438"/>
            </a:avLst>
          </a:prstGeom>
          <a:solidFill>
            <a:srgbClr val="151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953250" y="4902200"/>
            <a:ext cx="438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i="0">
                <a:solidFill>
                  <a:srgbClr val="E6EDF3"/>
                </a:solidFill>
                <a:latin typeface="微软雅黑"/>
                <a:ea typeface="微软雅黑"/>
                <a:cs typeface="微软雅黑"/>
              </a:rPr>
              <a:t>三 · 评审材料包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53250" y="5207000"/>
            <a:ext cx="4381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5" b="0" i="0">
                <a:solidFill>
                  <a:srgbClr val="2DD4BF"/>
                </a:solidFill>
                <a:latin typeface="微软雅黑"/>
                <a:ea typeface="微软雅黑"/>
                <a:cs typeface="微软雅黑"/>
              </a:rPr>
              <a:t>🟡 对话归档已交付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53250" y="5473700"/>
            <a:ext cx="43815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A3AAB1"/>
                </a:solidFill>
                <a:latin typeface="微软雅黑"/>
                <a:ea typeface="微软雅黑"/>
                <a:cs typeface="微软雅黑"/>
              </a:rPr>
              <a:t>39 轮对话归档（9 份逐字转录）已入库；本 PPT 为本次补齐；3 分钟 Demo 视频待产出。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762000"/>
            <a:ext cx="108204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1" i="0">
                <a:solidFill>
                  <a:srgbClr val="E6EDF3"/>
                </a:solidFill>
                <a:latin typeface="微软雅黑"/>
                <a:ea typeface="微软雅黑"/>
                <a:cs typeface="微软雅黑"/>
              </a:rPr>
              <a:t>五个 Agent 的评阅流水线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71575"/>
            <a:ext cx="10820400" cy="9525"/>
          </a:xfrm>
          <a:prstGeom prst="rect">
            <a:avLst/>
          </a:prstGeom>
          <a:solidFill>
            <a:srgbClr val="12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85800" y="6515100"/>
            <a:ext cx="133350" cy="133350"/>
          </a:xfrm>
          <a:prstGeom prst="roundRect">
            <a:avLst>
              <a:gd name="adj" fmla="val 21428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14400" y="649605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0" i="0">
                <a:solidFill>
                  <a:srgbClr val="787E84"/>
                </a:solidFill>
                <a:latin typeface="Consolas"/>
                <a:ea typeface="Consolas"/>
                <a:cs typeface="Consolas"/>
              </a:rPr>
              <a:t>AUTOGRADER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63200" y="6496050"/>
            <a:ext cx="1143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050" b="0" i="0">
                <a:solidFill>
                  <a:srgbClr val="6D7278"/>
                </a:solidFill>
                <a:latin typeface="Consolas"/>
                <a:ea typeface="Consolas"/>
                <a:cs typeface="Consolas"/>
              </a:rPr>
              <a:t>07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47800"/>
            <a:ext cx="10820400" cy="2247900"/>
          </a:xfrm>
          <a:prstGeom prst="roundRect">
            <a:avLst>
              <a:gd name="adj" fmla="val 5932"/>
            </a:avLst>
          </a:prstGeom>
          <a:solidFill>
            <a:srgbClr val="151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95350" y="1885950"/>
            <a:ext cx="1821180" cy="1028700"/>
          </a:xfrm>
          <a:prstGeom prst="roundRect">
            <a:avLst>
              <a:gd name="adj" fmla="val 9259"/>
            </a:avLst>
          </a:prstGeom>
          <a:solidFill>
            <a:srgbClr val="172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5350" y="2076450"/>
            <a:ext cx="182118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650" b="1" i="0">
                <a:solidFill>
                  <a:srgbClr val="29B8A8"/>
                </a:solidFill>
                <a:latin typeface="Consolas"/>
                <a:ea typeface="Consolas"/>
                <a:cs typeface="Consolas"/>
              </a:rPr>
              <a:t>Parser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5350" y="2400300"/>
            <a:ext cx="182118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500" b="0" i="0">
                <a:solidFill>
                  <a:srgbClr val="C7CED4"/>
                </a:solidFill>
                <a:latin typeface="微软雅黑"/>
                <a:ea typeface="微软雅黑"/>
                <a:cs typeface="微软雅黑"/>
              </a:rPr>
              <a:t>解析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792730" y="2324100"/>
            <a:ext cx="171450" cy="171450"/>
          </a:xfrm>
          <a:prstGeom prst="rightArrow">
            <a:avLst/>
          </a:prstGeom>
          <a:solidFill>
            <a:srgbClr val="269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040380" y="1885950"/>
            <a:ext cx="1821180" cy="1028700"/>
          </a:xfrm>
          <a:prstGeom prst="roundRect">
            <a:avLst>
              <a:gd name="adj" fmla="val 9259"/>
            </a:avLst>
          </a:prstGeom>
          <a:solidFill>
            <a:srgbClr val="193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040380" y="2076450"/>
            <a:ext cx="182118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650" b="1" i="0">
                <a:solidFill>
                  <a:srgbClr val="29B8A8"/>
                </a:solidFill>
                <a:latin typeface="Consolas"/>
                <a:ea typeface="Consolas"/>
                <a:cs typeface="Consolas"/>
              </a:rPr>
              <a:t>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40380" y="2400300"/>
            <a:ext cx="182118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500" b="0" i="0">
                <a:solidFill>
                  <a:srgbClr val="C7CED4"/>
                </a:solidFill>
                <a:latin typeface="微软雅黑"/>
                <a:ea typeface="微软雅黑"/>
                <a:cs typeface="微软雅黑"/>
              </a:rPr>
              <a:t>取证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937760" y="2324100"/>
            <a:ext cx="171450" cy="171450"/>
          </a:xfrm>
          <a:prstGeom prst="rightArrow">
            <a:avLst/>
          </a:prstGeom>
          <a:solidFill>
            <a:srgbClr val="269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5185410" y="1885950"/>
            <a:ext cx="1821180" cy="1028700"/>
          </a:xfrm>
          <a:prstGeom prst="roundRect">
            <a:avLst>
              <a:gd name="adj" fmla="val 9259"/>
            </a:avLst>
          </a:prstGeom>
          <a:solidFill>
            <a:srgbClr val="1A4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185410" y="2076450"/>
            <a:ext cx="182118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650" b="1" i="0">
                <a:solidFill>
                  <a:srgbClr val="2DD4BF"/>
                </a:solidFill>
                <a:latin typeface="Consolas"/>
                <a:ea typeface="Consolas"/>
                <a:cs typeface="Consolas"/>
              </a:rPr>
              <a:t>Grader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85410" y="2400300"/>
            <a:ext cx="182118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500" b="0" i="0">
                <a:solidFill>
                  <a:srgbClr val="C7CED4"/>
                </a:solidFill>
                <a:latin typeface="微软雅黑"/>
                <a:ea typeface="微软雅黑"/>
                <a:cs typeface="微软雅黑"/>
              </a:rPr>
              <a:t>判定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082790" y="2324100"/>
            <a:ext cx="171450" cy="171450"/>
          </a:xfrm>
          <a:prstGeom prst="rightArrow">
            <a:avLst/>
          </a:prstGeom>
          <a:solidFill>
            <a:srgbClr val="269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7330440" y="1885950"/>
            <a:ext cx="1821180" cy="1028700"/>
          </a:xfrm>
          <a:prstGeom prst="roundRect">
            <a:avLst>
              <a:gd name="adj" fmla="val 9259"/>
            </a:avLst>
          </a:prstGeom>
          <a:solidFill>
            <a:srgbClr val="1B4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330440" y="2076450"/>
            <a:ext cx="182118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650" b="1" i="0">
                <a:solidFill>
                  <a:srgbClr val="2DD4BF"/>
                </a:solidFill>
                <a:latin typeface="Consolas"/>
                <a:ea typeface="Consolas"/>
                <a:cs typeface="Consolas"/>
              </a:rPr>
              <a:t>Reviewer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30440" y="2400300"/>
            <a:ext cx="182118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500" b="0" i="0">
                <a:solidFill>
                  <a:srgbClr val="C7CED4"/>
                </a:solidFill>
                <a:latin typeface="微软雅黑"/>
                <a:ea typeface="微软雅黑"/>
                <a:cs typeface="微软雅黑"/>
              </a:rPr>
              <a:t>复核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227820" y="2324100"/>
            <a:ext cx="171450" cy="171450"/>
          </a:xfrm>
          <a:prstGeom prst="rightArrow">
            <a:avLst/>
          </a:prstGeom>
          <a:solidFill>
            <a:srgbClr val="269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9475470" y="1885950"/>
            <a:ext cx="1821180" cy="1028700"/>
          </a:xfrm>
          <a:prstGeom prst="roundRect">
            <a:avLst>
              <a:gd name="adj" fmla="val 9259"/>
            </a:avLst>
          </a:prstGeom>
          <a:solidFill>
            <a:srgbClr val="1C5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475470" y="2076450"/>
            <a:ext cx="182118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650" b="1" i="0">
                <a:solidFill>
                  <a:srgbClr val="2DD4BF"/>
                </a:solidFill>
                <a:latin typeface="Consolas"/>
                <a:ea typeface="Consolas"/>
                <a:cs typeface="Consolas"/>
              </a:rPr>
              <a:t>Feedback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75470" y="2400300"/>
            <a:ext cx="182118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500" b="0" i="0">
                <a:solidFill>
                  <a:srgbClr val="C7CED4"/>
                </a:solidFill>
                <a:latin typeface="微软雅黑"/>
                <a:ea typeface="微软雅黑"/>
                <a:cs typeface="微软雅黑"/>
              </a:rPr>
              <a:t>评语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5350" y="3105150"/>
            <a:ext cx="104013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75" b="0" i="0">
                <a:solidFill>
                  <a:srgbClr val="979EA5"/>
                </a:solidFill>
                <a:latin typeface="微软雅黑"/>
                <a:ea typeface="微软雅黑"/>
                <a:cs typeface="微软雅黑"/>
              </a:rPr>
              <a:t>每一环都输出置信度与原文证据引用，逐环可在溯源页看到该环的输入、输出与置信度变化 —— 这是「和直接问大模型有什么区别」的正面回答：区别在于过程可见。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5800" y="3848100"/>
            <a:ext cx="3505200" cy="2438400"/>
          </a:xfrm>
          <a:prstGeom prst="roundRect">
            <a:avLst>
              <a:gd name="adj" fmla="val 4687"/>
            </a:avLst>
          </a:prstGeom>
          <a:solidFill>
            <a:srgbClr val="151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57250" y="4000500"/>
            <a:ext cx="31623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i="0">
                <a:solidFill>
                  <a:srgbClr val="2DD4BF"/>
                </a:solidFill>
                <a:latin typeface="微软雅黑"/>
                <a:ea typeface="微软雅黑"/>
                <a:cs typeface="微软雅黑"/>
              </a:rPr>
              <a:t>逐环留痕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7250" y="4324350"/>
            <a:ext cx="31623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9FA6AD"/>
                </a:solidFill>
                <a:latin typeface="微软雅黑"/>
                <a:ea typeface="微软雅黑"/>
                <a:cs typeface="微软雅黑"/>
              </a:rPr>
              <a:t>每个 Agent 的输入、输出与置信度都落到结果 JSON 的 provenance 里，可逐环回看。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43400" y="3848100"/>
            <a:ext cx="3505200" cy="2438400"/>
          </a:xfrm>
          <a:prstGeom prst="roundRect">
            <a:avLst>
              <a:gd name="adj" fmla="val 4687"/>
            </a:avLst>
          </a:prstGeom>
          <a:solidFill>
            <a:srgbClr val="151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4514850" y="4000500"/>
            <a:ext cx="31623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i="0">
                <a:solidFill>
                  <a:srgbClr val="2DD4BF"/>
                </a:solidFill>
                <a:latin typeface="微软雅黑"/>
                <a:ea typeface="微软雅黑"/>
                <a:cs typeface="微软雅黑"/>
              </a:rPr>
              <a:t>证据先行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14850" y="4324350"/>
            <a:ext cx="31623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9FA6AD"/>
                </a:solidFill>
                <a:latin typeface="微软雅黑"/>
                <a:ea typeface="微软雅黑"/>
                <a:cs typeface="微软雅黑"/>
              </a:rPr>
              <a:t>Evidence 环在前，Grader 环在后：先拿到原文证据，再给判定与理由。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01000" y="3848100"/>
            <a:ext cx="3505200" cy="2438400"/>
          </a:xfrm>
          <a:prstGeom prst="roundRect">
            <a:avLst>
              <a:gd name="adj" fmla="val 4687"/>
            </a:avLst>
          </a:prstGeom>
          <a:solidFill>
            <a:srgbClr val="151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8172450" y="4000500"/>
            <a:ext cx="31623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i="0">
                <a:solidFill>
                  <a:srgbClr val="2DD4BF"/>
                </a:solidFill>
                <a:latin typeface="微软雅黑"/>
                <a:ea typeface="微软雅黑"/>
                <a:cs typeface="微软雅黑"/>
              </a:rPr>
              <a:t>可复算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72450" y="4324350"/>
            <a:ext cx="31623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9FA6AD"/>
                </a:solidFill>
                <a:latin typeface="微软雅黑"/>
                <a:ea typeface="微软雅黑"/>
                <a:cs typeface="微软雅黑"/>
              </a:rPr>
              <a:t>整条链路的产出是纯数据，任何机器上重放都得到同样的页面与分数。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762000"/>
            <a:ext cx="108204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1" i="0">
                <a:solidFill>
                  <a:srgbClr val="E6EDF3"/>
                </a:solidFill>
                <a:latin typeface="微软雅黑"/>
                <a:ea typeface="微软雅黑"/>
                <a:cs typeface="微软雅黑"/>
              </a:rPr>
              <a:t>一份 JSON，三处同源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71575"/>
            <a:ext cx="10820400" cy="9525"/>
          </a:xfrm>
          <a:prstGeom prst="rect">
            <a:avLst/>
          </a:prstGeom>
          <a:solidFill>
            <a:srgbClr val="12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85800" y="6515100"/>
            <a:ext cx="133350" cy="133350"/>
          </a:xfrm>
          <a:prstGeom prst="roundRect">
            <a:avLst>
              <a:gd name="adj" fmla="val 21428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14400" y="649605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0" i="0">
                <a:solidFill>
                  <a:srgbClr val="787E84"/>
                </a:solidFill>
                <a:latin typeface="Consolas"/>
                <a:ea typeface="Consolas"/>
                <a:cs typeface="Consolas"/>
              </a:rPr>
              <a:t>AUTOGRADER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63200" y="6496050"/>
            <a:ext cx="1143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050" b="0" i="0">
                <a:solidFill>
                  <a:srgbClr val="6D7278"/>
                </a:solidFill>
                <a:latin typeface="Consolas"/>
                <a:ea typeface="Consolas"/>
                <a:cs typeface="Consolas"/>
              </a:rPr>
              <a:t>08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47800"/>
            <a:ext cx="6334125" cy="4838700"/>
          </a:xfrm>
          <a:prstGeom prst="roundRect">
            <a:avLst>
              <a:gd name="adj" fmla="val 2755"/>
            </a:avLst>
          </a:prstGeom>
          <a:solidFill>
            <a:srgbClr val="151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14400" y="1657350"/>
            <a:ext cx="587692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50" b="1" i="0">
                <a:solidFill>
                  <a:srgbClr val="2DD4BF"/>
                </a:solidFill>
                <a:latin typeface="微软雅黑"/>
                <a:ea typeface="微软雅黑"/>
                <a:cs typeface="微软雅黑"/>
              </a:rPr>
              <a:t>ReviewResult 契约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81200"/>
            <a:ext cx="587692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9299A1"/>
                </a:solidFill>
                <a:latin typeface="微软雅黑"/>
                <a:ea typeface="微软雅黑"/>
                <a:cs typeface="微软雅黑"/>
              </a:rPr>
              <a:t>机器真源：JSON Schema ｜ 人类可读：契约说明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2438400"/>
            <a:ext cx="5876925" cy="1123950"/>
          </a:xfrm>
          <a:prstGeom prst="roundRect">
            <a:avLst>
              <a:gd name="adj" fmla="val 8474"/>
            </a:avLst>
          </a:prstGeom>
          <a:solidFill>
            <a:srgbClr val="1729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914400" y="2438400"/>
            <a:ext cx="28575" cy="112395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104900" y="2590800"/>
            <a:ext cx="5495925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5" b="1" i="0">
                <a:solidFill>
                  <a:srgbClr val="E6EDF3"/>
                </a:solidFill>
                <a:latin typeface="微软雅黑"/>
                <a:ea typeface="微软雅黑"/>
                <a:cs typeface="微软雅黑"/>
              </a:rPr>
              <a:t>智能体输出格式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4900" y="2895600"/>
            <a:ext cx="5495925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9FA6AD"/>
                </a:solidFill>
                <a:latin typeface="微软雅黑"/>
                <a:ea typeface="微软雅黑"/>
                <a:cs typeface="微软雅黑"/>
              </a:rPr>
              <a:t>专家智能体产出的每份结果都必须长成这样，缺字段直接不合格。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695700"/>
            <a:ext cx="5876925" cy="1123950"/>
          </a:xfrm>
          <a:prstGeom prst="roundRect">
            <a:avLst>
              <a:gd name="adj" fmla="val 8474"/>
            </a:avLst>
          </a:prstGeom>
          <a:solidFill>
            <a:srgbClr val="1729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914400" y="3695700"/>
            <a:ext cx="28575" cy="112395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104900" y="3848100"/>
            <a:ext cx="5495925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5" b="1" i="0">
                <a:solidFill>
                  <a:srgbClr val="E6EDF3"/>
                </a:solidFill>
                <a:latin typeface="微软雅黑"/>
                <a:ea typeface="微软雅黑"/>
                <a:cs typeface="微软雅黑"/>
              </a:rPr>
              <a:t>前端类型定义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4900" y="4152900"/>
            <a:ext cx="5495925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9FA6AD"/>
                </a:solidFill>
                <a:latin typeface="微软雅黑"/>
                <a:ea typeface="微软雅黑"/>
                <a:cs typeface="微软雅黑"/>
              </a:rPr>
              <a:t>前端契约与机器 schema 的对象层、字段差异为零（23 对象层 / 132 字段）。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4953000"/>
            <a:ext cx="5876925" cy="1123950"/>
          </a:xfrm>
          <a:prstGeom prst="roundRect">
            <a:avLst>
              <a:gd name="adj" fmla="val 8474"/>
            </a:avLst>
          </a:prstGeom>
          <a:solidFill>
            <a:srgbClr val="1729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914400" y="4953000"/>
            <a:ext cx="28575" cy="112395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104900" y="5105400"/>
            <a:ext cx="5495925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5" b="1" i="0">
                <a:solidFill>
                  <a:srgbClr val="E6EDF3"/>
                </a:solidFill>
                <a:latin typeface="微软雅黑"/>
                <a:ea typeface="微软雅黑"/>
                <a:cs typeface="微软雅黑"/>
              </a:rPr>
              <a:t>仓库数据资产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4900" y="5410200"/>
            <a:ext cx="5495925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9FA6AD"/>
                </a:solidFill>
                <a:latin typeface="微软雅黑"/>
                <a:ea typeface="微软雅黑"/>
                <a:cs typeface="微软雅黑"/>
              </a:rPr>
              <a:t>12 份历史评阅资产一行不改，继续通过双端校验。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4725" y="1447800"/>
            <a:ext cx="4181475" cy="4838700"/>
          </a:xfrm>
          <a:prstGeom prst="roundRect">
            <a:avLst>
              <a:gd name="adj" fmla="val 3189"/>
            </a:avLst>
          </a:prstGeom>
          <a:solidFill>
            <a:srgbClr val="151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534275" y="1676400"/>
            <a:ext cx="376237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50" b="1" i="0">
                <a:solidFill>
                  <a:srgbClr val="E6EDF3"/>
                </a:solidFill>
                <a:latin typeface="微软雅黑"/>
                <a:ea typeface="微软雅黑"/>
                <a:cs typeface="微软雅黑"/>
              </a:rPr>
              <a:t>契约 1.2.0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34275" y="2019300"/>
            <a:ext cx="376237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2DD4BF"/>
                </a:solidFill>
                <a:latin typeface="微软雅黑"/>
                <a:ea typeface="微软雅黑"/>
                <a:cs typeface="微软雅黑"/>
              </a:rPr>
              <a:t>向后兼容超集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34275" y="2362200"/>
            <a:ext cx="37623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275" b="0" i="0">
                <a:solidFill>
                  <a:srgbClr val="A3AAB1"/>
                </a:solidFill>
                <a:latin typeface="微软雅黑"/>
                <a:ea typeface="微软雅黑"/>
                <a:cs typeface="微软雅黑"/>
              </a:rPr>
              <a:t>以上一版契约（589 行 Zod 定义）为基线，新增字段一律 optional。因此历史资产不需要任何改动，就能同时通过前端契约与工具链六项检查。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34275" y="3657600"/>
            <a:ext cx="3762375" cy="9525"/>
          </a:xfrm>
          <a:prstGeom prst="rect">
            <a:avLst/>
          </a:prstGeom>
          <a:solidFill>
            <a:srgbClr val="1A44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534275" y="3848100"/>
            <a:ext cx="3762375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50" b="1" i="0">
                <a:solidFill>
                  <a:srgbClr val="2DD4BF"/>
                </a:solidFill>
                <a:latin typeface="Consolas"/>
                <a:ea typeface="Consolas"/>
                <a:cs typeface="Consolas"/>
              </a:rPr>
              <a:t>12 / 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34275" y="4457700"/>
            <a:ext cx="3762375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979EA5"/>
                </a:solidFill>
                <a:latin typeface="微软雅黑"/>
                <a:ea typeface="微软雅黑"/>
                <a:cs typeface="微软雅黑"/>
              </a:rPr>
              <a:t>12 份历史资产在「前端契约」与「工具链六项检查」两端的通过数，均为此值。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762000"/>
            <a:ext cx="108204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1" i="0">
                <a:solidFill>
                  <a:srgbClr val="E6EDF3"/>
                </a:solidFill>
                <a:latin typeface="微软雅黑"/>
                <a:ea typeface="微软雅黑"/>
                <a:cs typeface="微软雅黑"/>
              </a:rPr>
              <a:t>无证据，不得高置信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71575"/>
            <a:ext cx="10820400" cy="9525"/>
          </a:xfrm>
          <a:prstGeom prst="rect">
            <a:avLst/>
          </a:prstGeom>
          <a:solidFill>
            <a:srgbClr val="12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85800" y="6515100"/>
            <a:ext cx="133350" cy="133350"/>
          </a:xfrm>
          <a:prstGeom prst="roundRect">
            <a:avLst>
              <a:gd name="adj" fmla="val 21428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14400" y="649605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0" i="0">
                <a:solidFill>
                  <a:srgbClr val="787E84"/>
                </a:solidFill>
                <a:latin typeface="Consolas"/>
                <a:ea typeface="Consolas"/>
                <a:cs typeface="Consolas"/>
              </a:rPr>
              <a:t>AUTOGRADER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63200" y="6496050"/>
            <a:ext cx="1143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050" b="0" i="0">
                <a:solidFill>
                  <a:srgbClr val="6D7278"/>
                </a:solidFill>
                <a:latin typeface="Consolas"/>
                <a:ea typeface="Consolas"/>
                <a:cs typeface="Consolas"/>
              </a:rPr>
              <a:t>09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47800"/>
            <a:ext cx="5905500" cy="4838700"/>
          </a:xfrm>
          <a:prstGeom prst="roundRect">
            <a:avLst>
              <a:gd name="adj" fmla="val 2755"/>
            </a:avLst>
          </a:prstGeom>
          <a:solidFill>
            <a:srgbClr val="151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3450" y="1676400"/>
            <a:ext cx="54102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50" b="1" i="0">
                <a:solidFill>
                  <a:srgbClr val="2DD4BF"/>
                </a:solidFill>
                <a:latin typeface="微软雅黑"/>
                <a:ea typeface="微软雅黑"/>
                <a:cs typeface="微软雅黑"/>
              </a:rPr>
              <a:t>逐点四元组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3450" y="2152650"/>
            <a:ext cx="5410200" cy="914400"/>
          </a:xfrm>
          <a:prstGeom prst="roundRect">
            <a:avLst>
              <a:gd name="adj" fmla="val 10416"/>
            </a:avLst>
          </a:prstGeom>
          <a:solidFill>
            <a:srgbClr val="1729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104900" y="2305050"/>
            <a:ext cx="38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 i="0">
                <a:solidFill>
                  <a:srgbClr val="2DD4BF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62100" y="2266950"/>
            <a:ext cx="4495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i="0">
                <a:solidFill>
                  <a:srgbClr val="E6EDF3"/>
                </a:solidFill>
                <a:latin typeface="微软雅黑"/>
                <a:ea typeface="微软雅黑"/>
                <a:cs typeface="微软雅黑"/>
              </a:rPr>
              <a:t>评分点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100" y="2590800"/>
            <a:ext cx="4495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9BA2A9"/>
                </a:solidFill>
                <a:latin typeface="微软雅黑"/>
                <a:ea typeface="微软雅黑"/>
                <a:cs typeface="微软雅黑"/>
              </a:rPr>
              <a:t>Rubric 里的一条可判定要求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57300" y="3067050"/>
            <a:ext cx="19050" cy="114300"/>
          </a:xfrm>
          <a:prstGeom prst="rect">
            <a:avLst/>
          </a:prstGeom>
          <a:solidFill>
            <a:srgbClr val="1F66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933450" y="3181350"/>
            <a:ext cx="5410200" cy="914400"/>
          </a:xfrm>
          <a:prstGeom prst="roundRect">
            <a:avLst>
              <a:gd name="adj" fmla="val 10416"/>
            </a:avLst>
          </a:prstGeom>
          <a:solidFill>
            <a:srgbClr val="1729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104900" y="3333750"/>
            <a:ext cx="38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 i="0">
                <a:solidFill>
                  <a:srgbClr val="2DD4BF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62100" y="3295650"/>
            <a:ext cx="4495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i="0">
                <a:solidFill>
                  <a:srgbClr val="E6EDF3"/>
                </a:solidFill>
                <a:latin typeface="微软雅黑"/>
                <a:ea typeface="微软雅黑"/>
                <a:cs typeface="微软雅黑"/>
              </a:rPr>
              <a:t>证据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62100" y="3619500"/>
            <a:ext cx="4495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9BA2A9"/>
                </a:solidFill>
                <a:latin typeface="微软雅黑"/>
                <a:ea typeface="微软雅黑"/>
                <a:cs typeface="微软雅黑"/>
              </a:rPr>
              <a:t>报告原文的逐字片段 + 位置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57300" y="4095750"/>
            <a:ext cx="19050" cy="114300"/>
          </a:xfrm>
          <a:prstGeom prst="rect">
            <a:avLst/>
          </a:prstGeom>
          <a:solidFill>
            <a:srgbClr val="1F66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933450" y="4210050"/>
            <a:ext cx="5410200" cy="914400"/>
          </a:xfrm>
          <a:prstGeom prst="roundRect">
            <a:avLst>
              <a:gd name="adj" fmla="val 10416"/>
            </a:avLst>
          </a:prstGeom>
          <a:solidFill>
            <a:srgbClr val="1729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104900" y="4362450"/>
            <a:ext cx="38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 i="0">
                <a:solidFill>
                  <a:srgbClr val="2DD4BF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62100" y="4324350"/>
            <a:ext cx="4495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i="0">
                <a:solidFill>
                  <a:srgbClr val="E6EDF3"/>
                </a:solidFill>
                <a:latin typeface="微软雅黑"/>
                <a:ea typeface="微软雅黑"/>
                <a:cs typeface="微软雅黑"/>
              </a:rPr>
              <a:t>判定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62100" y="4648200"/>
            <a:ext cx="4495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9BA2A9"/>
                </a:solidFill>
                <a:latin typeface="微软雅黑"/>
                <a:ea typeface="微软雅黑"/>
                <a:cs typeface="微软雅黑"/>
              </a:rPr>
              <a:t>命中 / 部分命中 / 未命中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257300" y="5124450"/>
            <a:ext cx="19050" cy="114300"/>
          </a:xfrm>
          <a:prstGeom prst="rect">
            <a:avLst/>
          </a:prstGeom>
          <a:solidFill>
            <a:srgbClr val="1F66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933450" y="5238750"/>
            <a:ext cx="5410200" cy="914400"/>
          </a:xfrm>
          <a:prstGeom prst="roundRect">
            <a:avLst>
              <a:gd name="adj" fmla="val 10416"/>
            </a:avLst>
          </a:prstGeom>
          <a:solidFill>
            <a:srgbClr val="1729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104900" y="5391150"/>
            <a:ext cx="38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 i="0">
                <a:solidFill>
                  <a:srgbClr val="2DD4BF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62100" y="5353050"/>
            <a:ext cx="4495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i="0">
                <a:solidFill>
                  <a:srgbClr val="E6EDF3"/>
                </a:solidFill>
                <a:latin typeface="微软雅黑"/>
                <a:ea typeface="微软雅黑"/>
                <a:cs typeface="微软雅黑"/>
              </a:rPr>
              <a:t>理由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62100" y="5676900"/>
            <a:ext cx="4495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9BA2A9"/>
                </a:solidFill>
                <a:latin typeface="微软雅黑"/>
                <a:ea typeface="微软雅黑"/>
                <a:cs typeface="微软雅黑"/>
              </a:rPr>
              <a:t>为什么这么判，指回证据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72300" y="1447800"/>
            <a:ext cx="4533900" cy="4838700"/>
          </a:xfrm>
          <a:prstGeom prst="roundRect">
            <a:avLst>
              <a:gd name="adj" fmla="val 2941"/>
            </a:avLst>
          </a:prstGeom>
          <a:solidFill>
            <a:srgbClr val="151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181850" y="1676400"/>
            <a:ext cx="4114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i="0">
                <a:solidFill>
                  <a:srgbClr val="E6EDF3"/>
                </a:solidFill>
                <a:latin typeface="微软雅黑"/>
                <a:ea typeface="微软雅黑"/>
                <a:cs typeface="微软雅黑"/>
              </a:rPr>
              <a:t>两条硬约束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81850" y="2114550"/>
            <a:ext cx="4114800" cy="1409700"/>
          </a:xfrm>
          <a:prstGeom prst="roundRect">
            <a:avLst>
              <a:gd name="adj" fmla="val 6756"/>
            </a:avLst>
          </a:prstGeom>
          <a:solidFill>
            <a:srgbClr val="1729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7181850" y="2114550"/>
            <a:ext cx="28575" cy="14097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7372350" y="2305050"/>
            <a:ext cx="3733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5" b="1" i="0">
                <a:solidFill>
                  <a:srgbClr val="E6EDF3"/>
                </a:solidFill>
                <a:latin typeface="微软雅黑"/>
                <a:ea typeface="微软雅黑"/>
                <a:cs typeface="微软雅黑"/>
              </a:rPr>
              <a:t>逐字定位，不做归一化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72350" y="2628900"/>
            <a:ext cx="37338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9FA6AD"/>
                </a:solidFill>
                <a:latin typeface="微软雅黑"/>
                <a:ea typeface="微软雅黑"/>
                <a:cs typeface="微软雅黑"/>
              </a:rPr>
              <a:t>引用解析器把摘要与原文做逐字比对，不做任何模糊归一化；对不上就拒绝，并给出拒绝原因。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181850" y="3676650"/>
            <a:ext cx="4114800" cy="1409700"/>
          </a:xfrm>
          <a:prstGeom prst="roundRect">
            <a:avLst>
              <a:gd name="adj" fmla="val 6756"/>
            </a:avLst>
          </a:prstGeom>
          <a:solidFill>
            <a:srgbClr val="1729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7181850" y="3676650"/>
            <a:ext cx="28575" cy="14097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7372350" y="3867150"/>
            <a:ext cx="3733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5" b="1" i="0">
                <a:solidFill>
                  <a:srgbClr val="E6EDF3"/>
                </a:solidFill>
                <a:latin typeface="微软雅黑"/>
                <a:ea typeface="微软雅黑"/>
                <a:cs typeface="微软雅黑"/>
              </a:rPr>
              <a:t>无证据不得高置信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72350" y="4191000"/>
            <a:ext cx="37338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9FA6AD"/>
                </a:solidFill>
                <a:latin typeface="微软雅黑"/>
                <a:ea typeface="微软雅黑"/>
                <a:cs typeface="微软雅黑"/>
              </a:rPr>
              <a:t>没有可定位证据的判定不能给高置信度。这把「AI 不能瞎说」从口号变成可执行的校验规则。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81850" y="5295900"/>
            <a:ext cx="41148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8E959D"/>
                </a:solidFill>
                <a:latin typeface="微软雅黑"/>
                <a:ea typeface="微软雅黑"/>
                <a:cs typeface="微软雅黑"/>
              </a:rPr>
              <a:t>契约里 evidence 字段的 quote 一律取自解析出的报告原文，不取任何改写后的文本。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25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667500" y="571500"/>
            <a:ext cx="5524500" cy="5715000"/>
          </a:xfrm>
          <a:prstGeom prst="rect">
            <a:avLst/>
          </a:prstGeom>
          <a:solidFill>
            <a:srgbClr val="0C1C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143000" y="1428750"/>
            <a:ext cx="28575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0" b="1" i="0">
                <a:solidFill>
                  <a:srgbClr val="144544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857500"/>
            <a:ext cx="8572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 i="0">
                <a:solidFill>
                  <a:srgbClr val="E6EDF3"/>
                </a:solidFill>
                <a:latin typeface="微软雅黑"/>
                <a:ea typeface="微软雅黑"/>
                <a:cs typeface="微软雅黑"/>
              </a:rPr>
              <a:t>能力、工程与质量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1100" y="3810000"/>
            <a:ext cx="8572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0" i="0">
                <a:solidFill>
                  <a:srgbClr val="A0A6AC"/>
                </a:solidFill>
                <a:latin typeface="微软雅黑"/>
                <a:ea typeface="微软雅黑"/>
                <a:cs typeface="微软雅黑"/>
              </a:rPr>
              <a:t>AI 能力 · 专家智能体的构成与使用深度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1100" y="4191000"/>
            <a:ext cx="8572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0" i="0">
                <a:solidFill>
                  <a:srgbClr val="A0A6AC"/>
                </a:solidFill>
                <a:latin typeface="微软雅黑"/>
                <a:ea typeface="微软雅黑"/>
                <a:cs typeface="微软雅黑"/>
              </a:rPr>
              <a:t>工程可复算 · 门禁、自测与跨端对拍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1100" y="4572000"/>
            <a:ext cx="8572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0" i="0">
                <a:solidFill>
                  <a:srgbClr val="A0A6AC"/>
                </a:solidFill>
                <a:latin typeface="微软雅黑"/>
                <a:ea typeface="微软雅黑"/>
                <a:cs typeface="微软雅黑"/>
              </a:rPr>
              <a:t>质量自证 · 一致性评测与主动披露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571500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i="0">
                <a:solidFill>
                  <a:srgbClr val="666C72"/>
                </a:solidFill>
                <a:latin typeface="Consolas"/>
                <a:ea typeface="Consolas"/>
                <a:cs typeface="Consolas"/>
              </a:rPr>
              <a:t>03 · CAPABILITY &amp; EVIDENCE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762000"/>
            <a:ext cx="108204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1" i="0">
                <a:solidFill>
                  <a:srgbClr val="E6EDF3"/>
                </a:solidFill>
                <a:latin typeface="微软雅黑"/>
                <a:ea typeface="微软雅黑"/>
                <a:cs typeface="微软雅黑"/>
              </a:rPr>
              <a:t>五件套：能力本体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71575"/>
            <a:ext cx="10820400" cy="9525"/>
          </a:xfrm>
          <a:prstGeom prst="rect">
            <a:avLst/>
          </a:prstGeom>
          <a:solidFill>
            <a:srgbClr val="12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85800" y="6515100"/>
            <a:ext cx="133350" cy="133350"/>
          </a:xfrm>
          <a:prstGeom prst="roundRect">
            <a:avLst>
              <a:gd name="adj" fmla="val 21428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14400" y="649605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0" i="0">
                <a:solidFill>
                  <a:srgbClr val="787E84"/>
                </a:solidFill>
                <a:latin typeface="Consolas"/>
                <a:ea typeface="Consolas"/>
                <a:cs typeface="Consolas"/>
              </a:rPr>
              <a:t>AUTOGRADER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63200" y="6496050"/>
            <a:ext cx="1143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050" b="0" i="0">
                <a:solidFill>
                  <a:srgbClr val="6D7278"/>
                </a:solidFill>
                <a:latin typeface="Consolas"/>
                <a:ea typeface="Consolas"/>
                <a:cs typeface="Consolas"/>
              </a:rPr>
              <a:t>11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47800"/>
            <a:ext cx="3390900" cy="4838700"/>
          </a:xfrm>
          <a:prstGeom prst="roundRect">
            <a:avLst>
              <a:gd name="adj" fmla="val 3932"/>
            </a:avLst>
          </a:prstGeom>
          <a:solidFill>
            <a:srgbClr val="151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3450" y="1714500"/>
            <a:ext cx="28956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979EA5"/>
                </a:solidFill>
                <a:latin typeface="微软雅黑"/>
                <a:ea typeface="微软雅黑"/>
                <a:cs typeface="微软雅黑"/>
              </a:rPr>
              <a:t>专家智能体包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2114550"/>
            <a:ext cx="28956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 i="0">
                <a:solidFill>
                  <a:srgbClr val="2DD4BF"/>
                </a:solidFill>
                <a:latin typeface="Consolas"/>
                <a:ea typeface="Consolas"/>
                <a:cs typeface="Consolas"/>
              </a:rPr>
              <a:t>5 + 8 + 6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2781300"/>
            <a:ext cx="28956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275" b="0" i="0">
                <a:solidFill>
                  <a:srgbClr val="979EA5"/>
                </a:solidFill>
                <a:latin typeface="微软雅黑"/>
                <a:ea typeface="微软雅黑"/>
                <a:cs typeface="微软雅黑"/>
              </a:rPr>
              <a:t>五件套 · 八项技能 · 六件工具。AI 推理在这里完成，产物是结构化数据，不是一句回答。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3450" y="3657600"/>
            <a:ext cx="2895600" cy="9525"/>
          </a:xfrm>
          <a:prstGeom prst="rect">
            <a:avLst/>
          </a:prstGeom>
          <a:solidFill>
            <a:srgbClr val="1A44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3450" y="3867150"/>
            <a:ext cx="28956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75" b="1" i="0">
                <a:solidFill>
                  <a:srgbClr val="2DD4BF"/>
                </a:solidFill>
                <a:latin typeface="微软雅黑"/>
                <a:ea typeface="微软雅黑"/>
                <a:cs typeface="微软雅黑"/>
              </a:rPr>
              <a:t>Tool 的三条判据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450" y="4210050"/>
            <a:ext cx="28956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979EA5"/>
                </a:solidFill>
                <a:latin typeface="微软雅黑"/>
                <a:ea typeface="微软雅黑"/>
                <a:cs typeface="微软雅黑"/>
              </a:rPr>
              <a:t>→ 同输入必得同输出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3450" y="4495800"/>
            <a:ext cx="28956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979EA5"/>
                </a:solidFill>
                <a:latin typeface="微软雅黑"/>
                <a:ea typeface="微软雅黑"/>
                <a:cs typeface="微软雅黑"/>
              </a:rPr>
              <a:t>→ 可被第三方复算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450" y="4781550"/>
            <a:ext cx="28956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979EA5"/>
                </a:solidFill>
                <a:latin typeface="微软雅黑"/>
                <a:ea typeface="微软雅黑"/>
                <a:cs typeface="微软雅黑"/>
              </a:rPr>
              <a:t>→ 输出里不出现形容词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3450" y="5181600"/>
            <a:ext cx="2895600" cy="9525"/>
          </a:xfrm>
          <a:prstGeom prst="rect">
            <a:avLst/>
          </a:prstGeom>
          <a:solidFill>
            <a:srgbClr val="1A44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3450" y="5391150"/>
            <a:ext cx="28956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888F97"/>
                </a:solidFill>
                <a:latin typeface="微软雅黑"/>
                <a:ea typeface="微软雅黑"/>
                <a:cs typeface="微软雅黑"/>
              </a:rPr>
              <a:t>工具链只用 Python 标准库：无第三方依赖、无网络调用、无 AI 调用。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57700" y="1447800"/>
            <a:ext cx="7048500" cy="891540"/>
          </a:xfrm>
          <a:prstGeom prst="roundRect">
            <a:avLst>
              <a:gd name="adj" fmla="val 10683"/>
            </a:avLst>
          </a:prstGeom>
          <a:solidFill>
            <a:srgbClr val="151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29150" y="1562100"/>
            <a:ext cx="10477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1" i="0">
                <a:solidFill>
                  <a:srgbClr val="2DD4BF"/>
                </a:solidFill>
                <a:latin typeface="Consolas"/>
                <a:ea typeface="Consolas"/>
                <a:cs typeface="Consolas"/>
              </a:rPr>
              <a:t>Prompt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95950" y="1562100"/>
            <a:ext cx="12382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1" i="0">
                <a:solidFill>
                  <a:srgbClr val="E6EDF3"/>
                </a:solidFill>
                <a:latin typeface="微软雅黑"/>
                <a:ea typeface="微软雅黑"/>
                <a:cs typeface="微软雅黑"/>
              </a:rPr>
              <a:t>系统提示词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10400" y="1562100"/>
            <a:ext cx="43053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9FA6AD"/>
                </a:solidFill>
                <a:latin typeface="微软雅黑"/>
                <a:ea typeface="微软雅黑"/>
                <a:cs typeface="微软雅黑"/>
              </a:rPr>
              <a:t>定义角色、评分标准、输出契约与总分口径，把口径写死在提示词里，避免模型自创算法。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57700" y="2434590"/>
            <a:ext cx="7048500" cy="891540"/>
          </a:xfrm>
          <a:prstGeom prst="roundRect">
            <a:avLst>
              <a:gd name="adj" fmla="val 10683"/>
            </a:avLst>
          </a:prstGeom>
          <a:solidFill>
            <a:srgbClr val="151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629150" y="2548890"/>
            <a:ext cx="10477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1" i="0">
                <a:solidFill>
                  <a:srgbClr val="2DD4BF"/>
                </a:solidFill>
                <a:latin typeface="Consolas"/>
                <a:ea typeface="Consolas"/>
                <a:cs typeface="Consolas"/>
              </a:rPr>
              <a:t>Skills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95950" y="2548890"/>
            <a:ext cx="12382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1" i="0">
                <a:solidFill>
                  <a:srgbClr val="E6EDF3"/>
                </a:solidFill>
                <a:latin typeface="微软雅黑"/>
                <a:ea typeface="微软雅黑"/>
                <a:cs typeface="微软雅黑"/>
              </a:rPr>
              <a:t>八项技能规格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10400" y="2548890"/>
            <a:ext cx="43053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9FA6AD"/>
                </a:solidFill>
                <a:latin typeface="微软雅黑"/>
                <a:ea typeface="微软雅黑"/>
                <a:cs typeface="微软雅黑"/>
              </a:rPr>
              <a:t>S0 路由到 S7 复核，覆盖建标、解析、取证、判定、计算、装配、评语与解释的全流程。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57700" y="3421380"/>
            <a:ext cx="7048500" cy="891540"/>
          </a:xfrm>
          <a:prstGeom prst="roundRect">
            <a:avLst>
              <a:gd name="adj" fmla="val 10683"/>
            </a:avLst>
          </a:prstGeom>
          <a:solidFill>
            <a:srgbClr val="151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4629150" y="3535680"/>
            <a:ext cx="10477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1" i="0">
                <a:solidFill>
                  <a:srgbClr val="2DD4BF"/>
                </a:solidFill>
                <a:latin typeface="Consolas"/>
                <a:ea typeface="Consolas"/>
                <a:cs typeface="Consolas"/>
              </a:rPr>
              <a:t>Tools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95950" y="3535680"/>
            <a:ext cx="12382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1" i="0">
                <a:solidFill>
                  <a:srgbClr val="E6EDF3"/>
                </a:solidFill>
                <a:latin typeface="微软雅黑"/>
                <a:ea typeface="微软雅黑"/>
                <a:cs typeface="微软雅黑"/>
              </a:rPr>
              <a:t>六件确定性工具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10400" y="3535680"/>
            <a:ext cx="43053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9FA6AD"/>
                </a:solidFill>
                <a:latin typeface="微软雅黑"/>
                <a:ea typeface="微软雅黑"/>
                <a:cs typeface="微软雅黑"/>
              </a:rPr>
              <a:t>解析器、核查器、引用解析器、计算器、契约校验器、资产库，全部是可被验证的纯函数。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457700" y="4408170"/>
            <a:ext cx="7048500" cy="891540"/>
          </a:xfrm>
          <a:prstGeom prst="roundRect">
            <a:avLst>
              <a:gd name="adj" fmla="val 10683"/>
            </a:avLst>
          </a:prstGeom>
          <a:solidFill>
            <a:srgbClr val="151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629150" y="4522470"/>
            <a:ext cx="10477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1" i="0">
                <a:solidFill>
                  <a:srgbClr val="2DD4BF"/>
                </a:solidFill>
                <a:latin typeface="Consolas"/>
                <a:ea typeface="Consolas"/>
                <a:cs typeface="Consolas"/>
              </a:rPr>
              <a:t>Workflow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95950" y="4522470"/>
            <a:ext cx="12382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1" i="0">
                <a:solidFill>
                  <a:srgbClr val="E6EDF3"/>
                </a:solidFill>
                <a:latin typeface="微软雅黑"/>
                <a:ea typeface="微软雅黑"/>
                <a:cs typeface="微软雅黑"/>
              </a:rPr>
              <a:t>编排与失败重试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10400" y="4522470"/>
            <a:ext cx="43053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9FA6AD"/>
                </a:solidFill>
                <a:latin typeface="微软雅黑"/>
                <a:ea typeface="微软雅黑"/>
                <a:cs typeface="微软雅黑"/>
              </a:rPr>
              <a:t>给出两种编排形态的可校验等价判据，以及失败时的降级与重试边界。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57700" y="5394960"/>
            <a:ext cx="7048500" cy="891540"/>
          </a:xfrm>
          <a:prstGeom prst="roundRect">
            <a:avLst>
              <a:gd name="adj" fmla="val 10683"/>
            </a:avLst>
          </a:prstGeom>
          <a:solidFill>
            <a:srgbClr val="151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4629150" y="5509260"/>
            <a:ext cx="10477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1" i="0">
                <a:solidFill>
                  <a:srgbClr val="2DD4BF"/>
                </a:solidFill>
                <a:latin typeface="Consolas"/>
                <a:ea typeface="Consolas"/>
                <a:cs typeface="Consolas"/>
              </a:rPr>
              <a:t>Evaluation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95950" y="5509260"/>
            <a:ext cx="12382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1" i="0">
                <a:solidFill>
                  <a:srgbClr val="E6EDF3"/>
                </a:solidFill>
                <a:latin typeface="微软雅黑"/>
                <a:ea typeface="微软雅黑"/>
                <a:cs typeface="微软雅黑"/>
              </a:rPr>
              <a:t>评测与回归门禁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10400" y="5509260"/>
            <a:ext cx="43053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9FA6AD"/>
                </a:solidFill>
                <a:latin typeface="微软雅黑"/>
                <a:ea typeface="微软雅黑"/>
                <a:cs typeface="微软雅黑"/>
              </a:rPr>
              <a:t>四项指标口径统一，回归门禁把「劣化」变成退出码，CI 可以直接依赖。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762000"/>
            <a:ext cx="108204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1" i="0">
                <a:solidFill>
                  <a:srgbClr val="E6EDF3"/>
                </a:solidFill>
                <a:latin typeface="微软雅黑"/>
                <a:ea typeface="微软雅黑"/>
                <a:cs typeface="微软雅黑"/>
              </a:rPr>
              <a:t>8 个 Skill，6 件 Tool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71575"/>
            <a:ext cx="10820400" cy="9525"/>
          </a:xfrm>
          <a:prstGeom prst="rect">
            <a:avLst/>
          </a:prstGeom>
          <a:solidFill>
            <a:srgbClr val="12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85800" y="6515100"/>
            <a:ext cx="133350" cy="133350"/>
          </a:xfrm>
          <a:prstGeom prst="roundRect">
            <a:avLst>
              <a:gd name="adj" fmla="val 21428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14400" y="649605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0" i="0">
                <a:solidFill>
                  <a:srgbClr val="787E84"/>
                </a:solidFill>
                <a:latin typeface="Consolas"/>
                <a:ea typeface="Consolas"/>
                <a:cs typeface="Consolas"/>
              </a:rPr>
              <a:t>AUTOGRADER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63200" y="6496050"/>
            <a:ext cx="1143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050" b="0" i="0">
                <a:solidFill>
                  <a:srgbClr val="6D7278"/>
                </a:solidFill>
                <a:latin typeface="Consolas"/>
                <a:ea typeface="Consolas"/>
                <a:cs typeface="Consolas"/>
              </a:rPr>
              <a:t>12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47800"/>
            <a:ext cx="5257800" cy="4838700"/>
          </a:xfrm>
          <a:prstGeom prst="roundRect">
            <a:avLst>
              <a:gd name="adj" fmla="val 2755"/>
            </a:avLst>
          </a:prstGeom>
          <a:solidFill>
            <a:srgbClr val="151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95350" y="1638300"/>
            <a:ext cx="48387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50" b="1" i="0">
                <a:solidFill>
                  <a:srgbClr val="E6EDF3"/>
                </a:solidFill>
                <a:latin typeface="微软雅黑"/>
                <a:ea typeface="微软雅黑"/>
                <a:cs typeface="微软雅黑"/>
              </a:rPr>
              <a:t>8 个 Skill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5350" y="1981200"/>
            <a:ext cx="48387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5" b="0" i="0">
                <a:solidFill>
                  <a:srgbClr val="9299A1"/>
                </a:solidFill>
                <a:latin typeface="微软雅黑"/>
                <a:ea typeface="微软雅黑"/>
                <a:cs typeface="微软雅黑"/>
              </a:rPr>
              <a:t>规格与流程，允许判断与解释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5350" y="2305050"/>
            <a:ext cx="4838700" cy="438150"/>
          </a:xfrm>
          <a:prstGeom prst="roundRect">
            <a:avLst>
              <a:gd name="adj" fmla="val 17391"/>
            </a:avLst>
          </a:prstGeom>
          <a:solidFill>
            <a:srgbClr val="1729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47750" y="2409825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75" b="0" i="0">
                <a:solidFill>
                  <a:srgbClr val="E6EDF3"/>
                </a:solidFill>
                <a:latin typeface="微软雅黑"/>
                <a:ea typeface="微软雅黑"/>
                <a:cs typeface="微软雅黑"/>
              </a:rPr>
              <a:t>S0 任务路由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5350" y="2800350"/>
            <a:ext cx="4838700" cy="438150"/>
          </a:xfrm>
          <a:prstGeom prst="roundRect">
            <a:avLst>
              <a:gd name="adj" fmla="val 17391"/>
            </a:avLst>
          </a:prstGeom>
          <a:solidFill>
            <a:srgbClr val="1729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047750" y="2905125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75" b="0" i="0">
                <a:solidFill>
                  <a:srgbClr val="E6EDF3"/>
                </a:solidFill>
                <a:latin typeface="微软雅黑"/>
                <a:ea typeface="微软雅黑"/>
                <a:cs typeface="微软雅黑"/>
              </a:rPr>
              <a:t>S1 Rubric 构建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5350" y="3295650"/>
            <a:ext cx="4838700" cy="438150"/>
          </a:xfrm>
          <a:prstGeom prst="roundRect">
            <a:avLst>
              <a:gd name="adj" fmla="val 17391"/>
            </a:avLst>
          </a:prstGeom>
          <a:solidFill>
            <a:srgbClr val="1729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047750" y="3400425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75" b="0" i="0">
                <a:solidFill>
                  <a:srgbClr val="E6EDF3"/>
                </a:solidFill>
                <a:latin typeface="微软雅黑"/>
                <a:ea typeface="微软雅黑"/>
                <a:cs typeface="微软雅黑"/>
              </a:rPr>
              <a:t>S2 报告解析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5350" y="3790950"/>
            <a:ext cx="4838700" cy="438150"/>
          </a:xfrm>
          <a:prstGeom prst="roundRect">
            <a:avLst>
              <a:gd name="adj" fmla="val 17391"/>
            </a:avLst>
          </a:prstGeom>
          <a:solidFill>
            <a:srgbClr val="1729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47750" y="3895725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75" b="0" i="0">
                <a:solidFill>
                  <a:srgbClr val="E6EDF3"/>
                </a:solidFill>
                <a:latin typeface="微软雅黑"/>
                <a:ea typeface="微软雅黑"/>
                <a:cs typeface="微软雅黑"/>
              </a:rPr>
              <a:t>S3 证据取证与逐点判定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5350" y="4286250"/>
            <a:ext cx="4838700" cy="438150"/>
          </a:xfrm>
          <a:prstGeom prst="roundRect">
            <a:avLst>
              <a:gd name="adj" fmla="val 17391"/>
            </a:avLst>
          </a:prstGeom>
          <a:solidFill>
            <a:srgbClr val="1729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047750" y="4391025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75" b="0" i="0">
                <a:solidFill>
                  <a:srgbClr val="E6EDF3"/>
                </a:solidFill>
                <a:latin typeface="微软雅黑"/>
                <a:ea typeface="微软雅黑"/>
                <a:cs typeface="微软雅黑"/>
              </a:rPr>
              <a:t>S4 总分计算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5350" y="4781550"/>
            <a:ext cx="4838700" cy="438150"/>
          </a:xfrm>
          <a:prstGeom prst="roundRect">
            <a:avLst>
              <a:gd name="adj" fmla="val 17391"/>
            </a:avLst>
          </a:prstGeom>
          <a:solidFill>
            <a:srgbClr val="1729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047750" y="4886325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75" b="0" i="0">
                <a:solidFill>
                  <a:srgbClr val="E6EDF3"/>
                </a:solidFill>
                <a:latin typeface="微软雅黑"/>
                <a:ea typeface="微软雅黑"/>
                <a:cs typeface="微软雅黑"/>
              </a:rPr>
              <a:t>S5 结构装配与自检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5350" y="5276850"/>
            <a:ext cx="4838700" cy="438150"/>
          </a:xfrm>
          <a:prstGeom prst="roundRect">
            <a:avLst>
              <a:gd name="adj" fmla="val 17391"/>
            </a:avLst>
          </a:prstGeom>
          <a:solidFill>
            <a:srgbClr val="1729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047750" y="5381625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75" b="0" i="0">
                <a:solidFill>
                  <a:srgbClr val="E6EDF3"/>
                </a:solidFill>
                <a:latin typeface="微软雅黑"/>
                <a:ea typeface="微软雅黑"/>
                <a:cs typeface="微软雅黑"/>
              </a:rPr>
              <a:t>S6 评语生成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5350" y="5772150"/>
            <a:ext cx="4838700" cy="438150"/>
          </a:xfrm>
          <a:prstGeom prst="roundRect">
            <a:avLst>
              <a:gd name="adj" fmla="val 17391"/>
            </a:avLst>
          </a:prstGeom>
          <a:solidFill>
            <a:srgbClr val="1729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047750" y="5876925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75" b="0" i="0">
                <a:solidFill>
                  <a:srgbClr val="E6EDF3"/>
                </a:solidFill>
                <a:latin typeface="微软雅黑"/>
                <a:ea typeface="微软雅黑"/>
                <a:cs typeface="微软雅黑"/>
              </a:rPr>
              <a:t>S7 复核与解释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48400" y="1447800"/>
            <a:ext cx="5257800" cy="4838700"/>
          </a:xfrm>
          <a:prstGeom prst="roundRect">
            <a:avLst>
              <a:gd name="adj" fmla="val 2755"/>
            </a:avLst>
          </a:prstGeom>
          <a:solidFill>
            <a:srgbClr val="151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457950" y="1638300"/>
            <a:ext cx="48387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50" b="1" i="0">
                <a:solidFill>
                  <a:srgbClr val="2DD4BF"/>
                </a:solidFill>
                <a:latin typeface="微软雅黑"/>
                <a:ea typeface="微软雅黑"/>
                <a:cs typeface="微软雅黑"/>
              </a:rPr>
              <a:t>6 件 Tool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57950" y="1981200"/>
            <a:ext cx="48387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5" b="0" i="0">
                <a:solidFill>
                  <a:srgbClr val="9299A1"/>
                </a:solidFill>
                <a:latin typeface="微软雅黑"/>
                <a:ea typeface="微软雅黑"/>
                <a:cs typeface="微软雅黑"/>
              </a:rPr>
              <a:t>确定性可执行脚本，可被第三方复算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57950" y="2305050"/>
            <a:ext cx="4838700" cy="273050"/>
          </a:xfrm>
          <a:prstGeom prst="roundRect">
            <a:avLst>
              <a:gd name="adj" fmla="val 27906"/>
            </a:avLst>
          </a:prstGeom>
          <a:solidFill>
            <a:srgbClr val="183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610350" y="2327275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75" b="0" i="0">
                <a:solidFill>
                  <a:srgbClr val="E6EDF3"/>
                </a:solidFill>
                <a:latin typeface="微软雅黑"/>
                <a:ea typeface="微软雅黑"/>
                <a:cs typeface="微软雅黑"/>
              </a:rPr>
              <a:t>T1 文档解析器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57950" y="2635250"/>
            <a:ext cx="4838700" cy="273050"/>
          </a:xfrm>
          <a:prstGeom prst="roundRect">
            <a:avLst>
              <a:gd name="adj" fmla="val 27906"/>
            </a:avLst>
          </a:prstGeom>
          <a:solidFill>
            <a:srgbClr val="183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610350" y="2657475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75" b="0" i="0">
                <a:solidFill>
                  <a:srgbClr val="E6EDF3"/>
                </a:solidFill>
                <a:latin typeface="微软雅黑"/>
                <a:ea typeface="微软雅黑"/>
                <a:cs typeface="微软雅黑"/>
              </a:rPr>
              <a:t>T2 客观核查器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57950" y="2965450"/>
            <a:ext cx="4838700" cy="273050"/>
          </a:xfrm>
          <a:prstGeom prst="roundRect">
            <a:avLst>
              <a:gd name="adj" fmla="val 27906"/>
            </a:avLst>
          </a:prstGeom>
          <a:solidFill>
            <a:srgbClr val="183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610350" y="2987675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75" b="0" i="0">
                <a:solidFill>
                  <a:srgbClr val="E6EDF3"/>
                </a:solidFill>
                <a:latin typeface="微软雅黑"/>
                <a:ea typeface="微软雅黑"/>
                <a:cs typeface="微软雅黑"/>
              </a:rPr>
              <a:t>T3 引用解析器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57950" y="3295650"/>
            <a:ext cx="4838700" cy="273050"/>
          </a:xfrm>
          <a:prstGeom prst="roundRect">
            <a:avLst>
              <a:gd name="adj" fmla="val 27906"/>
            </a:avLst>
          </a:prstGeom>
          <a:solidFill>
            <a:srgbClr val="183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610350" y="3317875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75" b="0" i="0">
                <a:solidFill>
                  <a:srgbClr val="E6EDF3"/>
                </a:solidFill>
                <a:latin typeface="微软雅黑"/>
                <a:ea typeface="微软雅黑"/>
                <a:cs typeface="微软雅黑"/>
              </a:rPr>
              <a:t>T4 确定性计算器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57950" y="3625850"/>
            <a:ext cx="4838700" cy="273050"/>
          </a:xfrm>
          <a:prstGeom prst="roundRect">
            <a:avLst>
              <a:gd name="adj" fmla="val 27906"/>
            </a:avLst>
          </a:prstGeom>
          <a:solidFill>
            <a:srgbClr val="183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610350" y="3648075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75" b="0" i="0">
                <a:solidFill>
                  <a:srgbClr val="E6EDF3"/>
                </a:solidFill>
                <a:latin typeface="微软雅黑"/>
                <a:ea typeface="微软雅黑"/>
                <a:cs typeface="微软雅黑"/>
              </a:rPr>
              <a:t>T5 契约校验器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57950" y="3956050"/>
            <a:ext cx="4838700" cy="273050"/>
          </a:xfrm>
          <a:prstGeom prst="roundRect">
            <a:avLst>
              <a:gd name="adj" fmla="val 27906"/>
            </a:avLst>
          </a:prstGeom>
          <a:solidFill>
            <a:srgbClr val="183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610350" y="3978275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75" b="0" i="0">
                <a:solidFill>
                  <a:srgbClr val="E6EDF3"/>
                </a:solidFill>
                <a:latin typeface="微软雅黑"/>
                <a:ea typeface="微软雅黑"/>
                <a:cs typeface="微软雅黑"/>
              </a:rPr>
              <a:t>T6 资产库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57950" y="4305300"/>
            <a:ext cx="4838700" cy="9525"/>
          </a:xfrm>
          <a:prstGeom prst="rect">
            <a:avLst/>
          </a:prstGeom>
          <a:solidFill>
            <a:srgbClr val="1A44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6457950" y="4457700"/>
            <a:ext cx="48387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75" b="1" i="0">
                <a:solidFill>
                  <a:srgbClr val="2DD4BF"/>
                </a:solidFill>
                <a:latin typeface="微软雅黑"/>
                <a:ea typeface="微软雅黑"/>
                <a:cs typeface="微软雅黑"/>
              </a:rPr>
              <a:t>判定什么才算 Tool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57950" y="4781550"/>
            <a:ext cx="48387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979EA5"/>
                </a:solidFill>
                <a:latin typeface="微软雅黑"/>
                <a:ea typeface="微软雅黑"/>
                <a:cs typeface="微软雅黑"/>
              </a:rPr>
              <a:t>→ 同输入必得同输出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57950" y="5067300"/>
            <a:ext cx="48387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979EA5"/>
                </a:solidFill>
                <a:latin typeface="微软雅黑"/>
                <a:ea typeface="微软雅黑"/>
                <a:cs typeface="微软雅黑"/>
              </a:rPr>
              <a:t>→ 可被第三方复算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57950" y="5353050"/>
            <a:ext cx="48387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979EA5"/>
                </a:solidFill>
                <a:latin typeface="微软雅黑"/>
                <a:ea typeface="微软雅黑"/>
                <a:cs typeface="微软雅黑"/>
              </a:rPr>
              <a:t>→ 输出里不出现形容词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57950" y="5695950"/>
            <a:ext cx="48387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888F97"/>
                </a:solidFill>
                <a:latin typeface="微软雅黑"/>
                <a:ea typeface="微软雅黑"/>
                <a:cs typeface="微软雅黑"/>
              </a:rPr>
              <a:t>三条全中才算 Tool；只满足部分则留作 Skill，不做成脚本。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762000"/>
            <a:ext cx="108204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1" i="0">
                <a:solidFill>
                  <a:srgbClr val="E6EDF3"/>
                </a:solidFill>
                <a:latin typeface="微软雅黑"/>
                <a:ea typeface="微软雅黑"/>
                <a:cs typeface="微软雅黑"/>
              </a:rPr>
              <a:t>2186 次工具调用之后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71575"/>
            <a:ext cx="10820400" cy="9525"/>
          </a:xfrm>
          <a:prstGeom prst="rect">
            <a:avLst/>
          </a:prstGeom>
          <a:solidFill>
            <a:srgbClr val="12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85800" y="6515100"/>
            <a:ext cx="133350" cy="133350"/>
          </a:xfrm>
          <a:prstGeom prst="roundRect">
            <a:avLst>
              <a:gd name="adj" fmla="val 21428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14400" y="649605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0" i="0">
                <a:solidFill>
                  <a:srgbClr val="787E84"/>
                </a:solidFill>
                <a:latin typeface="Consolas"/>
                <a:ea typeface="Consolas"/>
                <a:cs typeface="Consolas"/>
              </a:rPr>
              <a:t>AUTOGRADER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63200" y="6496050"/>
            <a:ext cx="1143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050" b="0" i="0">
                <a:solidFill>
                  <a:srgbClr val="6D7278"/>
                </a:solidFill>
                <a:latin typeface="Consolas"/>
                <a:ea typeface="Consolas"/>
                <a:cs typeface="Consolas"/>
              </a:rPr>
              <a:t>13 /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3550"/>
            <a:ext cx="6667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900" b="1" i="0">
                <a:solidFill>
                  <a:srgbClr val="2DD4BF"/>
                </a:solidFill>
                <a:latin typeface="Consolas"/>
                <a:ea typeface="Consolas"/>
                <a:cs typeface="Consolas"/>
              </a:rPr>
              <a:t>2186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1813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50" b="0" i="0">
                <a:solidFill>
                  <a:srgbClr val="A4AAB0"/>
                </a:solidFill>
                <a:latin typeface="微软雅黑"/>
                <a:ea typeface="微软雅黑"/>
                <a:cs typeface="微软雅黑"/>
              </a:rPr>
              <a:t>次工具调用 · 研发全程留痕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53300" y="1447800"/>
            <a:ext cx="4152900" cy="1123950"/>
          </a:xfrm>
          <a:prstGeom prst="roundRect">
            <a:avLst>
              <a:gd name="adj" fmla="val 8474"/>
            </a:avLst>
          </a:prstGeom>
          <a:solidFill>
            <a:srgbClr val="151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543800" y="1562100"/>
            <a:ext cx="104775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DD4BF"/>
                </a:solidFill>
                <a:latin typeface="Consolas"/>
                <a:ea typeface="Consolas"/>
                <a:cs typeface="Consolas"/>
              </a:rPr>
              <a:t>39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581150"/>
            <a:ext cx="26289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1" i="0">
                <a:solidFill>
                  <a:srgbClr val="E6EDF3"/>
                </a:solidFill>
                <a:latin typeface="微软雅黑"/>
                <a:ea typeface="微软雅黑"/>
                <a:cs typeface="微软雅黑"/>
              </a:rPr>
              <a:t>轮对话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1847850"/>
            <a:ext cx="26289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5" b="0" i="0">
                <a:solidFill>
                  <a:srgbClr val="9299A1"/>
                </a:solidFill>
                <a:latin typeface="微软雅黑"/>
                <a:ea typeface="微软雅黑"/>
                <a:cs typeface="微软雅黑"/>
              </a:rPr>
              <a:t>C-000 – C-038，连续无缺号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53300" y="2686050"/>
            <a:ext cx="4152900" cy="1123950"/>
          </a:xfrm>
          <a:prstGeom prst="roundRect">
            <a:avLst>
              <a:gd name="adj" fmla="val 8474"/>
            </a:avLst>
          </a:prstGeom>
          <a:solidFill>
            <a:srgbClr val="151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543800" y="2800350"/>
            <a:ext cx="104775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DD4BF"/>
                </a:solidFill>
                <a:latin typeface="Consolas"/>
                <a:ea typeface="Consolas"/>
                <a:cs typeface="Consolas"/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2819400"/>
            <a:ext cx="26289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1" i="0">
                <a:solidFill>
                  <a:srgbClr val="E6EDF3"/>
                </a:solidFill>
                <a:latin typeface="微软雅黑"/>
                <a:ea typeface="微软雅黑"/>
                <a:cs typeface="微软雅黑"/>
              </a:rPr>
              <a:t>份逐字转录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3086100"/>
            <a:ext cx="26289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5" b="0" i="0">
                <a:solidFill>
                  <a:srgbClr val="9299A1"/>
                </a:solidFill>
                <a:latin typeface="微软雅黑"/>
                <a:ea typeface="微软雅黑"/>
                <a:cs typeface="微软雅黑"/>
              </a:rPr>
              <a:t>用户与助手文本一字未改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53300" y="3924300"/>
            <a:ext cx="4152900" cy="1123950"/>
          </a:xfrm>
          <a:prstGeom prst="roundRect">
            <a:avLst>
              <a:gd name="adj" fmla="val 8474"/>
            </a:avLst>
          </a:prstGeom>
          <a:solidFill>
            <a:srgbClr val="151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543800" y="4038600"/>
            <a:ext cx="104775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DD4BF"/>
                </a:solidFill>
                <a:latin typeface="Consolas"/>
                <a:ea typeface="Consolas"/>
                <a:cs typeface="Consolas"/>
              </a:rPr>
              <a:t>112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4057650"/>
            <a:ext cx="26289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1" i="0">
                <a:solidFill>
                  <a:srgbClr val="E6EDF3"/>
                </a:solidFill>
                <a:latin typeface="微软雅黑"/>
                <a:ea typeface="微软雅黑"/>
                <a:cs typeface="微软雅黑"/>
              </a:rPr>
              <a:t>次用户输入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4324350"/>
            <a:ext cx="26289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5" b="0" i="0">
                <a:solidFill>
                  <a:srgbClr val="9299A1"/>
                </a:solidFill>
                <a:latin typeface="微软雅黑"/>
                <a:ea typeface="微软雅黑"/>
                <a:cs typeface="微软雅黑"/>
              </a:rPr>
              <a:t>人的决策与多轮迭代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53300" y="5162550"/>
            <a:ext cx="4152900" cy="1123950"/>
          </a:xfrm>
          <a:prstGeom prst="roundRect">
            <a:avLst>
              <a:gd name="adj" fmla="val 8474"/>
            </a:avLst>
          </a:prstGeom>
          <a:solidFill>
            <a:srgbClr val="151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543800" y="5276850"/>
            <a:ext cx="104775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DD4BF"/>
                </a:solidFill>
                <a:latin typeface="Consolas"/>
                <a:ea typeface="Consolas"/>
                <a:cs typeface="Consolas"/>
              </a:rPr>
              <a:t>812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5295900"/>
            <a:ext cx="26289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1" i="0">
                <a:solidFill>
                  <a:srgbClr val="E6EDF3"/>
                </a:solidFill>
                <a:latin typeface="微软雅黑"/>
                <a:ea typeface="微软雅黑"/>
                <a:cs typeface="微软雅黑"/>
              </a:rPr>
              <a:t>次助手回复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5562600"/>
            <a:ext cx="26289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5" b="0" i="0">
                <a:solidFill>
                  <a:srgbClr val="9299A1"/>
                </a:solidFill>
                <a:latin typeface="微软雅黑"/>
                <a:ea typeface="微软雅黑"/>
                <a:cs typeface="微软雅黑"/>
              </a:rPr>
              <a:t>含中间产物与校验结论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3829050"/>
            <a:ext cx="66675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8E949A"/>
                </a:solidFill>
                <a:latin typeface="微软雅黑"/>
                <a:ea typeface="微软雅黑"/>
                <a:cs typeface="微软雅黑"/>
              </a:rPr>
              <a:t>原始记录 33 MB / 7501 行 → 归档 11 份 / 874 KB（约 1/38）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4229100"/>
            <a:ext cx="6667500" cy="9525"/>
          </a:xfrm>
          <a:prstGeom prst="rect">
            <a:avLst/>
          </a:prstGeom>
          <a:solidFill>
            <a:srgbClr val="12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85800" y="4419600"/>
            <a:ext cx="6667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75" b="1" i="0">
                <a:solidFill>
                  <a:srgbClr val="2DD4BF"/>
                </a:solidFill>
                <a:latin typeface="微软雅黑"/>
                <a:ea typeface="微软雅黑"/>
                <a:cs typeface="微软雅黑"/>
              </a:rPr>
              <a:t>加工口径（如实声明）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4743450"/>
            <a:ext cx="66675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200" b="0" i="0">
                <a:solidFill>
                  <a:srgbClr val="92989E"/>
                </a:solidFill>
                <a:latin typeface="微软雅黑"/>
                <a:ea typeface="微软雅黑"/>
                <a:cs typeface="微软雅黑"/>
              </a:rPr>
              <a:t>凡属「谁说了什么」的，一字未改；凡属「机器跑了什么」的，压成一行。含 2 轮被中断、无结论的会话，未做美化删除。导出脚本带完整性断言 —— 磁盘上每个会话记录都必须被登记，否则中止导出，不存在「挑好看的几轮放进来」的可能。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762000"/>
            <a:ext cx="108204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1" i="0">
                <a:solidFill>
                  <a:srgbClr val="E6EDF3"/>
                </a:solidFill>
                <a:latin typeface="微软雅黑"/>
                <a:ea typeface="微软雅黑"/>
                <a:cs typeface="微软雅黑"/>
              </a:rPr>
              <a:t>过不了门禁，就出不了产物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71575"/>
            <a:ext cx="10820400" cy="9525"/>
          </a:xfrm>
          <a:prstGeom prst="rect">
            <a:avLst/>
          </a:prstGeom>
          <a:solidFill>
            <a:srgbClr val="12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85800" y="6515100"/>
            <a:ext cx="133350" cy="133350"/>
          </a:xfrm>
          <a:prstGeom prst="roundRect">
            <a:avLst>
              <a:gd name="adj" fmla="val 21428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14400" y="649605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0" i="0">
                <a:solidFill>
                  <a:srgbClr val="787E84"/>
                </a:solidFill>
                <a:latin typeface="Consolas"/>
                <a:ea typeface="Consolas"/>
                <a:cs typeface="Consolas"/>
              </a:rPr>
              <a:t>AUTOGRADER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63200" y="6496050"/>
            <a:ext cx="1143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050" b="0" i="0">
                <a:solidFill>
                  <a:srgbClr val="6D7278"/>
                </a:solidFill>
                <a:latin typeface="Consolas"/>
                <a:ea typeface="Consolas"/>
                <a:cs typeface="Consolas"/>
              </a:rPr>
              <a:t>14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47800"/>
            <a:ext cx="3390900" cy="4838700"/>
          </a:xfrm>
          <a:prstGeom prst="roundRect">
            <a:avLst>
              <a:gd name="adj" fmla="val 3932"/>
            </a:avLst>
          </a:prstGeom>
          <a:solidFill>
            <a:srgbClr val="151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3450" y="1714500"/>
            <a:ext cx="28956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979EA5"/>
                </a:solidFill>
                <a:latin typeface="微软雅黑"/>
                <a:ea typeface="微软雅黑"/>
                <a:cs typeface="微软雅黑"/>
              </a:rPr>
              <a:t>构建期门禁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2114550"/>
            <a:ext cx="28956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300" b="1" i="0">
                <a:solidFill>
                  <a:srgbClr val="2DD4BF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3086100"/>
            <a:ext cx="28956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275" b="0" i="0">
                <a:solidFill>
                  <a:srgbClr val="979EA5"/>
                </a:solidFill>
                <a:latin typeface="微软雅黑"/>
                <a:ea typeface="微软雅黑"/>
                <a:cs typeface="微软雅黑"/>
              </a:rPr>
              <a:t>任一道不过就不出产物。构建失败先于评审失败 —— 不合格的产物根本没有机会被展示。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3450" y="3962400"/>
            <a:ext cx="2895600" cy="9525"/>
          </a:xfrm>
          <a:prstGeom prst="rect">
            <a:avLst/>
          </a:prstGeom>
          <a:solidFill>
            <a:srgbClr val="1A44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3450" y="4191000"/>
            <a:ext cx="1238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2DD4BF"/>
                </a:solidFill>
                <a:latin typeface="Consolas"/>
                <a:ea typeface="Consolas"/>
                <a:cs typeface="Consolas"/>
              </a:rPr>
              <a:t>61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09800" y="4267200"/>
            <a:ext cx="158115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979EA5"/>
                </a:solidFill>
                <a:latin typeface="微软雅黑"/>
                <a:ea typeface="微软雅黑"/>
                <a:cs typeface="微软雅黑"/>
              </a:rPr>
              <a:t>项工具自测断言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3450" y="4781550"/>
            <a:ext cx="1238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2DD4BF"/>
                </a:solidFill>
                <a:latin typeface="Consolas"/>
                <a:ea typeface="Consolas"/>
                <a:cs typeface="Consolas"/>
              </a:rPr>
              <a:t>12/12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09800" y="4857750"/>
            <a:ext cx="158115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979EA5"/>
                </a:solidFill>
                <a:latin typeface="微软雅黑"/>
                <a:ea typeface="微软雅黑"/>
                <a:cs typeface="微软雅黑"/>
              </a:rPr>
              <a:t>跨端对拍结论一致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3450" y="5372100"/>
            <a:ext cx="1238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2DD4BF"/>
                </a:solidFill>
                <a:latin typeface="Consolas"/>
                <a:ea typeface="Consolas"/>
                <a:cs typeface="Consolas"/>
              </a:rPr>
              <a:t>21/21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09800" y="5448300"/>
            <a:ext cx="158115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979EA5"/>
                </a:solidFill>
                <a:latin typeface="微软雅黑"/>
                <a:ea typeface="微软雅黑"/>
                <a:cs typeface="微软雅黑"/>
              </a:rPr>
              <a:t>静态页生成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57700" y="1447800"/>
            <a:ext cx="7048500" cy="1409700"/>
          </a:xfrm>
          <a:prstGeom prst="roundRect">
            <a:avLst>
              <a:gd name="adj" fmla="val 8108"/>
            </a:avLst>
          </a:prstGeom>
          <a:solidFill>
            <a:srgbClr val="151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4457700" y="1447800"/>
            <a:ext cx="28575" cy="14097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667250" y="1638300"/>
            <a:ext cx="66294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i="0">
                <a:solidFill>
                  <a:srgbClr val="E6EDF3"/>
                </a:solidFill>
                <a:latin typeface="微软雅黑"/>
                <a:ea typeface="微软雅黑"/>
                <a:cs typeface="微软雅黑"/>
              </a:rPr>
              <a:t>门禁一 · 资产同步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7250" y="1981200"/>
            <a:ext cx="66294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9FA6AD"/>
                </a:solidFill>
                <a:latin typeface="微软雅黑"/>
                <a:ea typeface="微软雅黑"/>
                <a:cs typeface="微软雅黑"/>
              </a:rPr>
              <a:t>把随包资产同步进站点，使交付物自包含：站点不依赖任何后端服务，克隆下来即可运行。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57700" y="3009900"/>
            <a:ext cx="7048500" cy="1409700"/>
          </a:xfrm>
          <a:prstGeom prst="roundRect">
            <a:avLst>
              <a:gd name="adj" fmla="val 8108"/>
            </a:avLst>
          </a:prstGeom>
          <a:solidFill>
            <a:srgbClr val="151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4457700" y="3009900"/>
            <a:ext cx="28575" cy="14097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4667250" y="3200400"/>
            <a:ext cx="66294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i="0">
                <a:solidFill>
                  <a:srgbClr val="E6EDF3"/>
                </a:solidFill>
                <a:latin typeface="微软雅黑"/>
                <a:ea typeface="微软雅黑"/>
                <a:cs typeface="微软雅黑"/>
              </a:rPr>
              <a:t>门禁二 · 契约一致性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7250" y="3543300"/>
            <a:ext cx="66294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9FA6AD"/>
                </a:solidFill>
                <a:latin typeface="微软雅黑"/>
                <a:ea typeface="微软雅黑"/>
                <a:cs typeface="微软雅黑"/>
              </a:rPr>
              <a:t>比对前端类型契约与机器可读 schema 的对象层与字段差异，实测 23 个对象层、132 字段零差异。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57700" y="4572000"/>
            <a:ext cx="7048500" cy="1409700"/>
          </a:xfrm>
          <a:prstGeom prst="roundRect">
            <a:avLst>
              <a:gd name="adj" fmla="val 8108"/>
            </a:avLst>
          </a:prstGeom>
          <a:solidFill>
            <a:srgbClr val="151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4457700" y="4572000"/>
            <a:ext cx="28575" cy="14097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4667250" y="4762500"/>
            <a:ext cx="66294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i="0">
                <a:solidFill>
                  <a:srgbClr val="E6EDF3"/>
                </a:solidFill>
                <a:latin typeface="微软雅黑"/>
                <a:ea typeface="微软雅黑"/>
                <a:cs typeface="微软雅黑"/>
              </a:rPr>
              <a:t>门禁三 · 字体码位覆盖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7250" y="5105400"/>
            <a:ext cx="66294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9FA6AD"/>
                </a:solidFill>
                <a:latin typeface="微软雅黑"/>
                <a:ea typeface="微软雅黑"/>
                <a:cs typeface="微软雅黑"/>
              </a:rPr>
              <a:t>检查中文字体子集是否覆盖源码里实际用到的全部码位，防止真机出现豆腐块。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57700" y="6134100"/>
            <a:ext cx="7048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8E949A"/>
                </a:solidFill>
                <a:latin typeface="微软雅黑"/>
                <a:ea typeface="微软雅黑"/>
                <a:cs typeface="微软雅黑"/>
              </a:rPr>
              <a:t>另有类型检查 0 错、渲染核验 38/38 —— 这些数字都写在仓库里，可以被逐条复跑。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762000"/>
            <a:ext cx="108204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1" i="0">
                <a:solidFill>
                  <a:srgbClr val="E6EDF3"/>
                </a:solidFill>
                <a:latin typeface="微软雅黑"/>
                <a:ea typeface="微软雅黑"/>
                <a:cs typeface="微软雅黑"/>
              </a:rPr>
              <a:t>AI 到底准不准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71575"/>
            <a:ext cx="10820400" cy="9525"/>
          </a:xfrm>
          <a:prstGeom prst="rect">
            <a:avLst/>
          </a:prstGeom>
          <a:solidFill>
            <a:srgbClr val="12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85800" y="6515100"/>
            <a:ext cx="133350" cy="133350"/>
          </a:xfrm>
          <a:prstGeom prst="roundRect">
            <a:avLst>
              <a:gd name="adj" fmla="val 21428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14400" y="649605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0" i="0">
                <a:solidFill>
                  <a:srgbClr val="787E84"/>
                </a:solidFill>
                <a:latin typeface="Consolas"/>
                <a:ea typeface="Consolas"/>
                <a:cs typeface="Consolas"/>
              </a:rPr>
              <a:t>AUTOGRADER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63200" y="6496050"/>
            <a:ext cx="1143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050" b="0" i="0">
                <a:solidFill>
                  <a:srgbClr val="6D7278"/>
                </a:solidFill>
                <a:latin typeface="Consolas"/>
                <a:ea typeface="Consolas"/>
                <a:cs typeface="Consolas"/>
              </a:rPr>
              <a:t>15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47800"/>
            <a:ext cx="3505200" cy="1676400"/>
          </a:xfrm>
          <a:prstGeom prst="roundRect">
            <a:avLst>
              <a:gd name="adj" fmla="val 7954"/>
            </a:avLst>
          </a:prstGeom>
          <a:solidFill>
            <a:srgbClr val="151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76300" y="1619250"/>
            <a:ext cx="3124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9299A1"/>
                </a:solidFill>
                <a:latin typeface="微软雅黑"/>
                <a:ea typeface="微软雅黑"/>
                <a:cs typeface="微软雅黑"/>
              </a:rPr>
              <a:t>MAE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6300" y="1885950"/>
            <a:ext cx="31242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>
                <a:solidFill>
                  <a:srgbClr val="2DD4BF"/>
                </a:solidFill>
                <a:latin typeface="Consolas"/>
                <a:ea typeface="Consolas"/>
                <a:cs typeface="Consolas"/>
              </a:rPr>
              <a:t>3.05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6300" y="2705100"/>
            <a:ext cx="31242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979EA5"/>
                </a:solidFill>
                <a:latin typeface="微软雅黑"/>
                <a:ea typeface="微软雅黑"/>
                <a:cs typeface="微软雅黑"/>
              </a:rPr>
              <a:t>总分平均绝对误差 / 12 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447800"/>
            <a:ext cx="3505200" cy="1676400"/>
          </a:xfrm>
          <a:prstGeom prst="roundRect">
            <a:avLst>
              <a:gd name="adj" fmla="val 7954"/>
            </a:avLst>
          </a:prstGeom>
          <a:solidFill>
            <a:srgbClr val="151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533900" y="1619250"/>
            <a:ext cx="3124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9299A1"/>
                </a:solidFill>
                <a:latin typeface="微软雅黑"/>
                <a:ea typeface="微软雅黑"/>
                <a:cs typeface="微软雅黑"/>
              </a:rPr>
              <a:t>一致率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3900" y="1885950"/>
            <a:ext cx="31242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>
                <a:solidFill>
                  <a:srgbClr val="2DD4BF"/>
                </a:solidFill>
                <a:latin typeface="Consolas"/>
                <a:ea typeface="Consolas"/>
                <a:cs typeface="Consolas"/>
              </a:rPr>
              <a:t>0.74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3900" y="2705100"/>
            <a:ext cx="31242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979EA5"/>
                </a:solidFill>
                <a:latin typeface="微软雅黑"/>
                <a:ea typeface="微软雅黑"/>
                <a:cs typeface="微软雅黑"/>
              </a:rPr>
              <a:t>档位一致 106 / 144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01000" y="1447800"/>
            <a:ext cx="3505200" cy="1676400"/>
          </a:xfrm>
          <a:prstGeom prst="roundRect">
            <a:avLst>
              <a:gd name="adj" fmla="val 7954"/>
            </a:avLst>
          </a:prstGeom>
          <a:solidFill>
            <a:srgbClr val="151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191500" y="1619250"/>
            <a:ext cx="3124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9299A1"/>
                </a:solidFill>
                <a:latin typeface="微软雅黑"/>
                <a:ea typeface="微软雅黑"/>
                <a:cs typeface="微软雅黑"/>
              </a:rPr>
              <a:t>ECE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91500" y="1885950"/>
            <a:ext cx="31242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>
                <a:solidFill>
                  <a:srgbClr val="2DD4BF"/>
                </a:solidFill>
                <a:latin typeface="Consolas"/>
                <a:ea typeface="Consolas"/>
                <a:cs typeface="Consolas"/>
              </a:rPr>
              <a:t>0.12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91500" y="2705100"/>
            <a:ext cx="31242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979EA5"/>
                </a:solidFill>
                <a:latin typeface="微软雅黑"/>
                <a:ea typeface="微软雅黑"/>
                <a:cs typeface="微软雅黑"/>
              </a:rPr>
              <a:t>置信度校准误差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352800"/>
            <a:ext cx="10820400" cy="2933700"/>
          </a:xfrm>
          <a:prstGeom prst="roundRect">
            <a:avLst>
              <a:gd name="adj" fmla="val 4545"/>
            </a:avLst>
          </a:prstGeom>
          <a:solidFill>
            <a:srgbClr val="151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14400" y="3524250"/>
            <a:ext cx="571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1" i="0">
                <a:solidFill>
                  <a:srgbClr val="E6EDF3"/>
                </a:solidFill>
                <a:latin typeface="微软雅黑"/>
                <a:ea typeface="微软雅黑"/>
                <a:cs typeface="微软雅黑"/>
              </a:rPr>
              <a:t>按档位分组：总体 MAE 与差档 MAE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66800" y="5474494"/>
            <a:ext cx="1047750" cy="278606"/>
          </a:xfrm>
          <a:prstGeom prst="rect">
            <a:avLst/>
          </a:prstGeom>
          <a:solidFill>
            <a:srgbClr val="20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066800" y="5188744"/>
            <a:ext cx="104775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500" b="1" i="0">
                <a:solidFill>
                  <a:srgbClr val="206F6B"/>
                </a:solidFill>
                <a:latin typeface="Consolas"/>
                <a:ea typeface="Consolas"/>
                <a:cs typeface="Consolas"/>
              </a:rPr>
              <a:t>1.8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819400" y="5381625"/>
            <a:ext cx="1047750" cy="371475"/>
          </a:xfrm>
          <a:prstGeom prst="rect">
            <a:avLst/>
          </a:prstGeom>
          <a:solidFill>
            <a:srgbClr val="20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2819400" y="5095875"/>
            <a:ext cx="104775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500" b="1" i="0">
                <a:solidFill>
                  <a:srgbClr val="206F6B"/>
                </a:solidFill>
                <a:latin typeface="Consolas"/>
                <a:ea typeface="Consolas"/>
                <a:cs typeface="Consolas"/>
              </a:rPr>
              <a:t>2.4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0" y="5195888"/>
            <a:ext cx="1047750" cy="557212"/>
          </a:xfrm>
          <a:prstGeom prst="rect">
            <a:avLst/>
          </a:prstGeom>
          <a:solidFill>
            <a:srgbClr val="20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572000" y="4910138"/>
            <a:ext cx="104775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500" b="1" i="0">
                <a:solidFill>
                  <a:srgbClr val="206F6B"/>
                </a:solidFill>
                <a:latin typeface="Consolas"/>
                <a:ea typeface="Consolas"/>
                <a:cs typeface="Consolas"/>
              </a:rPr>
              <a:t>3.6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24600" y="4514850"/>
            <a:ext cx="1047750" cy="123825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324600" y="4229100"/>
            <a:ext cx="104775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500" b="1" i="0">
                <a:solidFill>
                  <a:srgbClr val="2DD4BF"/>
                </a:solidFill>
                <a:latin typeface="Consolas"/>
                <a:ea typeface="Consolas"/>
                <a:cs typeface="Consolas"/>
              </a:rPr>
              <a:t>8.0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71550" y="5753100"/>
            <a:ext cx="7010400" cy="9525"/>
          </a:xfrm>
          <a:prstGeom prst="rect">
            <a:avLst/>
          </a:prstGeom>
          <a:solidFill>
            <a:srgbClr val="1C5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2971800" y="3524250"/>
            <a:ext cx="66675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979EA5"/>
                </a:solidFill>
                <a:latin typeface="微软雅黑"/>
                <a:ea typeface="微软雅黑"/>
                <a:cs typeface="微软雅黑"/>
              </a:rPr>
              <a:t>差档 MAE 8.0 明显高于总体，我们把它单独画出来 —— 不是藏起来。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90550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8E959D"/>
                </a:solidFill>
                <a:latin typeface="微软雅黑"/>
                <a:ea typeface="微软雅黑"/>
                <a:cs typeface="微软雅黑"/>
              </a:rPr>
              <a:t>前三项与此前公布值逐值一致，属独立复现而非照抄；所有指标都可由页面上的原始数据手工复算。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762000"/>
            <a:ext cx="108204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1" i="0">
                <a:solidFill>
                  <a:srgbClr val="E6EDF3"/>
                </a:solidFill>
                <a:latin typeface="微软雅黑"/>
                <a:ea typeface="微软雅黑"/>
                <a:cs typeface="微软雅黑"/>
              </a:rPr>
              <a:t>我们自己先说不好在哪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71575"/>
            <a:ext cx="10820400" cy="9525"/>
          </a:xfrm>
          <a:prstGeom prst="rect">
            <a:avLst/>
          </a:prstGeom>
          <a:solidFill>
            <a:srgbClr val="12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85800" y="6515100"/>
            <a:ext cx="133350" cy="133350"/>
          </a:xfrm>
          <a:prstGeom prst="roundRect">
            <a:avLst>
              <a:gd name="adj" fmla="val 21428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14400" y="649605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0" i="0">
                <a:solidFill>
                  <a:srgbClr val="787E84"/>
                </a:solidFill>
                <a:latin typeface="Consolas"/>
                <a:ea typeface="Consolas"/>
                <a:cs typeface="Consolas"/>
              </a:rPr>
              <a:t>AUTOGRADER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63200" y="6496050"/>
            <a:ext cx="1143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050" b="0" i="0">
                <a:solidFill>
                  <a:srgbClr val="6D7278"/>
                </a:solidFill>
                <a:latin typeface="Consolas"/>
                <a:ea typeface="Consolas"/>
                <a:cs typeface="Consolas"/>
              </a:rPr>
              <a:t>16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47800"/>
            <a:ext cx="3390900" cy="4838700"/>
          </a:xfrm>
          <a:prstGeom prst="roundRect">
            <a:avLst>
              <a:gd name="adj" fmla="val 3932"/>
            </a:avLst>
          </a:prstGeom>
          <a:solidFill>
            <a:srgbClr val="151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3450" y="1714500"/>
            <a:ext cx="28956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979EA5"/>
                </a:solidFill>
                <a:latin typeface="微软雅黑"/>
                <a:ea typeface="微软雅黑"/>
                <a:cs typeface="微软雅黑"/>
              </a:rPr>
              <a:t>已公开的短板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2076450"/>
            <a:ext cx="28956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700" b="1" i="0">
                <a:solidFill>
                  <a:srgbClr val="2DD4BF"/>
                </a:solidFill>
                <a:latin typeface="Consolas"/>
                <a:ea typeface="Consolas"/>
                <a:cs typeface="Consolas"/>
              </a:rPr>
              <a:t>8.0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2952750"/>
            <a:ext cx="28956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75" b="0" i="0">
                <a:solidFill>
                  <a:srgbClr val="979EA5"/>
                </a:solidFill>
                <a:latin typeface="微软雅黑"/>
                <a:ea typeface="微软雅黑"/>
                <a:cs typeface="微软雅黑"/>
              </a:rPr>
              <a:t>差档 MAE（总体 3.05）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3450" y="3352800"/>
            <a:ext cx="2895600" cy="9525"/>
          </a:xfrm>
          <a:prstGeom prst="rect">
            <a:avLst/>
          </a:prstGeom>
          <a:solidFill>
            <a:srgbClr val="1A44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3450" y="3562350"/>
            <a:ext cx="28956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275" b="0" i="0">
                <a:solidFill>
                  <a:srgbClr val="979EA5"/>
                </a:solidFill>
                <a:latin typeface="微软雅黑"/>
                <a:ea typeface="微软雅黑"/>
                <a:cs typeface="微软雅黑"/>
              </a:rPr>
              <a:t>我们在评测里主动加了「按档位分组」的视图，就是为了让这条短板一眼可见 —— 只报总体好看的数字，等于把问题留给下一个人。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450" y="4724400"/>
            <a:ext cx="28956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888F97"/>
                </a:solidFill>
                <a:latin typeface="微软雅黑"/>
                <a:ea typeface="微软雅黑"/>
                <a:cs typeface="微软雅黑"/>
              </a:rPr>
              <a:t>评测不是自吹，是把「AI 靠不靠谱」变成一页可复算的数据结论。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57700" y="1447800"/>
            <a:ext cx="7048500" cy="938212"/>
          </a:xfrm>
          <a:prstGeom prst="roundRect">
            <a:avLst>
              <a:gd name="adj" fmla="val 10152"/>
            </a:avLst>
          </a:prstGeom>
          <a:solidFill>
            <a:srgbClr val="151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629150" y="154305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i="0">
                <a:solidFill>
                  <a:srgbClr val="7E848C"/>
                </a:solidFill>
                <a:latin typeface="Consolas"/>
                <a:ea typeface="Consolas"/>
                <a:cs typeface="Consolas"/>
              </a:rPr>
              <a:t>未闭合项 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86450" y="1543050"/>
            <a:ext cx="542925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1" i="0">
                <a:solidFill>
                  <a:srgbClr val="E6EDF3"/>
                </a:solidFill>
                <a:latin typeface="微软雅黑"/>
                <a:ea typeface="微软雅黑"/>
                <a:cs typeface="微软雅黑"/>
              </a:rPr>
              <a:t>专家头像待补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9150" y="1828800"/>
            <a:ext cx="67056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9FA6AD"/>
                </a:solidFill>
                <a:latin typeface="微软雅黑"/>
                <a:ea typeface="微软雅黑"/>
                <a:cs typeface="微软雅黑"/>
              </a:rPr>
              <a:t>官方校验器对本项只告警不报错，因此专家包仍然有效可用。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57700" y="2481262"/>
            <a:ext cx="7048500" cy="938212"/>
          </a:xfrm>
          <a:prstGeom prst="roundRect">
            <a:avLst>
              <a:gd name="adj" fmla="val 10152"/>
            </a:avLst>
          </a:prstGeom>
          <a:solidFill>
            <a:srgbClr val="151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29150" y="2576512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i="0">
                <a:solidFill>
                  <a:srgbClr val="7E848C"/>
                </a:solidFill>
                <a:latin typeface="Consolas"/>
                <a:ea typeface="Consolas"/>
                <a:cs typeface="Consolas"/>
              </a:rPr>
              <a:t>未闭合项 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86450" y="2576512"/>
            <a:ext cx="542925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1" i="0">
                <a:solidFill>
                  <a:srgbClr val="E6EDF3"/>
                </a:solidFill>
                <a:latin typeface="微软雅黑"/>
                <a:ea typeface="微软雅黑"/>
                <a:cs typeface="微软雅黑"/>
              </a:rPr>
              <a:t>线上链接状态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29150" y="2862262"/>
            <a:ext cx="67056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9FA6AD"/>
                </a:solidFill>
                <a:latin typeface="微软雅黑"/>
                <a:ea typeface="微软雅黑"/>
                <a:cs typeface="微软雅黑"/>
              </a:rPr>
              <a:t>部署工作流已就位，链接发布状态需要在提交前更新为最终口径。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57700" y="3514725"/>
            <a:ext cx="7048500" cy="938212"/>
          </a:xfrm>
          <a:prstGeom prst="roundRect">
            <a:avLst>
              <a:gd name="adj" fmla="val 10152"/>
            </a:avLst>
          </a:prstGeom>
          <a:solidFill>
            <a:srgbClr val="151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629150" y="3609975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i="0">
                <a:solidFill>
                  <a:srgbClr val="7E848C"/>
                </a:solidFill>
                <a:latin typeface="Consolas"/>
                <a:ea typeface="Consolas"/>
                <a:cs typeface="Consolas"/>
              </a:rPr>
              <a:t>未闭合项 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86450" y="3609975"/>
            <a:ext cx="542925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1" i="0">
                <a:solidFill>
                  <a:srgbClr val="E6EDF3"/>
                </a:solidFill>
                <a:latin typeface="微软雅黑"/>
                <a:ea typeface="微软雅黑"/>
                <a:cs typeface="微软雅黑"/>
              </a:rPr>
              <a:t>3 分钟 Demo 视频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29150" y="3895725"/>
            <a:ext cx="67056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9FA6AD"/>
                </a:solidFill>
                <a:latin typeface="微软雅黑"/>
                <a:ea typeface="微软雅黑"/>
                <a:cs typeface="微软雅黑"/>
              </a:rPr>
              <a:t>评审材料包三件中的最后一件，尚未产出。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57700" y="4548188"/>
            <a:ext cx="7048500" cy="938212"/>
          </a:xfrm>
          <a:prstGeom prst="roundRect">
            <a:avLst>
              <a:gd name="adj" fmla="val 10152"/>
            </a:avLst>
          </a:prstGeom>
          <a:solidFill>
            <a:srgbClr val="151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4629150" y="4643438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i="0">
                <a:solidFill>
                  <a:srgbClr val="7E848C"/>
                </a:solidFill>
                <a:latin typeface="Consolas"/>
                <a:ea typeface="Consolas"/>
                <a:cs typeface="Consolas"/>
              </a:rPr>
              <a:t>未闭合项 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86450" y="4643438"/>
            <a:ext cx="542925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1" i="0">
                <a:solidFill>
                  <a:srgbClr val="E6EDF3"/>
                </a:solidFill>
                <a:latin typeface="微软雅黑"/>
                <a:ea typeface="微软雅黑"/>
                <a:cs typeface="微软雅黑"/>
              </a:rPr>
              <a:t>部分技能模式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29150" y="4929188"/>
            <a:ext cx="67056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9FA6AD"/>
                </a:solidFill>
                <a:latin typeface="微软雅黑"/>
                <a:ea typeface="微软雅黑"/>
                <a:cs typeface="微软雅黑"/>
              </a:rPr>
              <a:t>模式一建标待路由扩展，模式二评阅待批量参数支持。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457700" y="5581650"/>
            <a:ext cx="7048500" cy="704850"/>
          </a:xfrm>
          <a:prstGeom prst="roundRect">
            <a:avLst>
              <a:gd name="adj" fmla="val 13513"/>
            </a:avLst>
          </a:prstGeom>
          <a:solidFill>
            <a:srgbClr val="1729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4457700" y="5581650"/>
            <a:ext cx="28575" cy="70485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4648200" y="5695950"/>
            <a:ext cx="66675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25" b="0" i="0">
                <a:solidFill>
                  <a:srgbClr val="A7AEB6"/>
                </a:solidFill>
                <a:latin typeface="微软雅黑"/>
                <a:ea typeface="微软雅黑"/>
                <a:cs typeface="微软雅黑"/>
              </a:rPr>
              <a:t>深链唤起智能体定位为增强项：依赖客户端自定义协议，属操作系统级的用户主动唤起，不是 API 调用、不绕过授权、不自动执行，并配三层降级。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762000"/>
            <a:ext cx="108204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1" i="0">
                <a:solidFill>
                  <a:srgbClr val="E6EDF3"/>
                </a:solidFill>
                <a:latin typeface="微软雅黑"/>
                <a:ea typeface="微软雅黑"/>
                <a:cs typeface="微软雅黑"/>
              </a:rPr>
              <a:t>评委的 3 分钟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71575"/>
            <a:ext cx="10820400" cy="9525"/>
          </a:xfrm>
          <a:prstGeom prst="rect">
            <a:avLst/>
          </a:prstGeom>
          <a:solidFill>
            <a:srgbClr val="12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85800" y="6515100"/>
            <a:ext cx="133350" cy="133350"/>
          </a:xfrm>
          <a:prstGeom prst="roundRect">
            <a:avLst>
              <a:gd name="adj" fmla="val 21428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14400" y="649605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0" i="0">
                <a:solidFill>
                  <a:srgbClr val="787E84"/>
                </a:solidFill>
                <a:latin typeface="Consolas"/>
                <a:ea typeface="Consolas"/>
                <a:cs typeface="Consolas"/>
              </a:rPr>
              <a:t>AUTOGRADER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63200" y="6496050"/>
            <a:ext cx="1143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050" b="0" i="0">
                <a:solidFill>
                  <a:srgbClr val="6D7278"/>
                </a:solidFill>
                <a:latin typeface="Consolas"/>
                <a:ea typeface="Consolas"/>
                <a:cs typeface="Consolas"/>
              </a:rPr>
              <a:t>17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47800"/>
            <a:ext cx="5715000" cy="4838700"/>
          </a:xfrm>
          <a:prstGeom prst="roundRect">
            <a:avLst>
              <a:gd name="adj" fmla="val 2755"/>
            </a:avLst>
          </a:prstGeom>
          <a:solidFill>
            <a:srgbClr val="151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14400" y="1638300"/>
            <a:ext cx="5257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i="0">
                <a:solidFill>
                  <a:srgbClr val="2DD4BF"/>
                </a:solidFill>
                <a:latin typeface="微软雅黑"/>
                <a:ea typeface="微软雅黑"/>
                <a:cs typeface="微软雅黑"/>
              </a:rPr>
              <a:t>7 个路由，一条推荐路径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038350"/>
            <a:ext cx="5257800" cy="342900"/>
          </a:xfrm>
          <a:prstGeom prst="roundRect">
            <a:avLst>
              <a:gd name="adj" fmla="val 22222"/>
            </a:avLst>
          </a:prstGeom>
          <a:solidFill>
            <a:srgbClr val="1729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047750" y="2105025"/>
            <a:ext cx="4991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/ 首页 —— 三句话讲清范式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2419350"/>
            <a:ext cx="5257800" cy="342900"/>
          </a:xfrm>
          <a:prstGeom prst="roundRect">
            <a:avLst>
              <a:gd name="adj" fmla="val 22222"/>
            </a:avLst>
          </a:prstGeom>
          <a:solidFill>
            <a:srgbClr val="1729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047750" y="2486025"/>
            <a:ext cx="4991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/agents 智能体构成 · 五件套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2800350"/>
            <a:ext cx="5257800" cy="342900"/>
          </a:xfrm>
          <a:prstGeom prst="roundRect">
            <a:avLst>
              <a:gd name="adj" fmla="val 22222"/>
            </a:avLst>
          </a:prstGeom>
          <a:solidFill>
            <a:srgbClr val="1729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047750" y="2867025"/>
            <a:ext cx="4991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/grade 评阅工作台 · 12 份结果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3181350"/>
            <a:ext cx="5257800" cy="342900"/>
          </a:xfrm>
          <a:prstGeom prst="roundRect">
            <a:avLst>
              <a:gd name="adj" fmla="val 22222"/>
            </a:avLst>
          </a:prstGeom>
          <a:solidFill>
            <a:srgbClr val="1729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047750" y="3248025"/>
            <a:ext cx="4991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/report/[id] 结果详情 · 指纹现场复算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3562350"/>
            <a:ext cx="5257800" cy="342900"/>
          </a:xfrm>
          <a:prstGeom prst="roundRect">
            <a:avLst>
              <a:gd name="adj" fmla="val 22222"/>
            </a:avLst>
          </a:prstGeom>
          <a:solidFill>
            <a:srgbClr val="1729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47750" y="3629025"/>
            <a:ext cx="4991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/upload 上传核查 · 浏览器端解析 docx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3943350"/>
            <a:ext cx="5257800" cy="342900"/>
          </a:xfrm>
          <a:prstGeom prst="roundRect">
            <a:avLst>
              <a:gd name="adj" fmla="val 22222"/>
            </a:avLst>
          </a:prstGeom>
          <a:solidFill>
            <a:srgbClr val="1729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047750" y="4010025"/>
            <a:ext cx="4991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/eval 一致性评测 · 浏览器端现算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4324350"/>
            <a:ext cx="5257800" cy="342900"/>
          </a:xfrm>
          <a:prstGeom prst="roundRect">
            <a:avLst>
              <a:gd name="adj" fmla="val 22222"/>
            </a:avLst>
          </a:prstGeom>
          <a:solidFill>
            <a:srgbClr val="1729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047750" y="4391025"/>
            <a:ext cx="4991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/trace 工作流溯源 · 五 Agent 逐环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743450"/>
            <a:ext cx="52578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8E959D"/>
                </a:solidFill>
                <a:latin typeface="微软雅黑"/>
                <a:ea typeface="微软雅黑"/>
                <a:cs typeface="微软雅黑"/>
              </a:rPr>
              <a:t>核心路径（首页 → 工作台 → 结果详情 → 溯源）零死链、无空白页。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81800" y="1447800"/>
            <a:ext cx="4724400" cy="4838700"/>
          </a:xfrm>
          <a:prstGeom prst="roundRect">
            <a:avLst>
              <a:gd name="adj" fmla="val 2822"/>
            </a:avLst>
          </a:prstGeom>
          <a:solidFill>
            <a:srgbClr val="151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991350" y="1657350"/>
            <a:ext cx="43053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i="0">
                <a:solidFill>
                  <a:srgbClr val="E6EDF3"/>
                </a:solidFill>
                <a:latin typeface="微软雅黑"/>
                <a:ea typeface="微软雅黑"/>
                <a:cs typeface="微软雅黑"/>
              </a:rPr>
              <a:t>推荐动线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91350" y="2076450"/>
            <a:ext cx="4305300" cy="895350"/>
          </a:xfrm>
          <a:prstGeom prst="roundRect">
            <a:avLst>
              <a:gd name="adj" fmla="val 10638"/>
            </a:avLst>
          </a:prstGeom>
          <a:solidFill>
            <a:srgbClr val="1729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162800" y="2190750"/>
            <a:ext cx="762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1" i="0">
                <a:solidFill>
                  <a:srgbClr val="2DD4BF"/>
                </a:solidFill>
                <a:latin typeface="Consolas"/>
                <a:ea typeface="Consolas"/>
                <a:cs typeface="Consolas"/>
              </a:rPr>
              <a:t>30 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62800" y="2476500"/>
            <a:ext cx="39624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75" b="1" i="0">
                <a:solidFill>
                  <a:srgbClr val="E6EDF3"/>
                </a:solidFill>
                <a:latin typeface="微软雅黑"/>
                <a:ea typeface="微软雅黑"/>
                <a:cs typeface="微软雅黑"/>
              </a:rPr>
              <a:t>首页看懂主张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62800" y="2724150"/>
            <a:ext cx="3962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5" b="0" i="0">
                <a:solidFill>
                  <a:srgbClr val="9BA2A9"/>
                </a:solidFill>
                <a:latin typeface="微软雅黑"/>
                <a:ea typeface="微软雅黑"/>
                <a:cs typeface="微软雅黑"/>
              </a:rPr>
              <a:t>推理在对话侧、Web 只做确定性渲染、每个结论可回溯。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91350" y="3086100"/>
            <a:ext cx="4305300" cy="895350"/>
          </a:xfrm>
          <a:prstGeom prst="roundRect">
            <a:avLst>
              <a:gd name="adj" fmla="val 10638"/>
            </a:avLst>
          </a:prstGeom>
          <a:solidFill>
            <a:srgbClr val="1729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162800" y="3200400"/>
            <a:ext cx="762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1" i="0">
                <a:solidFill>
                  <a:srgbClr val="2DD4BF"/>
                </a:solidFill>
                <a:latin typeface="Consolas"/>
                <a:ea typeface="Consolas"/>
                <a:cs typeface="Consolas"/>
              </a:rPr>
              <a:t>60 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62800" y="3486150"/>
            <a:ext cx="39624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75" b="1" i="0">
                <a:solidFill>
                  <a:srgbClr val="E6EDF3"/>
                </a:solidFill>
                <a:latin typeface="微软雅黑"/>
                <a:ea typeface="微软雅黑"/>
                <a:cs typeface="微软雅黑"/>
              </a:rPr>
              <a:t>打开一份结果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62800" y="3733800"/>
            <a:ext cx="3962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5" b="0" i="0">
                <a:solidFill>
                  <a:srgbClr val="9BA2A9"/>
                </a:solidFill>
                <a:latin typeface="微软雅黑"/>
                <a:ea typeface="微软雅黑"/>
                <a:cs typeface="微软雅黑"/>
              </a:rPr>
              <a:t>工作台列出 12 份评阅结果，任选一份进入详情。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991350" y="4095750"/>
            <a:ext cx="4305300" cy="895350"/>
          </a:xfrm>
          <a:prstGeom prst="roundRect">
            <a:avLst>
              <a:gd name="adj" fmla="val 10638"/>
            </a:avLst>
          </a:prstGeom>
          <a:solidFill>
            <a:srgbClr val="1729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162800" y="4210050"/>
            <a:ext cx="762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1" i="0">
                <a:solidFill>
                  <a:srgbClr val="2DD4BF"/>
                </a:solidFill>
                <a:latin typeface="Consolas"/>
                <a:ea typeface="Consolas"/>
                <a:cs typeface="Consolas"/>
              </a:rPr>
              <a:t>60 秒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2800" y="4495800"/>
            <a:ext cx="39624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75" b="1" i="0">
                <a:solidFill>
                  <a:srgbClr val="E6EDF3"/>
                </a:solidFill>
                <a:latin typeface="微软雅黑"/>
                <a:ea typeface="微软雅黑"/>
                <a:cs typeface="微软雅黑"/>
              </a:rPr>
              <a:t>确认指纹一致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62800" y="4743450"/>
            <a:ext cx="3962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5" b="0" i="0">
                <a:solidFill>
                  <a:srgbClr val="9BA2A9"/>
                </a:solidFill>
                <a:latin typeface="微软雅黑"/>
                <a:ea typeface="微软雅黑"/>
                <a:cs typeface="微软雅黑"/>
              </a:rPr>
              <a:t>详情页现场复算结果指纹，显示「复算一致」与复算值。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991350" y="5105400"/>
            <a:ext cx="4305300" cy="895350"/>
          </a:xfrm>
          <a:prstGeom prst="roundRect">
            <a:avLst>
              <a:gd name="adj" fmla="val 10638"/>
            </a:avLst>
          </a:prstGeom>
          <a:solidFill>
            <a:srgbClr val="1729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7162800" y="5219700"/>
            <a:ext cx="762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1" i="0">
                <a:solidFill>
                  <a:srgbClr val="2DD4BF"/>
                </a:solidFill>
                <a:latin typeface="Consolas"/>
                <a:ea typeface="Consolas"/>
                <a:cs typeface="Consolas"/>
              </a:rPr>
              <a:t>30 秒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62800" y="5505450"/>
            <a:ext cx="39624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75" b="1" i="0">
                <a:solidFill>
                  <a:srgbClr val="E6EDF3"/>
                </a:solidFill>
                <a:latin typeface="微软雅黑"/>
                <a:ea typeface="微软雅黑"/>
                <a:cs typeface="微软雅黑"/>
              </a:rPr>
              <a:t>看量化结论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62800" y="5753100"/>
            <a:ext cx="3962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5" b="0" i="0">
                <a:solidFill>
                  <a:srgbClr val="9BA2A9"/>
                </a:solidFill>
                <a:latin typeface="微软雅黑"/>
                <a:ea typeface="微软雅黑"/>
                <a:cs typeface="微软雅黑"/>
              </a:rPr>
              <a:t>评测页在浏览器端现算 MAE、一致率与置信度校准。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25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667500" y="381000"/>
            <a:ext cx="5524500" cy="6096000"/>
          </a:xfrm>
          <a:prstGeom prst="rect">
            <a:avLst/>
          </a:prstGeom>
          <a:solidFill>
            <a:srgbClr val="0C1C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1143000" y="800100"/>
            <a:ext cx="76200" cy="76200"/>
          </a:xfrm>
          <a:prstGeom prst="roundRect">
            <a:avLst>
              <a:gd name="adj" fmla="val 25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333500" y="752475"/>
            <a:ext cx="5715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 i="0">
                <a:solidFill>
                  <a:srgbClr val="92989E"/>
                </a:solidFill>
                <a:latin typeface="微软雅黑"/>
                <a:ea typeface="微软雅黑"/>
                <a:cs typeface="微软雅黑"/>
              </a:rPr>
              <a:t>团队 · 跨专业组队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238250"/>
            <a:ext cx="6667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>
                <a:solidFill>
                  <a:srgbClr val="E6EDF3"/>
                </a:solidFill>
                <a:latin typeface="微软雅黑"/>
                <a:ea typeface="微软雅黑"/>
                <a:cs typeface="微软雅黑"/>
              </a:rPr>
              <a:t>两个专业，一块交付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000" y="2133600"/>
            <a:ext cx="4381500" cy="1066800"/>
          </a:xfrm>
          <a:prstGeom prst="roundRect">
            <a:avLst>
              <a:gd name="adj" fmla="val 10714"/>
            </a:avLst>
          </a:prstGeom>
          <a:solidFill>
            <a:srgbClr val="151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1143000" y="2133600"/>
            <a:ext cx="28575" cy="10668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71600" y="2324100"/>
            <a:ext cx="4000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1" i="0">
                <a:solidFill>
                  <a:srgbClr val="2DD4BF"/>
                </a:solidFill>
                <a:latin typeface="微软雅黑"/>
                <a:ea typeface="微软雅黑"/>
                <a:cs typeface="微软雅黑"/>
              </a:rPr>
              <a:t>软件工程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667000"/>
            <a:ext cx="4000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9FA6AD"/>
                </a:solidFill>
                <a:latin typeface="微软雅黑"/>
                <a:ea typeface="微软雅黑"/>
                <a:cs typeface="微软雅黑"/>
              </a:rPr>
              <a:t>负责工程实现：专家智能体包、打包链路与产品化界面。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3352800"/>
            <a:ext cx="4381500" cy="1066800"/>
          </a:xfrm>
          <a:prstGeom prst="roundRect">
            <a:avLst>
              <a:gd name="adj" fmla="val 10714"/>
            </a:avLst>
          </a:prstGeom>
          <a:solidFill>
            <a:srgbClr val="151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1143000" y="3352800"/>
            <a:ext cx="28575" cy="10668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371600" y="3543300"/>
            <a:ext cx="4000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1" i="0">
                <a:solidFill>
                  <a:srgbClr val="2DD4BF"/>
                </a:solidFill>
                <a:latin typeface="微软雅黑"/>
                <a:ea typeface="微软雅黑"/>
                <a:cs typeface="微软雅黑"/>
              </a:rPr>
              <a:t>计算机科学与技术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886200"/>
            <a:ext cx="4000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9FA6AD"/>
                </a:solidFill>
                <a:latin typeface="微软雅黑"/>
                <a:ea typeface="微软雅黑"/>
                <a:cs typeface="微软雅黑"/>
              </a:rPr>
              <a:t>负责方法设计：契约、评测口径与数据处理。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610100"/>
            <a:ext cx="5334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92989E"/>
                </a:solidFill>
                <a:latin typeface="微软雅黑"/>
                <a:ea typeface="微软雅黑"/>
                <a:cs typeface="微软雅黑"/>
              </a:rPr>
              <a:t>团队成员来自 2 个不同专业，满足「跨专业组队」加分条件。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67500" y="2095500"/>
            <a:ext cx="457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 i="0">
                <a:solidFill>
                  <a:srgbClr val="8E949A"/>
                </a:solidFill>
                <a:latin typeface="微软雅黑"/>
                <a:ea typeface="微软雅黑"/>
                <a:cs typeface="微软雅黑"/>
              </a:rPr>
              <a:t>在线体验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67500" y="2419350"/>
            <a:ext cx="4572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75" b="0" i="0">
                <a:solidFill>
                  <a:srgbClr val="2DD4BF"/>
                </a:solidFill>
                <a:latin typeface="Consolas"/>
                <a:ea typeface="Consolas"/>
                <a:cs typeface="Consolas"/>
              </a:rPr>
              <a:t>https://mendai1307.github.io/AutoGrader/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67500" y="2952750"/>
            <a:ext cx="4572000" cy="9525"/>
          </a:xfrm>
          <a:prstGeom prst="rect">
            <a:avLst/>
          </a:prstGeom>
          <a:solidFill>
            <a:srgbClr val="123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667500" y="3181350"/>
            <a:ext cx="4572000" cy="161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A4AAB0"/>
                </a:solidFill>
                <a:latin typeface="微软雅黑"/>
                <a:ea typeface="微软雅黑"/>
                <a:cs typeface="微软雅黑"/>
              </a:rPr>
              <a:t>四个评分维度其实在问同一件事：</a:t>
            </a:r>
          </a:p>
          <a:p>
            <a:pPr algn="l">
              <a:lnSpc>
                <a:spcPct val="150000"/>
              </a:lnSpc>
            </a:pPr>
            <a:r>
              <a:rPr sz="1950" b="1" i="0">
                <a:solidFill>
                  <a:srgbClr val="E6EDF3"/>
                </a:solidFill>
                <a:latin typeface="微软雅黑"/>
                <a:ea typeface="微软雅黑"/>
                <a:cs typeface="微软雅黑"/>
              </a:rPr>
              <a:t>你说的每一句话，能不能被验证。</a:t>
            </a:r>
          </a:p>
          <a:p>
            <a:pPr algn="l">
              <a:lnSpc>
                <a:spcPct val="155000"/>
              </a:lnSpc>
            </a:pPr>
            <a:r>
              <a:rPr sz="1200" b="0" i="0">
                <a:solidFill>
                  <a:srgbClr val="8E949A"/>
                </a:solidFill>
                <a:latin typeface="微软雅黑"/>
                <a:ea typeface="微软雅黑"/>
                <a:cs typeface="微软雅黑"/>
              </a:rPr>
              <a:t>技术创新问过程能不能被看见；工程完整问结果能不能被复算；AI 工具使用问对话能不能被追溯；用户体验问评委能不能自己上手。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5905500"/>
            <a:ext cx="66675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i="0">
                <a:solidFill>
                  <a:srgbClr val="666C72"/>
                </a:solidFill>
                <a:latin typeface="Consolas"/>
                <a:ea typeface="Consolas"/>
                <a:cs typeface="Consolas"/>
              </a:rPr>
              <a:t>AUTOGRADER · 作品介绍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